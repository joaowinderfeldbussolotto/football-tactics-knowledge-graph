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o conjunto de perguntas com gabarito por código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A figura mostra a grade de 12 por 8 zonas e o passe de Mac Allister para Di María, da zona 74 para a 92, como na Figura 1 do artigo (zonas copiadas dela, não recalculadas). É essa tabela que o Contexto longo entrega ao modelo. O SPADL perde o desfecho da finalização e o cartão sem falta, que foram recuperados do JSON; os rótulos das ações foram traduzidos para o português.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A abordagem Estatísticas resumidas lê só a súmula; Consulta e Ferramentas leem o grafo.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sem passar pelo grafo,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Ordem de complexidade do que existe entre a pergunta e o modelo.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a consulta já escrita;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já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do registro de execuções do Haiku (data/benchmark/claude-haiku-5.5_results.jsonl no repositório novo);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das três abordagens que leem os dados, com o intervalo de Wilson de 95%. A barra azul é Ferramentas sobre o grafo: 83% a 89% em todos os modelos. Consulta escrita pelo modelo: 57% a 70% nos menores e 89% a 94% nos maiores. Contexto longo: 40% a 45% nos menores e 72% a 85% nos maiores. As outras três ficam baixas e estão no slide 11: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já escrita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que leem os dados.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ganho pode vir das ferramentas, do grafo ou dos algoritmos de grafo, e separar isso é trabalho futuro;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Três frentes, todas ligadas às limitações. Primeira, mais evidência: repetir as execuções mede a variação entre rodadas e permite testar as diferenças entre abordagens, e estender as perguntas a várias partidas tira a dependência de uma só. Segunda, separar efeitos: avaliar modelos maiores sem raciocínio estendido separa o efeito do tamanho do efeito do raciocínio; aplicar as mesmas ferramentas a uma tabela, sem o grafo, separa o efeito das ferramentas do efeito do grafo; e testar uma busca vetorial em que cada trecho traga também os eventos vizinhos, como em Tzikas et al., responde à lacuna da Busca vetorial. Terceira, outros domínios, entre eles os dados industriais: parte deles tem a forma dos dados de futebol, registros de eventos com agente, momento e local, ligados entre si, como as paradas, os alertas e as movimentações de uma linha de produção ou de uma frota. Testar as mesmas abordagens ali é um próximo passo natural para uma pós em IA aplicada à indústria, mas exige implementação própria: a preparação dos dados, o grafo e as ferramentas dependem das perguntas que se quer responder.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de apoio não foram incluídos para respeitar o limite de 15. As respostas às perguntas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114800"/>
            <a:ext cx="5120640" cy="1600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142232"/>
            <a:ext cx="4846320" cy="155448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52 perguntas com gabarito calculado por código.</a:t>
            </a:r>
          </a:p>
          <a:p>
            <a:pPr algn="l">
              <a:spcAft>
                <a:spcPts val="500"/>
              </a:spcAft>
            </a:pPr>
            <a:r>
              <a:rPr sz="15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
        <p:nvSpPr>
          <p:cNvPr id="16" name="Rectangle 15"/>
          <p:cNvSpPr/>
          <p:nvPr/>
        </p:nvSpPr>
        <p:spPr>
          <a:xfrm>
            <a:off x="640080" y="5806440"/>
            <a:ext cx="10881360"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24728"/>
            <a:ext cx="10607040" cy="530352"/>
          </a:xfrm>
          <a:prstGeom prst="rect">
            <a:avLst/>
          </a:prstGeom>
          <a:noFill/>
        </p:spPr>
        <p:txBody>
          <a:bodyPr wrap="square" anchor="ctr" lIns="45720" rIns="45720">
            <a:spAutoFit/>
          </a:bodyPr>
          <a:lstStyle/>
          <a:p>
            <a:pPr algn="l">
              <a:spcAft>
                <a:spcPts val="600"/>
              </a:spcAft>
            </a:pPr>
            <a:r>
              <a:rPr sz="1400" b="0">
                <a:solidFill>
                  <a:srgbClr val="222222"/>
                </a:solidFill>
                <a:latin typeface="Arial"/>
              </a:rPr>
              <a:t>Relacionados: no esporte, cada trabalho avalia uma única forma de recuperação (SoccerRAG, SPORTSQL, Tzikas et al.); fora dele, as formas são comparadas sem dados de futebol (Li et al., LOFT).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68880"/>
          <a:ext cx="6675120" cy="3291840"/>
        </p:xfrm>
        <a:graphic>
          <a:graphicData uri="http://schemas.openxmlformats.org/drawingml/2006/table">
            <a:tbl>
              <a:tblPr firstRow="0" bandRow="0">
                <a:tableStyleId>{5C22544A-7EE6-4342-B048-85BDC9FD1C3A}</a:tableStyleId>
              </a:tblPr>
              <a:tblGrid>
                <a:gridCol w="2377440"/>
                <a:gridCol w="4297680"/>
              </a:tblGrid>
              <a:tr h="548640">
                <a:tc>
                  <a:txBody>
                    <a:bodyPr wrap="square"/>
                    <a:lstStyle/>
                    <a:p>
                      <a:pPr algn="l"/>
                      <a:r>
                        <a:rPr sz="1600" b="1">
                          <a:solidFill>
                            <a:srgbClr val="FFFFFF"/>
                          </a:solidFill>
                          <a:latin typeface="Arial"/>
                        </a:rPr>
                        <a:t>Transformação</a:t>
                      </a:r>
                    </a:p>
                  </a:txBody>
                  <a:tcPr anchor="ctr">
                    <a:solidFill>
                      <a:srgbClr val="222222"/>
                    </a:solidFill>
                  </a:tcPr>
                </a:tc>
                <a:tc>
                  <a:txBody>
                    <a:bodyPr wrap="square"/>
                    <a:lstStyle/>
                    <a:p>
                      <a:pPr algn="l"/>
                      <a:r>
                        <a:rPr sz="1600" b="1">
                          <a:solidFill>
                            <a:srgbClr val="FFFFFF"/>
                          </a:solidFill>
                          <a:latin typeface="Arial"/>
                        </a:rPr>
                        <a:t>O que faz</a:t>
                      </a:r>
                    </a:p>
                  </a:txBody>
                  <a:tcPr anchor="ctr">
                    <a:solidFill>
                      <a:srgbClr val="222222"/>
                    </a:solidFill>
                  </a:tcPr>
                </a:tc>
              </a:tr>
              <a:tr h="548640">
                <a:tc>
                  <a:txBody>
                    <a:bodyPr wrap="square"/>
                    <a:lstStyle/>
                    <a:p>
                      <a:pPr algn="l"/>
                      <a:r>
                        <a:rPr sz="1600" b="1">
                          <a:solidFill>
                            <a:srgbClr val="222222"/>
                          </a:solidFill>
                          <a:latin typeface="Arial"/>
                        </a:rPr>
                        <a:t>Direção de ataque</a:t>
                      </a:r>
                    </a:p>
                  </a:txBody>
                  <a:tcPr anchor="ctr">
                    <a:solidFill>
                      <a:srgbClr val="FFFFFF"/>
                    </a:solidFill>
                  </a:tcPr>
                </a:tc>
                <a:tc>
                  <a:txBody>
                    <a:bodyPr wrap="square"/>
                    <a:lstStyle/>
                    <a:p>
                      <a:pPr algn="l"/>
                      <a:r>
                        <a:rPr sz="1600" b="0">
                          <a:solidFill>
                            <a:srgbClr val="222222"/>
                          </a:solidFill>
                          <a:latin typeface="Arial"/>
                        </a:rPr>
                        <a:t>toda ação ataca da esquerda para a direita</a:t>
                      </a:r>
                    </a:p>
                  </a:txBody>
                  <a:tcPr anchor="ctr">
                    <a:solidFill>
                      <a:srgbClr val="FFFFFF"/>
                    </a:solidFill>
                  </a:tcPr>
                </a:tc>
              </a:tr>
              <a:tr h="548640">
                <a:tc>
                  <a:txBody>
                    <a:bodyPr wrap="square"/>
                    <a:lstStyle/>
                    <a:p>
                      <a:pPr algn="l"/>
                      <a:r>
                        <a:rPr sz="1600" b="1">
                          <a:solidFill>
                            <a:srgbClr val="222222"/>
                          </a:solidFill>
                          <a:latin typeface="Arial"/>
                        </a:rPr>
                        <a:t>Zona do campo</a:t>
                      </a:r>
                    </a:p>
                  </a:txBody>
                  <a:tcPr anchor="ctr">
                    <a:solidFill>
                      <a:srgbClr val="F2F2F2"/>
                    </a:solidFill>
                  </a:tcPr>
                </a:tc>
                <a:tc>
                  <a:txBody>
                    <a:bodyPr wrap="square"/>
                    <a:lstStyle/>
                    <a:p>
                      <a:pPr algn="l"/>
                      <a:r>
                        <a:rPr sz="1600" b="0">
                          <a:solidFill>
                            <a:srgbClr val="222222"/>
                          </a:solidFill>
                          <a:latin typeface="Arial"/>
                        </a:rPr>
                        <a:t>situa o início e o fim de cada ação</a:t>
                      </a:r>
                    </a:p>
                  </a:txBody>
                  <a:tcPr anchor="ctr">
                    <a:solidFill>
                      <a:srgbClr val="F2F2F2"/>
                    </a:solidFill>
                  </a:tcPr>
                </a:tc>
              </a:tr>
              <a:tr h="548640">
                <a:tc>
                  <a:txBody>
                    <a:bodyPr wrap="square"/>
                    <a:lstStyle/>
                    <a:p>
                      <a:pPr algn="l"/>
                      <a:r>
                        <a:rPr sz="1600" b="1">
                          <a:solidFill>
                            <a:srgbClr val="222222"/>
                          </a:solidFill>
                          <a:latin typeface="Arial"/>
                        </a:rPr>
                        <a:t>Recebedor do passe</a:t>
                      </a:r>
                    </a:p>
                  </a:txBody>
                  <a:tcPr anchor="ctr">
                    <a:solidFill>
                      <a:srgbClr val="FFFFFF"/>
                    </a:solidFill>
                  </a:tcPr>
                </a:tc>
                <a:tc>
                  <a:txBody>
                    <a:bodyPr wrap="square"/>
                    <a:lstStyle/>
                    <a:p>
                      <a:pPr algn="l"/>
                      <a:r>
                        <a:rPr sz="1600" b="0">
                          <a:solidFill>
                            <a:srgbClr val="222222"/>
                          </a:solidFill>
                          <a:latin typeface="Arial"/>
                        </a:rPr>
                        <a:t>jogador do mesmo time que age em seguida</a:t>
                      </a:r>
                    </a:p>
                  </a:txBody>
                  <a:tcPr anchor="ctr">
                    <a:solidFill>
                      <a:srgbClr val="FFFFFF"/>
                    </a:solidFill>
                  </a:tcPr>
                </a:tc>
              </a:tr>
              <a:tr h="548640">
                <a:tc>
                  <a:txBody>
                    <a:bodyPr wrap="square"/>
                    <a:lstStyle/>
                    <a:p>
                      <a:pPr algn="l"/>
                      <a:r>
                        <a:rPr sz="1600" b="1">
                          <a:solidFill>
                            <a:srgbClr val="222222"/>
                          </a:solidFill>
                          <a:latin typeface="Arial"/>
                        </a:rPr>
                        <a:t>Fase de posse</a:t>
                      </a:r>
                    </a:p>
                  </a:txBody>
                  <a:tcPr anchor="ctr">
                    <a:solidFill>
                      <a:srgbClr val="F2F2F2"/>
                    </a:solidFill>
                  </a:tcPr>
                </a:tc>
                <a:tc>
                  <a:txBody>
                    <a:bodyPr wrap="square"/>
                    <a:lstStyle/>
                    <a:p>
                      <a:pPr algn="l"/>
                      <a:r>
                        <a:rPr sz="1600" b="0">
                          <a:solidFill>
                            <a:srgbClr val="222222"/>
                          </a:solidFill>
                          <a:latin typeface="Arial"/>
                        </a:rPr>
                        <a:t>agrupa as ações seguidas do mesmo time</a:t>
                      </a:r>
                    </a:p>
                  </a:txBody>
                  <a:tcPr anchor="ctr">
                    <a:solidFill>
                      <a:srgbClr val="F2F2F2"/>
                    </a:solidFill>
                  </a:tcPr>
                </a:tc>
              </a:tr>
              <a:tr h="548640">
                <a:tc>
                  <a:txBody>
                    <a:bodyPr wrap="square"/>
                    <a:lstStyle/>
                    <a:p>
                      <a:pPr algn="l"/>
                      <a:r>
                        <a:rPr sz="1600" b="1">
                          <a:solidFill>
                            <a:srgbClr val="222222"/>
                          </a:solidFill>
                          <a:latin typeface="Arial"/>
                        </a:rPr>
                        <a:t>Placar e minuto</a:t>
                      </a:r>
                    </a:p>
                  </a:txBody>
                  <a:tcPr anchor="ctr">
                    <a:solidFill>
                      <a:srgbClr val="FFFFFF"/>
                    </a:solidFill>
                  </a:tcPr>
                </a:tc>
                <a:tc>
                  <a:txBody>
                    <a:bodyPr wrap="square"/>
                    <a:lstStyle/>
                    <a:p>
                      <a:pPr algn="l"/>
                      <a:r>
                        <a:rPr sz="1600" b="0">
                          <a:solidFill>
                            <a:srgbClr val="222222"/>
                          </a:solidFill>
                          <a:latin typeface="Arial"/>
                        </a:rPr>
                        <a:t>placar antes de cada ação; minuto da transmissão</a:t>
                      </a:r>
                    </a:p>
                  </a:txBody>
                  <a:tcPr anchor="ctr">
                    <a:solidFill>
                      <a:srgbClr val="FFFFFF"/>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A súmula é calculada: </a:t>
            </a:r>
            <a:r>
              <a:rPr sz="1600" b="0">
                <a:solidFill>
                  <a:srgbClr val="222222"/>
                </a:solidFill>
                <a:latin typeface="Arial"/>
              </a:rPr>
              <a:t>o próprio banco conta os totais por jogador e por time.</a:t>
            </a:r>
          </a:p>
          <a:p>
            <a:pPr>
              <a:spcAft>
                <a:spcPts val="900"/>
              </a:spcAft>
            </a:pPr>
            <a:r>
              <a:rPr sz="1600" b="1">
                <a:solidFill>
                  <a:srgbClr val="1F5C99"/>
                </a:solidFill>
                <a:latin typeface="Arial"/>
              </a:rPr>
              <a:t>• </a:t>
            </a:r>
            <a:r>
              <a:rPr sz="1600" b="1">
                <a:solidFill>
                  <a:srgbClr val="222222"/>
                </a:solidFill>
                <a:latin typeface="Arial"/>
              </a:rPr>
              <a:t>Nenhuma etapa usa modelo de linguagem; </a:t>
            </a:r>
            <a:r>
              <a:rPr sz="1600" b="0">
                <a:solidFill>
                  <a:srgbClr val="222222"/>
                </a:solidFill>
                <a:latin typeface="Arial"/>
              </a:rPr>
              <a:t>só o benchmark chama modelos.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fora do grafo, a partir do JSON bruto e da tabela de ações.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da ausência de dados à consulta ao grafo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fixa, que o modelo chama</a:t>
                      </a:r>
                    </a:p>
                  </a:txBody>
                  <a:tcPr anchor="ctr">
                    <a:solidFill>
                      <a:srgbClr val="E6EE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fixa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abordagens não passam de 17% em nenhum modelo (slide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1000"/>
              </a:spcAft>
            </a:pPr>
            <a:r>
              <a:rPr sz="1800" b="1">
                <a:solidFill>
                  <a:srgbClr val="1F5C99"/>
                </a:solidFill>
                <a:latin typeface="Arial"/>
              </a:rPr>
              <a:t>Leitura</a:t>
            </a:r>
          </a:p>
          <a:p>
            <a:pPr algn="l">
              <a:spcAft>
                <a:spcPts val="1000"/>
              </a:spcAft>
            </a:pPr>
            <a:r>
              <a:rPr sz="1500" b="0">
                <a:solidFill>
                  <a:srgbClr val="222222"/>
                </a:solidFill>
                <a:latin typeface="Arial"/>
              </a:rPr>
              <a:t>Ferramentas: a consulta já vem escrita e o cálculo fica no código.</a:t>
            </a:r>
          </a:p>
          <a:p>
            <a:pPr algn="l">
              <a:spcAft>
                <a:spcPts val="1000"/>
              </a:spcAft>
            </a:pPr>
            <a:r>
              <a:rPr sz="1500" b="0">
                <a:solidFill>
                  <a:srgbClr val="222222"/>
                </a:solidFill>
                <a:latin typeface="Arial"/>
              </a:rPr>
              <a:t>Consulta: o modelo escreve o Cypher; o acerto acompanha essa capacidade.</a:t>
            </a:r>
          </a:p>
          <a:p>
            <a:pPr algn="l">
              <a:spcAft>
                <a:spcPts val="1000"/>
              </a:spcAft>
            </a:pPr>
            <a:r>
              <a:rPr sz="1500" b="0">
                <a:solidFill>
                  <a:srgbClr val="222222"/>
                </a:solidFill>
                <a:latin typeface="Arial"/>
              </a:rPr>
              <a:t>Contexto longo: o modelo acha e combina as linhas certas na tabela inteira.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Ferramentas, grafo ou algoritmos de grafo? </a:t>
            </a:r>
            <a:r>
              <a:rPr sz="1800" b="0">
                <a:solidFill>
                  <a:srgbClr val="222222"/>
                </a:solidFill>
                <a:latin typeface="Arial"/>
              </a:rPr>
              <a:t>Separar é trabalho futuro.</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Rectangle 4"/>
          <p:cNvSpPr/>
          <p:nvPr/>
        </p:nvSpPr>
        <p:spPr>
          <a:xfrm>
            <a:off x="64008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Repetir as execuções: medir a variação entre rodadas e testar as diferenças entre abordagens.</a:t>
            </a:r>
          </a:p>
          <a:p>
            <a:pPr>
              <a:spcAft>
                <a:spcPts val="1400"/>
              </a:spcAft>
            </a:pPr>
            <a:r>
              <a:rPr sz="1800" b="1">
                <a:solidFill>
                  <a:srgbClr val="1F5C99"/>
                </a:solidFill>
                <a:latin typeface="Arial"/>
              </a:rPr>
              <a:t>• </a:t>
            </a:r>
            <a:r>
              <a:rPr sz="1800" b="0">
                <a:solidFill>
                  <a:srgbClr val="222222"/>
                </a:solidFill>
                <a:latin typeface="Arial"/>
              </a:rPr>
              <a:t>Estender as perguntas a várias partidas.</a:t>
            </a:r>
          </a:p>
        </p:txBody>
      </p:sp>
      <p:sp>
        <p:nvSpPr>
          <p:cNvPr id="8" name="Rectangle 7"/>
          <p:cNvSpPr/>
          <p:nvPr/>
        </p:nvSpPr>
        <p:spPr>
          <a:xfrm>
            <a:off x="434340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Modelos maiores sem raciocínio estendido: tamanho ou raciocínio?</a:t>
            </a:r>
          </a:p>
          <a:p>
            <a:pPr>
              <a:spcAft>
                <a:spcPts val="1400"/>
              </a:spcAft>
            </a:pPr>
            <a:r>
              <a:rPr sz="1800" b="1">
                <a:solidFill>
                  <a:srgbClr val="1F5C99"/>
                </a:solidFill>
                <a:latin typeface="Arial"/>
              </a:rPr>
              <a:t>• </a:t>
            </a:r>
            <a:r>
              <a:rPr sz="1800" b="0">
                <a:solidFill>
                  <a:srgbClr val="222222"/>
                </a:solidFill>
                <a:latin typeface="Arial"/>
              </a:rPr>
              <a:t>As mesmas ferramentas sobre uma tabela, sem o grafo: ferramentas ou grafo?</a:t>
            </a:r>
          </a:p>
          <a:p>
            <a:pPr>
              <a:spcAft>
                <a:spcPts val="1400"/>
              </a:spcAft>
            </a:pPr>
            <a:r>
              <a:rPr sz="1800" b="1">
                <a:solidFill>
                  <a:srgbClr val="1F5C99"/>
                </a:solidFill>
                <a:latin typeface="Arial"/>
              </a:rPr>
              <a:t>• </a:t>
            </a:r>
            <a:r>
              <a:rPr sz="1800" b="0">
                <a:solidFill>
                  <a:srgbClr val="222222"/>
                </a:solidFill>
                <a:latin typeface="Arial"/>
              </a:rPr>
              <a:t>Busca vetorial com os eventos vizinhos em cada trecho.</a:t>
            </a:r>
          </a:p>
        </p:txBody>
      </p:sp>
      <p:sp>
        <p:nvSpPr>
          <p:cNvPr id="11" name="Rectangle 10"/>
          <p:cNvSpPr/>
          <p:nvPr/>
        </p:nvSpPr>
        <p:spPr>
          <a:xfrm>
            <a:off x="8046720" y="1554480"/>
            <a:ext cx="3474720" cy="4206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Dados industriais: registros de eventos com agente, momento e local, como paradas, alertas e movimentações.</a:t>
            </a:r>
          </a:p>
          <a:p>
            <a:pPr>
              <a:spcAft>
                <a:spcPts val="1400"/>
              </a:spcAft>
            </a:pPr>
            <a:r>
              <a:rPr sz="1800" b="1">
                <a:solidFill>
                  <a:srgbClr val="1F5C99"/>
                </a:solidFill>
                <a:latin typeface="Arial"/>
              </a:rPr>
              <a:t>• </a:t>
            </a:r>
            <a:r>
              <a:rPr sz="1800" b="0">
                <a:solidFill>
                  <a:srgbClr val="222222"/>
                </a:solidFill>
                <a:latin typeface="Arial"/>
              </a:rPr>
              <a:t>Exige preparação dos dados, grafo e ferramentas próprios do domínio.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194560"/>
            <a:ext cx="109728" cy="14630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1645920"/>
          </a:xfrm>
          <a:prstGeom prst="rect">
            <a:avLst/>
          </a:prstGeom>
          <a:noFill/>
        </p:spPr>
        <p:txBody>
          <a:bodyPr wrap="square" anchor="t" lIns="45720" rIns="45720">
            <a:spAutoFit/>
          </a:bodyPr>
          <a:lstStyle/>
          <a:p>
            <a:pPr algn="l">
              <a:spcAft>
                <a:spcPts val="600"/>
              </a:spcAft>
            </a:pPr>
            <a:r>
              <a:rPr sz="5400" b="1">
                <a:solidFill>
                  <a:srgbClr val="FFFFFF"/>
                </a:solidFill>
                <a:latin typeface="Arial"/>
              </a:rPr>
              <a:t>Perguntas</a:t>
            </a:r>
          </a:p>
        </p:txBody>
      </p:sp>
      <p:sp>
        <p:nvSpPr>
          <p:cNvPr id="5" name="TextBox 4"/>
          <p:cNvSpPr txBox="1"/>
          <p:nvPr/>
        </p:nvSpPr>
        <p:spPr>
          <a:xfrm>
            <a:off x="1005840" y="4023360"/>
            <a:ext cx="10058400" cy="1645920"/>
          </a:xfrm>
          <a:prstGeom prst="rect">
            <a:avLst/>
          </a:prstGeom>
          <a:noFill/>
        </p:spPr>
        <p:txBody>
          <a:bodyPr wrap="square" anchor="t" lIns="45720" rIns="45720">
            <a:spAutoFit/>
          </a:bodyPr>
          <a:lstStyle/>
          <a:p>
            <a:pPr algn="l">
              <a:spcAft>
                <a:spcPts val="600"/>
              </a:spcAft>
            </a:pPr>
            <a:r>
              <a:rPr sz="1800" b="0">
                <a:solidFill>
                  <a:srgbClr val="BBBBBB"/>
                </a:solidFill>
                <a:latin typeface="Arial"/>
              </a:rPr>
              <a:t>Código, perguntas e gabarito:</a:t>
            </a:r>
          </a:p>
          <a:p>
            <a:pPr algn="l">
              <a:spcAft>
                <a:spcPts val="600"/>
              </a:spcAft>
            </a:pPr>
            <a:r>
              <a:rPr sz="2000" b="0">
                <a:solidFill>
                  <a:srgbClr val="FFFFFF"/>
                </a:solidFill>
                <a:latin typeface="Arial"/>
              </a:rPr>
              <a:t>github.com/joaowinderfeldbussolotto/match-events-qa-benchmark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