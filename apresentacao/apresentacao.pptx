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Sem dados</c:v>
                </c:pt>
              </c:strCache>
            </c:strRef>
          </c:tx>
          <c:spPr>
            <a:solidFill>
              <a:srgbClr val="DADADA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Estatísticas resumidas</c:v>
                </c:pt>
              </c:strCache>
            </c:strRef>
          </c:tx>
          <c:spPr>
            <a:solidFill>
              <a:srgbClr val="C0C0C0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Busca vetorial</c:v>
                </c:pt>
              </c:strCache>
            </c:strRef>
          </c:tx>
          <c:spPr>
            <a:solidFill>
              <a:srgbClr val="A6A6A6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15</c:v>
                </c:pt>
                <c:pt idx="3">
                  <c:v>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Contexto longo</c:v>
                </c:pt>
              </c:strCache>
            </c:strRef>
          </c:tx>
          <c:spPr>
            <a:solidFill>
              <a:srgbClr val="8C8C8C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45</c:v>
                </c:pt>
                <c:pt idx="1">
                  <c:v>40</c:v>
                </c:pt>
                <c:pt idx="2">
                  <c:v>72</c:v>
                </c:pt>
                <c:pt idx="3">
                  <c:v>85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Consulta escrita pelo modelo</c:v>
                </c:pt>
              </c:strCache>
            </c:strRef>
          </c:tx>
          <c:spPr>
            <a:solidFill>
              <a:srgbClr val="5E5E5E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70</c:v>
                </c:pt>
                <c:pt idx="1">
                  <c:v>57</c:v>
                </c:pt>
                <c:pt idx="2">
                  <c:v>89</c:v>
                </c:pt>
                <c:pt idx="3">
                  <c:v>94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Ferramentas sobre o grafo</c:v>
                </c:pt>
              </c:strCache>
            </c:strRef>
          </c:tx>
          <c:spPr>
            <a:solidFill>
              <a:srgbClr val="1F5C99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87</c:v>
                </c:pt>
                <c:pt idx="1">
                  <c:v>83</c:v>
                </c:pt>
                <c:pt idx="2">
                  <c:v>89</c:v>
                </c:pt>
                <c:pt idx="3">
                  <c:v>89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0D0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0D0D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/>
                  <a:t>Acerto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  <c:majorUnit val="25.0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Contexto longo</c:v>
                </c:pt>
              </c:strCache>
            </c:strRef>
          </c:tx>
          <c:spPr>
            <a:solidFill>
              <a:srgbClr val="A6A6A6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33</c:v>
                </c:pt>
                <c:pt idx="2">
                  <c:v>69</c:v>
                </c:pt>
                <c:pt idx="3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 escrita pelo modelo</c:v>
                </c:pt>
              </c:strCache>
            </c:strRef>
          </c:tx>
          <c:spPr>
            <a:solidFill>
              <a:srgbClr val="5E5E5E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69</c:v>
                </c:pt>
                <c:pt idx="1">
                  <c:v>53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Ferramentas sobre o grafo</c:v>
                </c:pt>
              </c:strCache>
            </c:strRef>
          </c:tx>
          <c:spPr>
            <a:solidFill>
              <a:srgbClr val="1F5C99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Haiku 5.5 (menor)</c:v>
                </c:pt>
                <c:pt idx="1">
                  <c:v>Qwen3.8-flash (menor)</c:v>
                </c:pt>
                <c:pt idx="2">
                  <c:v>Sonnet 4.6 (maior)</c:v>
                </c:pt>
                <c:pt idx="3">
                  <c:v>Kimi K3 (maior)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92</c:v>
                </c:pt>
                <c:pt idx="1">
                  <c:v>86</c:v>
                </c:pt>
                <c:pt idx="2">
                  <c:v>86</c:v>
                </c:pt>
                <c:pt idx="3">
                  <c:v>89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0D0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0D0D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/>
                  <a:t>Acerto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  <c:majorUnit val="25.0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Apresentação dos autores e do título. Em uma frase: o trabalho compara seis maneiras de dar a um modelo de linguagem acesso aos dados de uma partida e mede qual delas acerta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Contexto de futebol: a final da Copa de 2022, Argentina contra França, decidida nos pênaltis. Os dados de eventos registram cada ação, com jogador, momento e posição no campo. As três perguntas do slide são do conjunto do trabalho e nenhuma tem a resposta em um único evento: é preciso juntar vários. O modelo precisa receber os dados da partida, e há mais de uma forma de fazer isso. Perguntas de pesquisa: qual abordagem acerta mais, como o acerto muda de um modelo para outro e quanto cada uma custa em tokens e tempo. O aprendizado em contexto é usado em sentido amplo: o modelo não é treinado de novo e o que entra no contexto são os dados. Contribuições: o conjunto de perguntas com gabarito por código e a comparação sob as mesmas perguntas, o mesmo prompt e a mesma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Os dados são os eventos abertos da StatsBomb: dois arquivos, a lista de eventos da partida, em ordem, e as escalações, com nome completo e apelido de cada jogador. São 4.407 eventos no JSON bruto. O exemplo é o gol de Di María e o passe de Mac Allister que o precede, resumidos aos campos principais (valores de docs/02 e da Figura 1 do artigo, não recalculados nesta sessão). Três coisas que importam depois: cada tipo de evento tem campos próprios, então o JSON é rico e irregular; a mesma informação pode estar em lugares diferentes, como o cartão amarelo, que vem dentro da falta ou, sem falta, em um evento de comportamento; e o nome é o de registro, não o apelido, e o minuto é decorrido, então o gol aos 35 aparece como 36 na transmissão.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Os eventos da partida, sem a disputa de pênaltis, foram convertidos com a biblioteca socceraction para o formato SPADL, que guarda só as ações com bola, em um vocabulário fechado e com os mesmos campos em todas. Os 4.407 eventos viram 2.585 ações. Sobre essa tabela foram acrescentadas colunas de contexto: direção de ataque, zona em uma grade de 96 zonas, fase de posse (537 fases na final), recebedor do passe, placar e minuto. É essa tabela que o Contexto longo entrega ao modelo. O SPADL perde o desfecho da finalização e o cartão sem falta, que foram recuperados do JSON. Nenhuma etapa usa modelo de linguagem.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A tabela de ações foi carregada em um grafo Neo4j. Cada ação vira uma aresta do jogador para a partida, com as colunas da linha como propriedades; cada passe certo com recebedor vira uma aresta entre dois jogadores. O grafo tem 34 jogadores, 537 fases de posse e 96 zonas. As arestas não acrescentam informação à tabela, só a reorganizam em ligações; já a súmula, com totais por jogador e por time, é calculada: o próprio banco conta os totais a partir das arestas. A abordagem Estatísticas resumidas lê só a súmula; Consulta e Ferramentas leem o grafo. Nenhuma etapa usa modelo de linguagem.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Das 52 perguntas, 47 têm resposta nos dados e 5 são de controle: a resposta certa é a ausência de dados, como a distância percorrida por um jogador. As perguntas de busca e contagem são diretas: a resposta sai de um evento ou de uma soma. Os outros três grupos são encadeados: dependem de ligar eventos entre si. As perguntas foram escritas manualmente e o gabarito de cada uma foi calculado por código, sem passar pelo grafo, a partir do JSON bruto e da tabela de ações. A conferência com o gabarito é determinística: a mesma resposta recebe sempre o mesmo veredito.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Ordem de complexidade do que existe entre a pergunta e o modelo. Sem dados: só a pergunta, linha de base. Contexto longo: a tabela inteira de 2.585 ações no prompt. Estatísticas resumidas: a súmula, com totais por jogador e por time. Busca vetorial: as 30 linhas mais parecidas com a pergunta, como em geração aumentada por recuperação. Consulta escrita pelo modelo: o modelo recebe o esquema do grafo e escreve a consulta Cypher. Ferramentas sobre o grafo: 8 ferramentas com a consulta já escrita; o modelo só escolhe qual chamar e com quais argumentos. As duas últimas consultam o mesmo grafo e têm o mesmo limite de 12 chamadas por pergunta: muda quem escreve a consulta. Duas diferenças a declarar: a Consulta não tem a biblioteca de algoritmos de grafos nem os nós de padrões prontos, e as ferramentas foram ajustadas olhando erros, enquanto a Consulta é o primeiro contato. Todas usam o mesmo prompt de sistema e a mesma saída estruturada.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Quatro modelos, dois menores e dois maiores, agrupados pela faixa de preço por token, já que nem todo fabricante divulga o número de parâmetros. Em cada grupo há um modelo de código fechado e um de pesos abertos. Os menores rodaram sem raciocínio estendido e com temperatura zero; os maiores, com raciocínio estendido ligado. São 52 perguntas em 6 abordagens: 312 execuções por modelo, com 1 repetição por pergunta. Acerto com intervalo de Wilson de 95%. Ponto de honestidade: como é uma repetição, as diferenças são lidas como indícios.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Acerto nas 47 perguntas com resposta. A barra azul é Ferramentas sobre o grafo: 83% a 89% em todos os modelos. Consulta escrita pelo modelo: 57% a 70% nos menores e 89% a 94% nos maiores. Contexto longo: 40% a 45% nos menores e 72% a 85% nos maiores. As outras três ficam baixas: Busca vetorial 9% a 17%, Estatísticas resumidas 0% a 9%, e Sem dados 0%, porque se abstém. Nos maiores, Consulta empata com Ferramentas no Sonnet e fica à frente no Kimi; os intervalos se sobrepõem.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Recorte das 36 perguntas encadeadas (relações na rede de passes, jogadas e antes e depois de uma substituição). Nos modelos menores, Contexto longo e Consulta caem justamente aqui, e Ferramentas se mantêm: a consulta já escrita e o cálculo no código tiram do modelo o trabalho de juntar eventos espalhados. Nos maiores, com raciocínio estendido, as três se aproximam. Ressalva: tamanho e raciocínio vieram juntos, então não dá para separar o efeito de um do outro. A interpretação é compatível com a literatura de contexto longo (informação no meio do contexto, raciocínio composicional) e com a dificuldade de LLMs em gerar Cypher.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Busca vetorial (9% a 17%): traz as 30 linhas mais parecidas com a pergunta, de 2.585. Parecer com a pergunta não é servir para respondê-la; contar exige todas as linhas de um tipo e ligar eventos exige as linhas vizinhas. Erra por abstenção e por resposta errada, conforme o modelo. Estatísticas resumidas (0% a 9%): a súmula tem só totais da partida inteira, sem recorte de tempo ou de campo e sem quem passou para quem; como o prompt pede para indicar ausência de dados, os modelos se abstêm. Sem dados: 0 de 47 com resposta, por obediência ao prompt, que proíbe responder de memória; o 0% mede obediência, não ignorância. Nas perguntas de controle, Sem dados acerta as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Mediana por execução das três abordagens que leem os dados. O Contexto longo leva a tabela inteira em cada pergunta, de 82 a 111 mil tokens de entrada. Nos maiores, produz de 4.430 a 12.158 tokens de saída, quase todos de raciocínio, e leva de 37 a 81 segundos. Cuidado ao comparar: Ferramentas não usa cache de prompt e Consulta usa, então a latência mistura as duas condições; no Contexto longo, a maior parte da entrada veio do cache, o que o favorece. Sem preço em dólar, porque os preços mudam.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Conclusão: Ferramentas sobre o grafo foi a única abordagem que manteve o acerto alto nos 4 modelos, 83% a 89%. Consulta e Contexto longo dependem do modelo; nos maiores, com raciocínio estendido, a Consulta chegou ao mesmo nível e o Contexto longo se aproximou, este com mais tokens de saída e tempo. Busca vetorial e Estatísticas resumidas ficaram baixas em todos. Limitações, ditas pelo próprio artigo: uma partida e 1 repetição por pergunta, com 47 perguntas com resposta, então os intervalos são largos; tamanho e raciocínio estendido vieram juntos nos maiores; as ferramentas e as perguntas foram escritas pelos mesmos autores e as ferramentas foram ajustadas olhando erros, então o acerto vale dentro da cobertura delas; o ganho pode vir das ferramentas, do grafo ou dos algoritmos de grafo, e separar isso é trabalho futuro; e as abordagens com agente supõem chamada de ferramenta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Fecho. Parte dos dados industriais tem a forma dos dados de futebol: registros de eventos com agente, momento e local, ligados entre si, como as paradas, os alertas e as movimentações de uma linha de produção ou de uma frota. Como o resultado do futebol mostra que a forma de levar os dados ao contexto pesa tanto quanto o modelo, testar as seis abordagens nesses dados é o passo natural para uma pós em IA aplicada à indústria. O que não transfere de graça: a preparação dos dados, o grafo e as ferramentas dependem das perguntas que se quer responder, então exige implementação própria para o domínio. A tabela de correspondência é uma proposta de analogia, não um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Slides de apoio não foram incluídos para respeitar o limite de 15. As respostas às perguntas prováveis estão em apresentacao/perguntas-banca.md.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728" cy="237744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058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Aprendizado em contexto com dados de eventos de futebol</a:t>
            </a:r>
          </a:p>
          <a:p>
            <a:pPr algn="l">
              <a:spcAft>
                <a:spcPts val="1000"/>
              </a:spcAft>
            </a:pPr>
            <a:r>
              <a:rPr sz="2800" b="0">
                <a:solidFill>
                  <a:srgbClr val="DDDDDD"/>
                </a:solidFill>
                <a:latin typeface="Arial"/>
              </a:rPr>
              <a:t>uma comparação de seis abordagens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Daniel Alfredo Quiteque e João Victor Winderfeld Bussolotto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BBBBB"/>
                </a:solidFill>
                <a:latin typeface="Arial"/>
              </a:rPr>
              <a:t>Pós-graduação em Inteligência Artificial Aplicada, UniSENAI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BBBBB"/>
                </a:solidFill>
                <a:latin typeface="Arial"/>
              </a:rPr>
              <a:t>AV2,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Perguntas de futebol exigem ligar eventos: qual forma de dar os dados ao modelo funciona melhor?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Perguntas de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• </a:t>
            </a:r>
            <a:r>
              <a:rPr sz="2000" b="0">
                <a:solidFill>
                  <a:srgbClr val="222222"/>
                </a:solidFill>
                <a:latin typeface="Arial"/>
              </a:rPr>
              <a:t>Qual abordagem acerta mais?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• </a:t>
            </a:r>
            <a:r>
              <a:rPr sz="2000" b="0">
                <a:solidFill>
                  <a:srgbClr val="222222"/>
                </a:solidFill>
                <a:latin typeface="Arial"/>
              </a:rPr>
              <a:t>Como o acerto muda de um modelo para outro?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• </a:t>
            </a:r>
            <a:r>
              <a:rPr sz="2000" b="0">
                <a:solidFill>
                  <a:srgbClr val="222222"/>
                </a:solidFill>
                <a:latin typeface="Arial"/>
              </a:rPr>
              <a:t>Quanto cada abordagem custa em tokens e em tempo?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80560"/>
            <a:ext cx="512064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484632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Contribuições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52 perguntas sobre a final, com gabarito calculado por código, fora do grafo.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Comparação de 6 abordagens com as mesmas perguntas, o mesmo prompt e a mesma saída, em 4 modelos.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Exemplos de pergunta do conjunto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03520" cy="12344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39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5C99"/>
                </a:solidFill>
                <a:latin typeface="Arial"/>
              </a:rPr>
              <a:t>Quem passou para quem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Qual dupla da França mais trocou passes entre si na final?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5303520" cy="12344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520439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5C99"/>
                </a:solidFill>
                <a:latin typeface="Arial"/>
              </a:rPr>
              <a:t>Ordem das ações em uma jogada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Qual jogador participou de mais jogadas da Argentina que terminaram em finalização?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46320"/>
            <a:ext cx="5303520" cy="12344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892040"/>
            <a:ext cx="50292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5C99"/>
                </a:solidFill>
                <a:latin typeface="Arial"/>
              </a:rPr>
              <a:t>Antes e depois de uma substituição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Depois que Dembélé foi substituído no primeiro tempo, qual companheiro mais passou a bola para Mbappé?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Os dados: eventos da StatsBomb da final de 2022, em JSON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Exemplo resumido: o passe de Mac Allister e o gol de Di María (docs/02 e Figura 1 do artigo).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92240" cy="26517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6217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8E8E8"/>
                </a:solidFill>
                <a:latin typeface="Courier New"/>
              </a:rPr>
              <a:t>{ "type": "Pass", "minute": 35, "second": 20,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"player": "Alexis Mac Allister",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"pass": { "recipient": "Ángel Fabián Di María",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          "goal_assist": true } }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{ "type": "Shot", "minute": 35, "second": 22,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"team": "Argentina",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"player": "Ángel Fabián Di María",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"shot": { "outcome": "Goal",</a:t>
            </a:r>
          </a:p>
          <a:p>
            <a:r>
              <a:rPr sz="1200">
                <a:solidFill>
                  <a:srgbClr val="E8E8E8"/>
                </a:solidFill>
                <a:latin typeface="Courier New"/>
              </a:rPr>
              <a:t>            "body_part": "Left Foot"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Fonte: </a:t>
            </a:r>
            <a:r>
              <a:rPr sz="1600" b="0">
                <a:solidFill>
                  <a:srgbClr val="222222"/>
                </a:solidFill>
                <a:latin typeface="Arial"/>
              </a:rPr>
              <a:t>StatsBomb Open Data, lista de eventos e escalações da partida.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4.407 eventos, </a:t>
            </a:r>
            <a:r>
              <a:rPr sz="1600" b="0">
                <a:solidFill>
                  <a:srgbClr val="222222"/>
                </a:solidFill>
                <a:latin typeface="Arial"/>
              </a:rPr>
              <a:t>cada um com tipo, tempo, time, jogador e posição.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Campos próprios por tipo: </a:t>
            </a:r>
            <a:r>
              <a:rPr sz="1600" b="0">
                <a:solidFill>
                  <a:srgbClr val="222222"/>
                </a:solidFill>
                <a:latin typeface="Arial"/>
              </a:rPr>
              <a:t>o passe traz o recebedor; a finalização, o resultado.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Mesma informação em lugares diferentes: </a:t>
            </a:r>
            <a:r>
              <a:rPr sz="1600" b="0">
                <a:solidFill>
                  <a:srgbClr val="222222"/>
                </a:solidFill>
                <a:latin typeface="Arial"/>
              </a:rPr>
              <a:t>o cartão amarelo vem na falta ou em outro evento.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Nome de registro e minuto decorrido: </a:t>
            </a:r>
            <a:r>
              <a:rPr sz="1600" b="0">
                <a:solidFill>
                  <a:srgbClr val="222222"/>
                </a:solidFill>
                <a:latin typeface="Arial"/>
              </a:rPr>
              <a:t>o gol aos 35 aparece como 36 na transmissão.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Do JSON à tabela de ações: um vocabulário fechado, com contexto acrescentado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Pênaltis fora da tabela. Fonte: Tabela 1 do artigo e docs/09.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017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Arial"/>
              </a:rPr>
              <a:t>JSON bruto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4.407 eventos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666666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566160" cy="7772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44752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5C99"/>
                </a:solidFill>
                <a:latin typeface="Arial"/>
              </a:rPr>
              <a:t>Tabela de ações (SPADL)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2.585 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96 zonas, 537 fases de posse, 34 jogadores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377440"/>
          <a:ext cx="10881359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4297680"/>
                <a:gridCol w="3749039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Transformação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 que faz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Motivo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Direção de ataque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toda ação ataca da esquerda para a direita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mesmo sentido do campo para os dois times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Zona, terço e corredor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situa o início e o fim de cada ação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localizar a ação no campo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Recebedor do passe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jogador do mesmo time que age em seguida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saber quem passou para quem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Fase de posse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agrupa as ações seguidas do mesmo 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identificar as jogadas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Placar, minuto e período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placar antes de cada ação; minuto da transmissão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situar a ação antes ou depois de um momento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Dados recuperados do JSON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desfecho da finalização e cartão sem falta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o SPADL perde essas informações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Rótulos em português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passe, condução, drible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o SPADL chama a condução de dribble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Da tabela ao grafo: cada ação vira uma aresta, e a súmula é contada pelo banco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Esquema simplificado: Figura 2 do artigo. A camada de padrões táticos não é lida por nenhuma abordagem.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005840" y="3429000"/>
            <a:ext cx="256032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00200" y="3108960"/>
            <a:ext cx="109728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MEMBRO_DE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3429000"/>
            <a:ext cx="256032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34840" y="3108960"/>
            <a:ext cx="109728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REALIZOU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005840" y="3429000"/>
            <a:ext cx="2560320" cy="1828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80160" y="4297680"/>
            <a:ext cx="146304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PARTICIPOU_DE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3429000"/>
            <a:ext cx="0" cy="1828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6080" y="4206240"/>
            <a:ext cx="146304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TEM_ESTATISTICA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3429000"/>
            <a:ext cx="2560320" cy="1828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4297680"/>
            <a:ext cx="109728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ATUOU_EM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09728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017520"/>
            <a:ext cx="1645920" cy="822960"/>
          </a:xfrm>
          <a:prstGeom prst="rect">
            <a:avLst/>
          </a:prstGeom>
          <a:solidFill>
            <a:srgbClr val="E6EEF6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Jogador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34 na final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017520"/>
            <a:ext cx="109728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Partida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09728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Fase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537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846320"/>
            <a:ext cx="164592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Súmula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por jogador 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846320"/>
            <a:ext cx="109728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Zona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1920240"/>
            <a:ext cx="4754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Entre jogadores: PASSOU_PARA, DEU_ASSISTENCIA, PRESSIONOU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Entre zonas: PROGREDIU_PARA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Cada ação </a:t>
            </a:r>
            <a:r>
              <a:rPr sz="1600" b="0">
                <a:solidFill>
                  <a:srgbClr val="222222"/>
                </a:solidFill>
                <a:latin typeface="Arial"/>
              </a:rPr>
              <a:t>vira uma aresta do jogador para a partida, com as colunas da linha como propriedades.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Cada passe certo com recebedor </a:t>
            </a:r>
            <a:r>
              <a:rPr sz="1600" b="0">
                <a:solidFill>
                  <a:srgbClr val="222222"/>
                </a:solidFill>
                <a:latin typeface="Arial"/>
              </a:rPr>
              <a:t>vira uma aresta entre dois jogadores.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As arestas reorganizam a tabela, </a:t>
            </a:r>
            <a:r>
              <a:rPr sz="1600" b="0">
                <a:solidFill>
                  <a:srgbClr val="222222"/>
                </a:solidFill>
                <a:latin typeface="Arial"/>
              </a:rPr>
              <a:t>não acrescentam informação.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A súmula é calculada: </a:t>
            </a:r>
            <a:r>
              <a:rPr sz="1600" b="0">
                <a:solidFill>
                  <a:srgbClr val="222222"/>
                </a:solidFill>
                <a:latin typeface="Arial"/>
              </a:rPr>
              <a:t>o próprio banco conta os totais por jogador e por time.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5C99"/>
                </a:solidFill>
                <a:latin typeface="Arial"/>
              </a:rPr>
              <a:t>• </a:t>
            </a:r>
            <a:r>
              <a:rPr sz="1600" b="1">
                <a:solidFill>
                  <a:srgbClr val="222222"/>
                </a:solidFill>
                <a:latin typeface="Arial"/>
              </a:rPr>
              <a:t>Nenhuma etapa usa modelo de linguagem; </a:t>
            </a:r>
            <a:r>
              <a:rPr sz="1600" b="0">
                <a:solidFill>
                  <a:srgbClr val="222222"/>
                </a:solidFill>
                <a:latin typeface="Arial"/>
              </a:rPr>
              <a:t>só o benchmark chama modelos.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52 perguntas em cinco grupos, com gabarito calculado por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6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640080"/>
                <a:gridCol w="7132320"/>
              </a:tblGrid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Exemplo (resposta esperada)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Arial"/>
                        </a:rPr>
                        <a:t>Busca e contagem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Quem recebeu o primeiro cartão amarelo da final? (jogador)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Arial"/>
                        </a:rPr>
                        <a:t>Relações na rede de passes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Qual dupla da França mais trocou passes entre si? (conjunto de jogadores)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Arial"/>
                        </a:rPr>
                        <a:t>Jogadas e sequências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Qual jogador participou de mais jogadas da Argentina que terminaram em finalização? (jogador)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Arial"/>
                        </a:rPr>
                        <a:t>Antes e depois de uma substituição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Depois que Dembélé saiu, qual companheiro mais passou a bola para Mbappé? (jogador)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Arial"/>
                        </a:rPr>
                        <a:t>Controle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Arial"/>
                        </a:rPr>
                        <a:t>Qual foi a distância total percorrida por Rodrigo De Paul? (ausência de dados)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47 perguntas com resposta e 5 de controle. Gabarito calculado por código, fora do grafo, a partir do JSON bruto e da tabela de 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Seis abordagens, da ausência de dados à consulta ao grafo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7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704088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Abordagem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O que o modelo recebe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Sem 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só a pergunta (linha de 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Contexto longo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a tabela com as 2.585 ações, inteira, no prompt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Estatísticas resumidas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a súmula: totais por jogador e por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Busca vetorial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as 30 linhas mais parecidas com a pergunta (embeddings)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Consulta escrita pelo modelo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o esquema do grafo e o resultado da consulta que o modelo escreveu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Ferramentas sobre o grafo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o resultado de 8 ferramentas com consulta fixa, que o modelo chama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As duas últimas consultam o mesmo grafo, com o mesmo limite de 12 chamadas: muda quem escreve a consulta.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A Consulta não tem a biblioteca de algoritmos (GDS) nem os nós de padrões prontos. As Ferramentas foram ajustadas olhando erros; a Consulta é o primeiro contato.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4 modelos em duas faixas, 312 execuções por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0352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Modelos menores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Claude Haiku 5.5 e Qwen3.8-flash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66666"/>
                </a:solidFill>
                <a:latin typeface="Arial"/>
              </a:rPr>
              <a:t>sem raciocínio estendido, temperatura zero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Modelos maiores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Claude Sonnet 4.6 e Kimi K3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66666"/>
                </a:solidFill>
                <a:latin typeface="Arial"/>
              </a:rPr>
              <a:t>com raciocínio estendido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F5C99"/>
                </a:solidFill>
                <a:latin typeface="Arial"/>
              </a:rPr>
              <a:t>• </a:t>
            </a:r>
            <a:r>
              <a:rPr sz="1900" b="0">
                <a:solidFill>
                  <a:srgbClr val="222222"/>
                </a:solidFill>
                <a:latin typeface="Arial"/>
              </a:rPr>
              <a:t>52 perguntas × 6 abordagens = 312 execuções por modelo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F5C99"/>
                </a:solidFill>
                <a:latin typeface="Arial"/>
              </a:rPr>
              <a:t>• </a:t>
            </a:r>
            <a:r>
              <a:rPr sz="1900" b="0">
                <a:solidFill>
                  <a:srgbClr val="222222"/>
                </a:solidFill>
                <a:latin typeface="Arial"/>
              </a:rPr>
              <a:t>1 repetição por pergunta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F5C99"/>
                </a:solidFill>
                <a:latin typeface="Arial"/>
              </a:rPr>
              <a:t>• </a:t>
            </a:r>
            <a:r>
              <a:rPr sz="1900" b="0">
                <a:solidFill>
                  <a:srgbClr val="222222"/>
                </a:solidFill>
                <a:latin typeface="Arial"/>
              </a:rPr>
              <a:t>Acerto com intervalo de Wilson de 95%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F5C99"/>
                </a:solidFill>
                <a:latin typeface="Arial"/>
              </a:rPr>
              <a:t>• </a:t>
            </a:r>
            <a:r>
              <a:rPr sz="1900" b="0">
                <a:solidFill>
                  <a:srgbClr val="222222"/>
                </a:solidFill>
                <a:latin typeface="Arial"/>
              </a:rPr>
              <a:t>Diferenças lidas como indícios, não como demonstração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Ferramentas sobre o grafo: 83% a 89% de acerto nos 4 modelos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Acerto nas 47 perguntas com resposta, uma repetição por pergunta.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1124712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Nas perguntas encadeadas, Consulta e Contexto longo dependem do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Acerto nas 36 perguntas encadeadas com resposta (soma dos grupos Relações, Jogadas e Momento).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7498079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554480"/>
            <a:ext cx="338328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645920"/>
            <a:ext cx="310896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Leitura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Ferramentas: a consulta já vem escrita e o cálculo fica no código.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Consulta: o modelo escreve o Cypher; o acerto acompanha essa capacidade.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Contexto longo: o modelo acha e combina as linhas certas na tabela inteira.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Busca vetorial, Estatísticas resumidas e Sem dados ficam baixas por motivos diferentes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47472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2004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Busca vetorial</a:t>
            </a:r>
          </a:p>
          <a:p>
            <a:pPr algn="l">
              <a:spcAft>
                <a:spcPts val="1000"/>
              </a:spcAft>
            </a:pPr>
            <a:r>
              <a:rPr sz="3400" b="1">
                <a:solidFill>
                  <a:srgbClr val="1F5C99"/>
                </a:solidFill>
                <a:latin typeface="Arial"/>
              </a:rPr>
              <a:t>9% a 17%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acerto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Traz as 30 linhas mais parecidas com a pergunta, de 2.585. Contar exige todas as linhas de um tipo e ligar eventos exige as vizinhas.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737360"/>
            <a:ext cx="347472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2004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Estatísticas resumidas</a:t>
            </a:r>
          </a:p>
          <a:p>
            <a:pPr algn="l">
              <a:spcAft>
                <a:spcPts val="1000"/>
              </a:spcAft>
            </a:pPr>
            <a:r>
              <a:rPr sz="3400" b="1">
                <a:solidFill>
                  <a:srgbClr val="1F5C99"/>
                </a:solidFill>
                <a:latin typeface="Arial"/>
              </a:rPr>
              <a:t>0% a 9%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acerto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A súmula tem totais da partida inteira, sem recorte de tempo ou de campo e sem quem passou para quem. Os modelos se abstêm.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737360"/>
            <a:ext cx="347472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32004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Sem dados</a:t>
            </a:r>
          </a:p>
          <a:p>
            <a:pPr algn="l">
              <a:spcAft>
                <a:spcPts val="1000"/>
              </a:spcAft>
            </a:pPr>
            <a:r>
              <a:rPr sz="3400" b="1">
                <a:solidFill>
                  <a:srgbClr val="1F5C99"/>
                </a:solidFill>
                <a:latin typeface="Arial"/>
              </a:rPr>
              <a:t>0%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acerto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Se abstém nas 47 perguntas com resposta: o prompt proíbe responder de memória. Mede obediência.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Contexto longo nos modelos maiores custa milhares de tokens de saída e dezenas de segundos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Mediana por execução. Os tokens de entrada incluem os lidos do cache do prompt.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80"/>
                <a:gridCol w="1645920"/>
                <a:gridCol w="1737360"/>
                <a:gridCol w="1554480"/>
                <a:gridCol w="164592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Abordagem / medida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Haiku 5.5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Qwen3.8-flash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Sonnet 4.6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Kimi K3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Contexto, saída (mil tokens)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Consulta, saída (mil tokens)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Ferramentas, saída (mil tokens)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0,9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Contexto, latência (s)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Consulta, latência (s)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Ferramentas, latência (s)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Contexto, entrada (mil tokens)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Consulta, entrada (mil tokens)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Ferramentas, entrada (mil tokens)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Ferramentas mantiveram o acerto alto, com limites claros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5C99"/>
                </a:solidFill>
                <a:latin typeface="Arial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Ferramentas sobre o grafo: </a:t>
            </a:r>
            <a:r>
              <a:rPr sz="1800" b="0">
                <a:solidFill>
                  <a:srgbClr val="222222"/>
                </a:solidFill>
                <a:latin typeface="Arial"/>
              </a:rPr>
              <a:t>83% a 89% em todos os modelos.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Consulta: </a:t>
            </a:r>
            <a:r>
              <a:rPr sz="1800" b="0">
                <a:solidFill>
                  <a:srgbClr val="222222"/>
                </a:solidFill>
                <a:latin typeface="Arial"/>
              </a:rPr>
              <a:t>57% a 70% nos menores; 89% a 94% nos maiores.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Contexto longo: </a:t>
            </a:r>
            <a:r>
              <a:rPr sz="1800" b="0">
                <a:solidFill>
                  <a:srgbClr val="222222"/>
                </a:solidFill>
                <a:latin typeface="Arial"/>
              </a:rPr>
              <a:t>40% a 45% nos menores; 72% a 85% nos maiores, com mais tokens de saída e tempo.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Busca vetorial e Estatísticas resumidas: </a:t>
            </a:r>
            <a:r>
              <a:rPr sz="1800" b="0">
                <a:solidFill>
                  <a:srgbClr val="222222"/>
                </a:solidFill>
                <a:latin typeface="Arial"/>
              </a:rPr>
              <a:t>9% a 17% e 0% a 9%.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5C99"/>
                </a:solidFill>
                <a:latin typeface="Arial"/>
              </a:rPr>
              <a:t>Limitações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Uma partida e 1 repetição </a:t>
            </a:r>
            <a:r>
              <a:rPr sz="1800" b="0">
                <a:solidFill>
                  <a:srgbClr val="222222"/>
                </a:solidFill>
                <a:latin typeface="Arial"/>
              </a:rPr>
              <a:t>por pergunta; 47 perguntas com resposta e intervalos largos.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Tamanho e raciocínio </a:t>
            </a:r>
            <a:r>
              <a:rPr sz="1800" b="0">
                <a:solidFill>
                  <a:srgbClr val="222222"/>
                </a:solidFill>
                <a:latin typeface="Arial"/>
              </a:rPr>
              <a:t>vieram juntos nos modelos maiores.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Ferramentas e perguntas dos mesmos autores: </a:t>
            </a:r>
            <a:r>
              <a:rPr sz="1800" b="0">
                <a:solidFill>
                  <a:srgbClr val="222222"/>
                </a:solidFill>
                <a:latin typeface="Arial"/>
              </a:rPr>
              <a:t>o acerto vale dentro da cobertura das ferramentas.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Ferramentas, grafo ou algoritmos de grafo? </a:t>
            </a:r>
            <a:r>
              <a:rPr sz="1800" b="0">
                <a:solidFill>
                  <a:srgbClr val="222222"/>
                </a:solidFill>
                <a:latin typeface="Arial"/>
              </a:rPr>
              <a:t>Separar é trabalho futuro.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5C99"/>
                </a:solidFill>
                <a:latin typeface="Arial"/>
              </a:rPr>
              <a:t>• </a:t>
            </a:r>
            <a:r>
              <a:rPr sz="1800" b="1">
                <a:solidFill>
                  <a:srgbClr val="222222"/>
                </a:solidFill>
                <a:latin typeface="Arial"/>
              </a:rPr>
              <a:t>Agentes </a:t>
            </a:r>
            <a:r>
              <a:rPr sz="1800" b="0">
                <a:solidFill>
                  <a:srgbClr val="222222"/>
                </a:solidFill>
                <a:latin typeface="Arial"/>
              </a:rPr>
              <a:t>supõem chamada de ferramenta confiável.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100584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Próximo passo: testar as mesmas abordagens em dados industriais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56032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14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676656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02336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No futebol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Em dados industriais (proposta)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Jogador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máquina, operador ou veículo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Minuto da partida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carimbo de tempo do registro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Zona do campo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posto, linha ou rota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Passe entre dois jogadores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evento que liga dois agentes (parada, alerta, movimentação)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22222"/>
                          </a:solidFill>
                          <a:latin typeface="Arial"/>
                        </a:rPr>
                        <a:t>Jogada: sequência de ações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Arial"/>
                        </a:rPr>
                        <a:t>sequência de eventos até uma parada ou falha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960" y="1554480"/>
            <a:ext cx="3840480" cy="384048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5661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5C99"/>
                </a:solidFill>
                <a:latin typeface="Arial"/>
              </a:rPr>
              <a:t>O que testar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As 6 abordagens, nos mesmos moldes.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Exige preparação dos dados, grafo e ferramentas próprios do domínio.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A forma de levar os dados ao modelo pode pesar tanto quanto pesou no futebol.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Também: várias partidas, repetições, modelos maiores sem raciocínio estendido, ferramentas sobre tabela e busca vetorial com eventos vizinhos.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09728" cy="146304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Perguntas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100584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BBBBB"/>
                </a:solidFill>
                <a:latin typeface="Arial"/>
              </a:rPr>
              <a:t>Código, perguntas e gabarito: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github.com/joaowinderfeldbussolotto/football-tactics-knowledge-graph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