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a transformação dos eventos em uma tabela de ações e em um grafo, o conjunto de perguntas com gabarito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Tabela de posicionamento do artigo. No esporte, os primeiros conjuntos (SportQA) medem o que o modelo sabe, sem dados de uma partida, com múltipla escolha. SoccerAgent usa um agente com ferramentas sobre uma base de conhecimento. SoccerRAG e SPORTSQL escrevem SQL, sobre anotações de partidas e sobre estatísticas de jogadores; Tzikas et al. usam recuperação vetorial sobre eventos, com um LLM como juiz. Cada um avalia uma única forma de recuperação. Fora do esporte, Li et al. e LOFT comparam recuperação e contexto longo, mas sem dados esportivos. A última linha não está na tabela do artigo: resume a lacuna que o artigo aponta no fim da seção, a de que não foram encontrados trabalhos que comparem formas de recuperação em perguntas encadeadas sobre eventos de futebol, com conferência por código contra um gabarito calculado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A figura mostra a grade de 12 por 8 zonas e o passe de Mac Allister para Di María, da zona 74 para a 92, como na Figura 1 do artigo (zonas copiadas dela, não recalculadas).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separando tentativas e acertos. A abordagem Estatísticas resumidas lê só a súmula; Consulta e Ferramentas leem o grafo. Por que grafo: a análise de futebol trata os passes de um time como uma rede, com os jogadores como nós e os passes como arestas (Buldú et al.; Duch et al.). Perguntas sobre essa rede, como qual dupla mais trocou passes ou por qual jogador mais passa a circulação da bola, viram caminhos e métricas sobre o grafo. Uma tabela relacional também guarda a informação, mas, conforme a organização, seguir uma cadeia de passes pode exigir uma junção a cada passe, e métricas como a intermediação dependeriam de implementação própria.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Valeu, Daniel. Boa noite, pessoal, eu vou continuar a partir daqui.</a:t>
            </a:r>
          </a:p>
          <a:p/>
          <a:p>
            <a:r>
              <a:t>Então, com os dados e as perguntas prontas, a gente comparou seis jeitos de entregar esses dados pro modelo. Ou seja, a gente está usando aprendizado em contexto, alimentando o modelo com os dados na hora da pergunta, sem treinar ele de novo.</a:t>
            </a:r>
          </a:p>
          <a:p/>
          <a:p>
            <a:r>
              <a:t>A primeira é sem dados, então só a pergunta vai pro modelo. É a nossa linha de base.</a:t>
            </a:r>
          </a:p>
          <a:p/>
          <a:p>
            <a:r>
              <a:t>A segunda é o contexto longo, em que a tabela inteira de ações vai direto no prompt.</a:t>
            </a:r>
          </a:p>
          <a:p/>
          <a:p>
            <a:r>
              <a:t>A terceira são as estatísticas resumidas, em que vai só a súmula, com os totais por jogador e por time.</a:t>
            </a:r>
          </a:p>
          <a:p/>
          <a:p>
            <a:r>
              <a:t>A quarta é a busca vetorial, o RAG tradicional. As linhas da tabela e a pergunta viram embeddings, que são vetores que representam o texto, e uma busca por similaridade manda pro prompt só as linhas mais parecidas com a pergunta.</a:t>
            </a:r>
          </a:p>
          <a:p/>
          <a:p>
            <a:r>
              <a:t>E as duas em azul são agentes que consultam o grafo. Isso quer dizer que o modelo não responde de uma vez. Ele chama uma ferramenta, vê o resultado e decide se chama de novo ou se já responde. Na consulta escrita pelo modelo, ele escreve a consulta sozinho, em Cypher. Nas ferramentas sobre o grafo, ele só escolhe uma ferramenta pronta e passa os argumentos.</a:t>
            </a:r>
          </a:p>
          <a:p/>
          <a:p>
            <a:r>
              <a:t>Em cada modelo, as seis abordagens usam o mesmo prompt e o mesmo formato de resposta, então a única coisa que muda é a forma como os dados chegam até a janela de contexto do LLM.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Aqui tem um exemplo real desses dois agentes. A pergunta é quem deu mais passes certos no terço final pela Argentina.</a:t>
            </a:r>
          </a:p>
          <a:p/>
          <a:p>
            <a:r>
              <a:t>Nos dois casos o modelo chama uma ferramenta, mas o que ele passa pra ela é bem diferente. Na esquerda, o parâmetro da ferramenta é a própria consulta em Cypher, escrita pelo modelo, com todos os filtros dentro, time, passe certo e terço de ataque. Na direita, o modelo não escreve consulta nenhuma. Ele passa só os argumentos, como o time, o tipo de ação e o terço do campo, e esses argumentos preenchem uma consulta parametrizada que já está implementada dentro da ferramenta. No fim, os dois chegaram no Messi.</a:t>
            </a:r>
          </a:p>
          <a:p/>
          <a:p>
            <a:r>
              <a:t>Essa ferramenta da direita, que conta ações, é uma das 8 ferramentas, e as outras seguem a mesma ideia, contando ou listando ações e trabalhando com a rede de passes.</a:t>
            </a:r>
          </a:p>
          <a:p/>
          <a:p>
            <a:r>
              <a:t>[pausa] Então os dois agentes usam o mesmo grafo, e o que muda é quem escreve a consulta, se é o próprio modelo ou a implementação dentro da ferramenta.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Agora os resultados. A gente testou em quatro modelos, em dois grupos. Os menores são o Claude Haiku 5.5 e o Qwen3.8-flash, e os maiores, o Claude Sonnet 4.6 e o Kimi K3. Em cada grupo tem um modelo proprietário e um de pesos abertos, então o Haiku e o Sonnet, da Anthropic, representando os fechados, e o Qwen e o Kimi, os de pesos abertos. Os maiores rodaram com o raciocínio estendido ligado.</a:t>
            </a:r>
          </a:p>
          <a:p/>
          <a:p>
            <a:r>
              <a:t>O que está em azul é a abordagem com ferramentas, e ela ficou entre 83 e 89% em todos os modelos, então o tamanho do modelo quase não fez diferença nessa abordagem.</a:t>
            </a:r>
          </a:p>
          <a:p/>
          <a:p>
            <a:r>
              <a:t>A consulta escrita pelo modelo fica bem abaixo nos menores e sobe até empatar com as ferramentas nos maiores. O contexto longo faz o mesmo caminho, só que sempre um degrau abaixo. E isso já aparece na literatura, porque trabalhar com um contexto muito longo exige um modelo maior, e escrever código também, seja uma consulta em Cypher, em SQL ou até, sei lá, em Python.</a:t>
            </a:r>
          </a:p>
          <a:p/>
          <a:p>
            <a:r>
              <a:t>As outras três acertaram pouco em todos, e eu já explico por quê.</a:t>
            </a:r>
          </a:p>
          <a:p/>
          <a:p>
            <a:r>
              <a:t>[pausa] Só um cuidado. Esses risquinhos são o intervalo de confiança, e como foi uma repetição só, eles são largos. Então nos modelos maiores a gente não consegue separar a consulta das ferramentas, e por isso a gente lê essas diferenças como indício, e não como prova.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Esse gráfico não está no artigo, a gente trouxe só pra ilustrar. São só as perguntas encadeadas, em que você precisa ligar um evento ao outro, tipo quem passou pra quem ou o que mudou depois de uma substituição.</a:t>
            </a:r>
          </a:p>
          <a:p/>
          <a:p>
            <a:r>
              <a:t>É aqui que a diferença aparece, tá. Nos modelos menores, o contexto longo e a consulta caem bastante, e a abordagem com ferramentas segura. Nos maiores, as três ficam bem mais próximas.</a:t>
            </a:r>
          </a:p>
          <a:p/>
          <a:p>
            <a:r>
              <a:t>E dá pra entender o porquê olhando o que cada uma exige do modelo. Nas ferramentas, quem faz o trabalho pesado é a implementação dentro da ferramenta, que conta os passes ou percorre a jogada, e o modelo só escolhe a ferramenta certa, com os parâmetros certos.</a:t>
            </a:r>
          </a:p>
          <a:p/>
          <a:p>
            <a:r>
              <a:t>Já na consulta, o modelo menor erra ao escrever o Cypher e precisa de várias tentativas até chegar numa consulta que funciona. E no contexto longo, ele tem que achar e juntar eventos espalhados pela tabela inteira, que é justamente o que um modelo menor faz pior.</a:t>
            </a:r>
          </a:p>
          <a:p/>
          <a:p>
            <a:r>
              <a:t>[pausa] Mas isso tem uma contrapartida, porque a abordagem com ferramentas acaba sendo mais restritiva. O que eu quero dizer com isso é que, no contexto longo, a gente tá dando ao modelo todos os dados que ele precisa pra responder. Na consulta, a gente dá a liberdade pro modelo navegar pelos dados usando a linguagem Cypher. Já nas ferramentas, o modelo só vai recuperar, e consequentemente só vai responder, aquilo que as ferramentas permitem que ele recupere.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Voltando nas três que foram mal.</a:t>
            </a:r>
          </a:p>
          <a:p/>
          <a:p>
            <a:r>
              <a:t>A busca vetorial traz as 30 linhas mais parecidas com a pergunta, mas parecer não é o mesmo que ser útil pra responder. Pra contar ou ligar eventos, você vai acabar precisando de mais do que isso. Numa pergunta sobre a Argentina sem o Enzo Fernández, por exemplo, ela trouxe justamente as ações do Enzo.</a:t>
            </a:r>
          </a:p>
          <a:p/>
          <a:p>
            <a:r>
              <a:t>E muitas vezes essas linhas pareciam suficientes, então o modelo respondia errado em vez de dizer que não tinha os dados. E dizer que não tem os dados, ou seja, a abstenção, já conta como um erro, né, porque a gente está avaliando num conjunto em que sabe que toda pergunta tem resposta. Mas responder errado com cara de certo pode ser pior.</a:t>
            </a:r>
          </a:p>
          <a:p/>
          <a:p>
            <a:r>
              <a:t>A abordagem com estatísticas só tem o total do jogo, sem tempo, sem lugar do campo e sem quem passou pra quem, então o modelo dizia que não tinha os dados. É um resultado esperado.</a:t>
            </a:r>
          </a:p>
          <a:p/>
          <a:p>
            <a:r>
              <a:t>E o sem dados zerou porque o prompt proíbe responder de memória. Ou seja, os LLMs que a gente avaliou obedeceram a instrução, o que já é comum nos modelos atuais.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No custo, vamos olhar aqui só as abordagens que mais acertaram. O que pesa é o contexto longo nos modelos maiores, que gera milhares de tokens de raciocínio. No Kimi, ele levou 81 segundos por pergunta, e esse valor é a mediana, contra 15 da abordagem com ferramentas. Então ele chega perto no acerto, mas paga bem mais caro em tempo e em tokens.</a:t>
            </a:r>
          </a:p>
          <a:p/>
          <a:p>
            <a:r>
              <a:t>Mas cada uma tem vantagens e desvantagens. O contexto longo acaba sendo mais barato em termos de implementação, porque não precisa de banco de grafos nem de um agente chamando ferramenta, mas ele tem o custo do modelo.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Pra concluir, a abordagem com ferramentas sobre o grafo foi a única com acerto alto em todos os modelos, entre 83 e 89%. A consulta e o contexto longo dependem da capacidade do modelo, e o contexto longo ainda custa mais.</a:t>
            </a:r>
          </a:p>
          <a:p/>
          <a:p>
            <a:r>
              <a:t>E as limitações. É uma partida só, com uma repetição, então os intervalos são largos. Nos modelos maiores, tamanho e raciocínio vieram juntos. As ferramentas e as perguntas foram feitas por nós, então o resultado vale pro que as ferramentas cobrem.</a:t>
            </a:r>
          </a:p>
          <a:p/>
          <a:p>
            <a:r>
              <a:t>E a gente não separou o efeito do grafo do efeito de agentes com ferramentas. A nossa hipótese é que, num banco relacional com as mesmas ferramentas, as perguntas de contagem iriam bem, e a diferença ia aparecer nas perguntas de relação entre jogadores, que são mais complicadas de modelar num banco relacional. Seguir uma cadeia de passes ali exigiria um JOIN pra cada passe, então provavelmente não é a ferramenta ideal pra isso.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Como próximos passos, a gente quer ter mais evidência, com mais repetições e mais partidas. Quer separar os efeitos, testando modelos grandes sem raciocínio e as mesmas ferramentas num banco SQL, sem grafo. E quer levar isso pra outros domínios, como processos industriais. Numa linha de produção, por exemplo, cada parada de máquina, cada alerta e cada movimentação de peça é um evento, com quem fez, quando e onde, e muitas vezes um evento puxa o outro, do mesmo jeito que, sei lá, um passe puxa uma finalização. Dá pra testar as mesmas abordagens nesses dados, montando a tabela, o grafo e as ferramentas pras perguntas daquele contexto.</a:t>
            </a:r>
          </a:p>
          <a:p/>
          <a:p>
            <a:r>
              <a:t>[pausa] Então, resumindo, não existe uma abordagem que seja a melhor pra tudo. A escolha depende do orçamento, da latência e do acerto que se precisa. Com modelo pequeno, a abordagem com ferramentas segura o acerto. Com modelo grande, a consulta escrita pelo modelo chega no mesmo nível e é mais flexível. E o contexto longo funciona, é mais fácil de implementar e de manter, mas custa caro.</a:t>
            </a:r>
          </a:p>
          <a:p/>
          <a:p>
            <a:r>
              <a:t>[pausa] Era isso. O código está nesse repositório. Muito obrigado, e a gente fica aberto pras perguntas.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69080"/>
            <a:ext cx="4846320" cy="201168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Eventos transformados em tabela de ações, com contexto, e em grafo.</a:t>
            </a:r>
          </a:p>
          <a:p>
            <a:pPr algn="l">
              <a:spcAft>
                <a:spcPts val="500"/>
              </a:spcAft>
            </a:pPr>
            <a:r>
              <a:rPr sz="1500" b="0">
                <a:solidFill>
                  <a:srgbClr val="222222"/>
                </a:solidFill>
                <a:latin typeface="Arial"/>
              </a:rPr>
              <a:t>52 perguntas com gabarito.</a:t>
            </a:r>
          </a:p>
          <a:p>
            <a:pPr algn="l">
              <a:spcAft>
                <a:spcPts val="500"/>
              </a:spcAft>
            </a:pPr>
            <a:r>
              <a:rPr sz="15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Trabalhos relacionados: cada um avalia uma forma de recuperação por vez</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graphicFrame>
        <p:nvGraphicFramePr>
          <p:cNvPr id="5" name="Table 4"/>
          <p:cNvGraphicFramePr>
            <a:graphicFrameLocks noGrp="1"/>
          </p:cNvGraphicFramePr>
          <p:nvPr/>
        </p:nvGraphicFramePr>
        <p:xfrm>
          <a:off x="640080" y="1463040"/>
          <a:ext cx="10881360" cy="4754880"/>
        </p:xfrm>
        <a:graphic>
          <a:graphicData uri="http://schemas.openxmlformats.org/drawingml/2006/table">
            <a:tbl>
              <a:tblPr firstRow="0" bandRow="0">
                <a:tableStyleId>{5C22544A-7EE6-4342-B048-85BDC9FD1C3A}</a:tableStyleId>
              </a:tblPr>
              <a:tblGrid>
                <a:gridCol w="2103120"/>
                <a:gridCol w="3017520"/>
                <a:gridCol w="2926080"/>
                <a:gridCol w="2834640"/>
              </a:tblGrid>
              <a:tr h="528320">
                <a:tc>
                  <a:txBody>
                    <a:bodyPr wrap="square"/>
                    <a:lstStyle/>
                    <a:p>
                      <a:pPr algn="l"/>
                      <a:r>
                        <a:rPr sz="1400" b="1">
                          <a:solidFill>
                            <a:srgbClr val="FFFFFF"/>
                          </a:solidFill>
                          <a:latin typeface="Arial"/>
                        </a:rPr>
                        <a:t>Trabalho</a:t>
                      </a:r>
                    </a:p>
                  </a:txBody>
                  <a:tcPr anchor="ctr">
                    <a:solidFill>
                      <a:srgbClr val="222222"/>
                    </a:solidFill>
                  </a:tcPr>
                </a:tc>
                <a:tc>
                  <a:txBody>
                    <a:bodyPr wrap="square"/>
                    <a:lstStyle/>
                    <a:p>
                      <a:pPr algn="l"/>
                      <a:r>
                        <a:rPr sz="1400" b="1">
                          <a:solidFill>
                            <a:srgbClr val="FFFFFF"/>
                          </a:solidFill>
                          <a:latin typeface="Arial"/>
                        </a:rPr>
                        <a:t>Dados</a:t>
                      </a:r>
                    </a:p>
                  </a:txBody>
                  <a:tcPr anchor="ctr">
                    <a:solidFill>
                      <a:srgbClr val="222222"/>
                    </a:solidFill>
                  </a:tcPr>
                </a:tc>
                <a:tc>
                  <a:txBody>
                    <a:bodyPr wrap="square"/>
                    <a:lstStyle/>
                    <a:p>
                      <a:pPr algn="l"/>
                      <a:r>
                        <a:rPr sz="1400" b="1">
                          <a:solidFill>
                            <a:srgbClr val="FFFFFF"/>
                          </a:solidFill>
                          <a:latin typeface="Arial"/>
                        </a:rPr>
                        <a:t>Formas de recuperação</a:t>
                      </a:r>
                    </a:p>
                  </a:txBody>
                  <a:tcPr anchor="ctr">
                    <a:solidFill>
                      <a:srgbClr val="222222"/>
                    </a:solidFill>
                  </a:tcPr>
                </a:tc>
                <a:tc>
                  <a:txBody>
                    <a:bodyPr wrap="square"/>
                    <a:lstStyle/>
                    <a:p>
                      <a:pPr algn="l"/>
                      <a:r>
                        <a:rPr sz="1400" b="1">
                          <a:solidFill>
                            <a:srgbClr val="FFFFFF"/>
                          </a:solidFill>
                          <a:latin typeface="Arial"/>
                        </a:rPr>
                        <a:t>Conferência</a:t>
                      </a:r>
                    </a:p>
                  </a:txBody>
                  <a:tcPr anchor="ctr">
                    <a:solidFill>
                      <a:srgbClr val="222222"/>
                    </a:solidFill>
                  </a:tcPr>
                </a:tc>
              </a:tr>
              <a:tr h="528320">
                <a:tc>
                  <a:txBody>
                    <a:bodyPr wrap="square"/>
                    <a:lstStyle/>
                    <a:p>
                      <a:pPr algn="l"/>
                      <a:r>
                        <a:rPr sz="1400" b="1">
                          <a:solidFill>
                            <a:srgbClr val="222222"/>
                          </a:solidFill>
                          <a:latin typeface="Arial"/>
                        </a:rPr>
                        <a:t>SportQA</a:t>
                      </a:r>
                    </a:p>
                  </a:txBody>
                  <a:tcPr anchor="ctr">
                    <a:solidFill>
                      <a:srgbClr val="FFFFFF"/>
                    </a:solidFill>
                  </a:tcPr>
                </a:tc>
                <a:tc>
                  <a:txBody>
                    <a:bodyPr wrap="square"/>
                    <a:lstStyle/>
                    <a:p>
                      <a:pPr algn="l"/>
                      <a:r>
                        <a:rPr sz="1400" b="0">
                          <a:solidFill>
                            <a:srgbClr val="222222"/>
                          </a:solidFill>
                          <a:latin typeface="Arial"/>
                        </a:rPr>
                        <a:t>nenhum (memória do modelo)</a:t>
                      </a:r>
                    </a:p>
                  </a:txBody>
                  <a:tcPr anchor="ctr">
                    <a:solidFill>
                      <a:srgbClr val="FFFFFF"/>
                    </a:solidFill>
                  </a:tcPr>
                </a:tc>
                <a:tc>
                  <a:txBody>
                    <a:bodyPr wrap="square"/>
                    <a:lstStyle/>
                    <a:p>
                      <a:pPr algn="l"/>
                      <a:r>
                        <a:rPr sz="1400" b="0">
                          <a:solidFill>
                            <a:srgbClr val="222222"/>
                          </a:solidFill>
                          <a:latin typeface="Arial"/>
                        </a:rPr>
                        <a:t>nenhuma</a:t>
                      </a:r>
                    </a:p>
                  </a:txBody>
                  <a:tcPr anchor="ctr">
                    <a:solidFill>
                      <a:srgbClr val="FFFFFF"/>
                    </a:solidFill>
                  </a:tcPr>
                </a:tc>
                <a:tc>
                  <a:txBody>
                    <a:bodyPr wrap="square"/>
                    <a:lstStyle/>
                    <a:p>
                      <a:pPr algn="l"/>
                      <a:r>
                        <a:rPr sz="1400" b="0">
                          <a:solidFill>
                            <a:srgbClr val="222222"/>
                          </a:solidFill>
                          <a:latin typeface="Arial"/>
                        </a:rPr>
                        <a:t>múltipla escolha</a:t>
                      </a:r>
                    </a:p>
                  </a:txBody>
                  <a:tcPr anchor="ctr">
                    <a:solidFill>
                      <a:srgbClr val="FFFFFF"/>
                    </a:solidFill>
                  </a:tcPr>
                </a:tc>
              </a:tr>
              <a:tr h="528320">
                <a:tc>
                  <a:txBody>
                    <a:bodyPr wrap="square"/>
                    <a:lstStyle/>
                    <a:p>
                      <a:pPr algn="l"/>
                      <a:r>
                        <a:rPr sz="1400" b="1">
                          <a:solidFill>
                            <a:srgbClr val="222222"/>
                          </a:solidFill>
                          <a:latin typeface="Arial"/>
                        </a:rPr>
                        <a:t>SoccerAgent</a:t>
                      </a:r>
                    </a:p>
                  </a:txBody>
                  <a:tcPr anchor="ctr">
                    <a:solidFill>
                      <a:srgbClr val="F2F2F2"/>
                    </a:solidFill>
                  </a:tcPr>
                </a:tc>
                <a:tc>
                  <a:txBody>
                    <a:bodyPr wrap="square"/>
                    <a:lstStyle/>
                    <a:p>
                      <a:pPr algn="l"/>
                      <a:r>
                        <a:rPr sz="1400" b="0">
                          <a:solidFill>
                            <a:srgbClr val="222222"/>
                          </a:solidFill>
                          <a:latin typeface="Arial"/>
                        </a:rPr>
                        <a:t>base de conhecimento, imagens e vídeos</a:t>
                      </a:r>
                    </a:p>
                  </a:txBody>
                  <a:tcPr anchor="ctr">
                    <a:solidFill>
                      <a:srgbClr val="F2F2F2"/>
                    </a:solidFill>
                  </a:tcPr>
                </a:tc>
                <a:tc>
                  <a:txBody>
                    <a:bodyPr wrap="square"/>
                    <a:lstStyle/>
                    <a:p>
                      <a:pPr algn="l"/>
                      <a:r>
                        <a:rPr sz="1400" b="0">
                          <a:solidFill>
                            <a:srgbClr val="222222"/>
                          </a:solidFill>
                          <a:latin typeface="Arial"/>
                        </a:rPr>
                        <a:t>uma (agente com ferramentas)</a:t>
                      </a:r>
                    </a:p>
                  </a:txBody>
                  <a:tcPr anchor="ctr">
                    <a:solidFill>
                      <a:srgbClr val="F2F2F2"/>
                    </a:solidFill>
                  </a:tcPr>
                </a:tc>
                <a:tc>
                  <a:txBody>
                    <a:bodyPr wrap="square"/>
                    <a:lstStyle/>
                    <a:p>
                      <a:pPr algn="l"/>
                      <a:r>
                        <a:rPr sz="1400" b="0">
                          <a:solidFill>
                            <a:srgbClr val="222222"/>
                          </a:solidFill>
                          <a:latin typeface="Arial"/>
                        </a:rPr>
                        <a:t>múltipla escolha</a:t>
                      </a:r>
                    </a:p>
                  </a:txBody>
                  <a:tcPr anchor="ctr">
                    <a:solidFill>
                      <a:srgbClr val="F2F2F2"/>
                    </a:solidFill>
                  </a:tcPr>
                </a:tc>
              </a:tr>
              <a:tr h="528320">
                <a:tc>
                  <a:txBody>
                    <a:bodyPr wrap="square"/>
                    <a:lstStyle/>
                    <a:p>
                      <a:pPr algn="l"/>
                      <a:r>
                        <a:rPr sz="1400" b="1">
                          <a:solidFill>
                            <a:srgbClr val="222222"/>
                          </a:solidFill>
                          <a:latin typeface="Arial"/>
                        </a:rPr>
                        <a:t>SoccerRAG</a:t>
                      </a:r>
                    </a:p>
                  </a:txBody>
                  <a:tcPr anchor="ctr">
                    <a:solidFill>
                      <a:srgbClr val="FFFFFF"/>
                    </a:solidFill>
                  </a:tcPr>
                </a:tc>
                <a:tc>
                  <a:txBody>
                    <a:bodyPr wrap="square"/>
                    <a:lstStyle/>
                    <a:p>
                      <a:pPr algn="l"/>
                      <a:r>
                        <a:rPr sz="1400" b="0">
                          <a:solidFill>
                            <a:srgbClr val="222222"/>
                          </a:solidFill>
                          <a:latin typeface="Arial"/>
                        </a:rPr>
                        <a:t>anotações e comentários de partidas</a:t>
                      </a:r>
                    </a:p>
                  </a:txBody>
                  <a:tcPr anchor="ctr">
                    <a:solidFill>
                      <a:srgbClr val="FFFFFF"/>
                    </a:solidFill>
                  </a:tcPr>
                </a:tc>
                <a:tc>
                  <a:txBody>
                    <a:bodyPr wrap="square"/>
                    <a:lstStyle/>
                    <a:p>
                      <a:pPr algn="l"/>
                      <a:r>
                        <a:rPr sz="1400" b="0">
                          <a:solidFill>
                            <a:srgbClr val="222222"/>
                          </a:solidFill>
                          <a:latin typeface="Arial"/>
                        </a:rPr>
                        <a:t>uma (SQL), em seis configurações</a:t>
                      </a:r>
                    </a:p>
                  </a:txBody>
                  <a:tcPr anchor="ctr">
                    <a:solidFill>
                      <a:srgbClr val="FFFFFF"/>
                    </a:solidFill>
                  </a:tcPr>
                </a:tc>
                <a:tc>
                  <a:txBody>
                    <a:bodyPr wrap="square"/>
                    <a:lstStyle/>
                    <a:p>
                      <a:pPr algn="l"/>
                      <a:r>
                        <a:rPr sz="1400" b="0">
                          <a:solidFill>
                            <a:srgbClr val="222222"/>
                          </a:solidFill>
                          <a:latin typeface="Arial"/>
                        </a:rPr>
                        <a:t>manual, contra SQL escrito à mão</a:t>
                      </a:r>
                    </a:p>
                  </a:txBody>
                  <a:tcPr anchor="ctr">
                    <a:solidFill>
                      <a:srgbClr val="FFFFFF"/>
                    </a:solidFill>
                  </a:tcPr>
                </a:tc>
              </a:tr>
              <a:tr h="528320">
                <a:tc>
                  <a:txBody>
                    <a:bodyPr wrap="square"/>
                    <a:lstStyle/>
                    <a:p>
                      <a:pPr algn="l"/>
                      <a:r>
                        <a:rPr sz="1400" b="1">
                          <a:solidFill>
                            <a:srgbClr val="222222"/>
                          </a:solidFill>
                          <a:latin typeface="Arial"/>
                        </a:rPr>
                        <a:t>SPORTSQL</a:t>
                      </a:r>
                    </a:p>
                  </a:txBody>
                  <a:tcPr anchor="ctr">
                    <a:solidFill>
                      <a:srgbClr val="F2F2F2"/>
                    </a:solidFill>
                  </a:tcPr>
                </a:tc>
                <a:tc>
                  <a:txBody>
                    <a:bodyPr wrap="square"/>
                    <a:lstStyle/>
                    <a:p>
                      <a:pPr algn="l"/>
                      <a:r>
                        <a:rPr sz="1400" b="0">
                          <a:solidFill>
                            <a:srgbClr val="222222"/>
                          </a:solidFill>
                          <a:latin typeface="Arial"/>
                        </a:rPr>
                        <a:t>estatísticas de jogadores e times</a:t>
                      </a:r>
                    </a:p>
                  </a:txBody>
                  <a:tcPr anchor="ctr">
                    <a:solidFill>
                      <a:srgbClr val="F2F2F2"/>
                    </a:solidFill>
                  </a:tcPr>
                </a:tc>
                <a:tc>
                  <a:txBody>
                    <a:bodyPr wrap="square"/>
                    <a:lstStyle/>
                    <a:p>
                      <a:pPr algn="l"/>
                      <a:r>
                        <a:rPr sz="1400" b="0">
                          <a:solidFill>
                            <a:srgbClr val="222222"/>
                          </a:solidFill>
                          <a:latin typeface="Arial"/>
                        </a:rPr>
                        <a:t>uma (SQL)</a:t>
                      </a:r>
                    </a:p>
                  </a:txBody>
                  <a:tcPr anchor="ctr">
                    <a:solidFill>
                      <a:srgbClr val="F2F2F2"/>
                    </a:solidFill>
                  </a:tcPr>
                </a:tc>
                <a:tc>
                  <a:txBody>
                    <a:bodyPr wrap="square"/>
                    <a:lstStyle/>
                    <a:p>
                      <a:pPr algn="l"/>
                      <a:r>
                        <a:rPr sz="1400" b="0">
                          <a:solidFill>
                            <a:srgbClr val="222222"/>
                          </a:solidFill>
                          <a:latin typeface="Arial"/>
                        </a:rPr>
                        <a:t>resposta de referência e LLM como juiz</a:t>
                      </a:r>
                    </a:p>
                  </a:txBody>
                  <a:tcPr anchor="ctr">
                    <a:solidFill>
                      <a:srgbClr val="F2F2F2"/>
                    </a:solidFill>
                  </a:tcPr>
                </a:tc>
              </a:tr>
              <a:tr h="528320">
                <a:tc>
                  <a:txBody>
                    <a:bodyPr wrap="square"/>
                    <a:lstStyle/>
                    <a:p>
                      <a:pPr algn="l"/>
                      <a:r>
                        <a:rPr sz="1400" b="1">
                          <a:solidFill>
                            <a:srgbClr val="222222"/>
                          </a:solidFill>
                          <a:latin typeface="Arial"/>
                        </a:rPr>
                        <a:t>Tzikas et al.</a:t>
                      </a:r>
                    </a:p>
                  </a:txBody>
                  <a:tcPr anchor="ctr">
                    <a:solidFill>
                      <a:srgbClr val="FFFFFF"/>
                    </a:solidFill>
                  </a:tcPr>
                </a:tc>
                <a:tc>
                  <a:txBody>
                    <a:bodyPr wrap="square"/>
                    <a:lstStyle/>
                    <a:p>
                      <a:pPr algn="l"/>
                      <a:r>
                        <a:rPr sz="1400" b="0">
                          <a:solidFill>
                            <a:srgbClr val="222222"/>
                          </a:solidFill>
                          <a:latin typeface="Arial"/>
                        </a:rPr>
                        <a:t>eventos de partidas</a:t>
                      </a:r>
                    </a:p>
                  </a:txBody>
                  <a:tcPr anchor="ctr">
                    <a:solidFill>
                      <a:srgbClr val="FFFFFF"/>
                    </a:solidFill>
                  </a:tcPr>
                </a:tc>
                <a:tc>
                  <a:txBody>
                    <a:bodyPr wrap="square"/>
                    <a:lstStyle/>
                    <a:p>
                      <a:pPr algn="l"/>
                      <a:r>
                        <a:rPr sz="1400" b="0">
                          <a:solidFill>
                            <a:srgbClr val="222222"/>
                          </a:solidFill>
                          <a:latin typeface="Arial"/>
                        </a:rPr>
                        <a:t>uma (recuperação vetorial)</a:t>
                      </a:r>
                    </a:p>
                  </a:txBody>
                  <a:tcPr anchor="ctr">
                    <a:solidFill>
                      <a:srgbClr val="FFFFFF"/>
                    </a:solidFill>
                  </a:tcPr>
                </a:tc>
                <a:tc>
                  <a:txBody>
                    <a:bodyPr wrap="square"/>
                    <a:lstStyle/>
                    <a:p>
                      <a:pPr algn="l"/>
                      <a:r>
                        <a:rPr sz="1400" b="0">
                          <a:solidFill>
                            <a:srgbClr val="222222"/>
                          </a:solidFill>
                          <a:latin typeface="Arial"/>
                        </a:rPr>
                        <a:t>LLM como juiz</a:t>
                      </a:r>
                    </a:p>
                  </a:txBody>
                  <a:tcPr anchor="ctr">
                    <a:solidFill>
                      <a:srgbClr val="FFFFFF"/>
                    </a:solidFill>
                  </a:tcPr>
                </a:tc>
              </a:tr>
              <a:tr h="528320">
                <a:tc>
                  <a:txBody>
                    <a:bodyPr wrap="square"/>
                    <a:lstStyle/>
                    <a:p>
                      <a:pPr algn="l"/>
                      <a:r>
                        <a:rPr sz="1400" b="1">
                          <a:solidFill>
                            <a:srgbClr val="222222"/>
                          </a:solidFill>
                          <a:latin typeface="Arial"/>
                        </a:rPr>
                        <a:t>Li et al.</a:t>
                      </a:r>
                    </a:p>
                  </a:txBody>
                  <a:tcPr anchor="ctr">
                    <a:solidFill>
                      <a:srgbClr val="F2F2F2"/>
                    </a:solidFill>
                  </a:tcPr>
                </a:tc>
                <a:tc>
                  <a:txBody>
                    <a:bodyPr wrap="square"/>
                    <a:lstStyle/>
                    <a:p>
                      <a:pPr algn="l"/>
                      <a:r>
                        <a:rPr sz="1400" b="0">
                          <a:solidFill>
                            <a:srgbClr val="222222"/>
                          </a:solidFill>
                          <a:latin typeface="Arial"/>
                        </a:rPr>
                        <a:t>textos gerais</a:t>
                      </a:r>
                    </a:p>
                  </a:txBody>
                  <a:tcPr anchor="ctr">
                    <a:solidFill>
                      <a:srgbClr val="F2F2F2"/>
                    </a:solidFill>
                  </a:tcPr>
                </a:tc>
                <a:tc>
                  <a:txBody>
                    <a:bodyPr wrap="square"/>
                    <a:lstStyle/>
                    <a:p>
                      <a:pPr algn="l"/>
                      <a:r>
                        <a:rPr sz="1400" b="0">
                          <a:solidFill>
                            <a:srgbClr val="222222"/>
                          </a:solidFill>
                          <a:latin typeface="Arial"/>
                        </a:rPr>
                        <a:t>duas (recuperação e contexto longo)</a:t>
                      </a:r>
                    </a:p>
                  </a:txBody>
                  <a:tcPr anchor="ctr">
                    <a:solidFill>
                      <a:srgbClr val="F2F2F2"/>
                    </a:solidFill>
                  </a:tcPr>
                </a:tc>
                <a:tc>
                  <a:txBody>
                    <a:bodyPr wrap="square"/>
                    <a:lstStyle/>
                    <a:p>
                      <a:pPr algn="l"/>
                      <a:r>
                        <a:rPr sz="1400" b="0">
                          <a:solidFill>
                            <a:srgbClr val="222222"/>
                          </a:solidFill>
                          <a:latin typeface="Arial"/>
                        </a:rPr>
                        <a:t>métricas dos conjuntos</a:t>
                      </a:r>
                    </a:p>
                  </a:txBody>
                  <a:tcPr anchor="ctr">
                    <a:solidFill>
                      <a:srgbClr val="F2F2F2"/>
                    </a:solidFill>
                  </a:tcPr>
                </a:tc>
              </a:tr>
              <a:tr h="528320">
                <a:tc>
                  <a:txBody>
                    <a:bodyPr wrap="square"/>
                    <a:lstStyle/>
                    <a:p>
                      <a:pPr algn="l"/>
                      <a:r>
                        <a:rPr sz="1400" b="1">
                          <a:solidFill>
                            <a:srgbClr val="222222"/>
                          </a:solidFill>
                          <a:latin typeface="Arial"/>
                        </a:rPr>
                        <a:t>LOFT</a:t>
                      </a:r>
                    </a:p>
                  </a:txBody>
                  <a:tcPr anchor="ctr">
                    <a:solidFill>
                      <a:srgbClr val="FFFFFF"/>
                    </a:solidFill>
                  </a:tcPr>
                </a:tc>
                <a:tc>
                  <a:txBody>
                    <a:bodyPr wrap="square"/>
                    <a:lstStyle/>
                    <a:p>
                      <a:pPr algn="l"/>
                      <a:r>
                        <a:rPr sz="1400" b="0">
                          <a:solidFill>
                            <a:srgbClr val="222222"/>
                          </a:solidFill>
                          <a:latin typeface="Arial"/>
                        </a:rPr>
                        <a:t>textos, tabelas, imagens e áudio</a:t>
                      </a:r>
                    </a:p>
                  </a:txBody>
                  <a:tcPr anchor="ctr">
                    <a:solidFill>
                      <a:srgbClr val="FFFFFF"/>
                    </a:solidFill>
                  </a:tcPr>
                </a:tc>
                <a:tc>
                  <a:txBody>
                    <a:bodyPr wrap="square"/>
                    <a:lstStyle/>
                    <a:p>
                      <a:pPr algn="l"/>
                      <a:r>
                        <a:rPr sz="1400" b="0">
                          <a:solidFill>
                            <a:srgbClr val="222222"/>
                          </a:solidFill>
                          <a:latin typeface="Arial"/>
                        </a:rPr>
                        <a:t>contexto longo contra sistemas especializados</a:t>
                      </a:r>
                    </a:p>
                  </a:txBody>
                  <a:tcPr anchor="ctr">
                    <a:solidFill>
                      <a:srgbClr val="FFFFFF"/>
                    </a:solidFill>
                  </a:tcPr>
                </a:tc>
                <a:tc>
                  <a:txBody>
                    <a:bodyPr wrap="square"/>
                    <a:lstStyle/>
                    <a:p>
                      <a:pPr algn="l"/>
                      <a:r>
                        <a:rPr sz="1400" b="0">
                          <a:solidFill>
                            <a:srgbClr val="222222"/>
                          </a:solidFill>
                          <a:latin typeface="Arial"/>
                        </a:rPr>
                        <a:t>métricas dos conjuntos</a:t>
                      </a:r>
                    </a:p>
                  </a:txBody>
                  <a:tcPr anchor="ctr">
                    <a:solidFill>
                      <a:srgbClr val="FFFFFF"/>
                    </a:solidFill>
                  </a:tcPr>
                </a:tc>
              </a:tr>
              <a:tr h="528320">
                <a:tc>
                  <a:txBody>
                    <a:bodyPr wrap="square"/>
                    <a:lstStyle/>
                    <a:p>
                      <a:pPr algn="l"/>
                      <a:r>
                        <a:rPr sz="1400" b="1">
                          <a:solidFill>
                            <a:srgbClr val="222222"/>
                          </a:solidFill>
                          <a:latin typeface="Arial"/>
                        </a:rPr>
                        <a:t>Este trabalho</a:t>
                      </a:r>
                    </a:p>
                  </a:txBody>
                  <a:tcPr anchor="ctr">
                    <a:solidFill>
                      <a:srgbClr val="E6EEF6"/>
                    </a:solidFill>
                  </a:tcPr>
                </a:tc>
                <a:tc>
                  <a:txBody>
                    <a:bodyPr wrap="square"/>
                    <a:lstStyle/>
                    <a:p>
                      <a:pPr algn="l"/>
                      <a:r>
                        <a:rPr sz="1400" b="0">
                          <a:solidFill>
                            <a:srgbClr val="222222"/>
                          </a:solidFill>
                          <a:latin typeface="Arial"/>
                        </a:rPr>
                        <a:t>eventos de uma partida</a:t>
                      </a:r>
                    </a:p>
                  </a:txBody>
                  <a:tcPr anchor="ctr">
                    <a:solidFill>
                      <a:srgbClr val="E6EEF6"/>
                    </a:solidFill>
                  </a:tcPr>
                </a:tc>
                <a:tc>
                  <a:txBody>
                    <a:bodyPr wrap="square"/>
                    <a:lstStyle/>
                    <a:p>
                      <a:pPr algn="l"/>
                      <a:r>
                        <a:rPr sz="1400" b="0">
                          <a:solidFill>
                            <a:srgbClr val="222222"/>
                          </a:solidFill>
                          <a:latin typeface="Arial"/>
                        </a:rPr>
                        <a:t>6 abordagens, com as mesmas perguntas</a:t>
                      </a:r>
                    </a:p>
                  </a:txBody>
                  <a:tcPr anchor="ctr">
                    <a:solidFill>
                      <a:srgbClr val="E6EEF6"/>
                    </a:solidFill>
                  </a:tcPr>
                </a:tc>
                <a:tc>
                  <a:txBody>
                    <a:bodyPr wrap="square"/>
                    <a:lstStyle/>
                    <a:p>
                      <a:pPr algn="l"/>
                      <a:r>
                        <a:rPr sz="1400" b="0">
                          <a:solidFill>
                            <a:srgbClr val="222222"/>
                          </a:solidFill>
                          <a:latin typeface="Arial"/>
                        </a:rPr>
                        <a:t>por código, contra gabarito calculado por código</a:t>
                      </a:r>
                    </a:p>
                  </a:txBody>
                  <a:tcPr anchor="ctr">
                    <a:solidFill>
                      <a:srgbClr val="E6EEF6"/>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23160"/>
          <a:ext cx="6766560" cy="3749039"/>
        </p:xfrm>
        <a:graphic>
          <a:graphicData uri="http://schemas.openxmlformats.org/drawingml/2006/table">
            <a:tbl>
              <a:tblPr firstRow="0" bandRow="0">
                <a:tableStyleId>{5C22544A-7EE6-4342-B048-85BDC9FD1C3A}</a:tableStyleId>
              </a:tblPr>
              <a:tblGrid>
                <a:gridCol w="2514600"/>
                <a:gridCol w="4251960"/>
              </a:tblGrid>
              <a:tr h="535577">
                <a:tc>
                  <a:txBody>
                    <a:bodyPr wrap="square"/>
                    <a:lstStyle/>
                    <a:p>
                      <a:pPr algn="l"/>
                      <a:r>
                        <a:rPr sz="1500" b="1">
                          <a:solidFill>
                            <a:srgbClr val="FFFFFF"/>
                          </a:solidFill>
                          <a:latin typeface="Arial"/>
                        </a:rPr>
                        <a:t>Transformação</a:t>
                      </a:r>
                    </a:p>
                  </a:txBody>
                  <a:tcPr anchor="ctr">
                    <a:solidFill>
                      <a:srgbClr val="222222"/>
                    </a:solidFill>
                  </a:tcPr>
                </a:tc>
                <a:tc>
                  <a:txBody>
                    <a:bodyPr wrap="square"/>
                    <a:lstStyle/>
                    <a:p>
                      <a:pPr algn="l"/>
                      <a:r>
                        <a:rPr sz="1500" b="1">
                          <a:solidFill>
                            <a:srgbClr val="FFFFFF"/>
                          </a:solidFill>
                          <a:latin typeface="Arial"/>
                        </a:rPr>
                        <a:t>O que faz</a:t>
                      </a:r>
                    </a:p>
                  </a:txBody>
                  <a:tcPr anchor="ctr">
                    <a:solidFill>
                      <a:srgbClr val="222222"/>
                    </a:solidFill>
                  </a:tcPr>
                </a:tc>
              </a:tr>
              <a:tr h="535577">
                <a:tc>
                  <a:txBody>
                    <a:bodyPr wrap="square"/>
                    <a:lstStyle/>
                    <a:p>
                      <a:pPr algn="l"/>
                      <a:r>
                        <a:rPr sz="1500" b="1">
                          <a:solidFill>
                            <a:srgbClr val="222222"/>
                          </a:solidFill>
                          <a:latin typeface="Arial"/>
                        </a:rPr>
                        <a:t>Direção de ataque</a:t>
                      </a:r>
                    </a:p>
                  </a:txBody>
                  <a:tcPr anchor="ctr">
                    <a:solidFill>
                      <a:srgbClr val="FFFFFF"/>
                    </a:solidFill>
                  </a:tcPr>
                </a:tc>
                <a:tc>
                  <a:txBody>
                    <a:bodyPr wrap="square"/>
                    <a:lstStyle/>
                    <a:p>
                      <a:pPr algn="l"/>
                      <a:r>
                        <a:rPr sz="1500" b="0">
                          <a:solidFill>
                            <a:srgbClr val="222222"/>
                          </a:solidFill>
                          <a:latin typeface="Arial"/>
                        </a:rPr>
                        <a:t>toda ação ataca da esquerda para a direita, nos dois times</a:t>
                      </a:r>
                    </a:p>
                  </a:txBody>
                  <a:tcPr anchor="ctr">
                    <a:solidFill>
                      <a:srgbClr val="FFFFFF"/>
                    </a:solidFill>
                  </a:tcPr>
                </a:tc>
              </a:tr>
              <a:tr h="535577">
                <a:tc>
                  <a:txBody>
                    <a:bodyPr wrap="square"/>
                    <a:lstStyle/>
                    <a:p>
                      <a:pPr algn="l"/>
                      <a:r>
                        <a:rPr sz="1500" b="1">
                          <a:solidFill>
                            <a:srgbClr val="222222"/>
                          </a:solidFill>
                          <a:latin typeface="Arial"/>
                        </a:rPr>
                        <a:t>Zona, terço e corredor</a:t>
                      </a:r>
                    </a:p>
                  </a:txBody>
                  <a:tcPr anchor="ctr">
                    <a:solidFill>
                      <a:srgbClr val="F2F2F2"/>
                    </a:solidFill>
                  </a:tcPr>
                </a:tc>
                <a:tc>
                  <a:txBody>
                    <a:bodyPr wrap="square"/>
                    <a:lstStyle/>
                    <a:p>
                      <a:pPr algn="l"/>
                      <a:r>
                        <a:rPr sz="1500" b="0">
                          <a:solidFill>
                            <a:srgbClr val="222222"/>
                          </a:solidFill>
                          <a:latin typeface="Arial"/>
                        </a:rPr>
                        <a:t>situa o início e o fim de cada ação no campo</a:t>
                      </a:r>
                    </a:p>
                  </a:txBody>
                  <a:tcPr anchor="ctr">
                    <a:solidFill>
                      <a:srgbClr val="F2F2F2"/>
                    </a:solidFill>
                  </a:tcPr>
                </a:tc>
              </a:tr>
              <a:tr h="535577">
                <a:tc>
                  <a:txBody>
                    <a:bodyPr wrap="square"/>
                    <a:lstStyle/>
                    <a:p>
                      <a:pPr algn="l"/>
                      <a:r>
                        <a:rPr sz="1500" b="1">
                          <a:solidFill>
                            <a:srgbClr val="222222"/>
                          </a:solidFill>
                          <a:latin typeface="Arial"/>
                        </a:rPr>
                        <a:t>Recebedor do passe</a:t>
                      </a:r>
                    </a:p>
                  </a:txBody>
                  <a:tcPr anchor="ctr">
                    <a:solidFill>
                      <a:srgbClr val="FFFFFF"/>
                    </a:solidFill>
                  </a:tcPr>
                </a:tc>
                <a:tc>
                  <a:txBody>
                    <a:bodyPr wrap="square"/>
                    <a:lstStyle/>
                    <a:p>
                      <a:pPr algn="l"/>
                      <a:r>
                        <a:rPr sz="1500" b="0">
                          <a:solidFill>
                            <a:srgbClr val="222222"/>
                          </a:solidFill>
                          <a:latin typeface="Arial"/>
                        </a:rPr>
                        <a:t>jogador do mesmo time que age em seguida</a:t>
                      </a:r>
                    </a:p>
                  </a:txBody>
                  <a:tcPr anchor="ctr">
                    <a:solidFill>
                      <a:srgbClr val="FFFFFF"/>
                    </a:solidFill>
                  </a:tcPr>
                </a:tc>
              </a:tr>
              <a:tr h="535577">
                <a:tc>
                  <a:txBody>
                    <a:bodyPr wrap="square"/>
                    <a:lstStyle/>
                    <a:p>
                      <a:pPr algn="l"/>
                      <a:r>
                        <a:rPr sz="1500" b="1">
                          <a:solidFill>
                            <a:srgbClr val="222222"/>
                          </a:solidFill>
                          <a:latin typeface="Arial"/>
                        </a:rPr>
                        <a:t>Fase de posse</a:t>
                      </a:r>
                    </a:p>
                  </a:txBody>
                  <a:tcPr anchor="ctr">
                    <a:solidFill>
                      <a:srgbClr val="F2F2F2"/>
                    </a:solidFill>
                  </a:tcPr>
                </a:tc>
                <a:tc>
                  <a:txBody>
                    <a:bodyPr wrap="square"/>
                    <a:lstStyle/>
                    <a:p>
                      <a:pPr algn="l"/>
                      <a:r>
                        <a:rPr sz="1500" b="0">
                          <a:solidFill>
                            <a:srgbClr val="222222"/>
                          </a:solidFill>
                          <a:latin typeface="Arial"/>
                        </a:rPr>
                        <a:t>agrupa em jogadas as ações seguidas do mesmo time</a:t>
                      </a:r>
                    </a:p>
                  </a:txBody>
                  <a:tcPr anchor="ctr">
                    <a:solidFill>
                      <a:srgbClr val="F2F2F2"/>
                    </a:solidFill>
                  </a:tcPr>
                </a:tc>
              </a:tr>
              <a:tr h="535577">
                <a:tc>
                  <a:txBody>
                    <a:bodyPr wrap="square"/>
                    <a:lstStyle/>
                    <a:p>
                      <a:pPr algn="l"/>
                      <a:r>
                        <a:rPr sz="1500" b="1">
                          <a:solidFill>
                            <a:srgbClr val="222222"/>
                          </a:solidFill>
                          <a:latin typeface="Arial"/>
                        </a:rPr>
                        <a:t>Placar, minuto e período</a:t>
                      </a:r>
                    </a:p>
                  </a:txBody>
                  <a:tcPr anchor="ctr">
                    <a:solidFill>
                      <a:srgbClr val="FFFFFF"/>
                    </a:solidFill>
                  </a:tcPr>
                </a:tc>
                <a:tc>
                  <a:txBody>
                    <a:bodyPr wrap="square"/>
                    <a:lstStyle/>
                    <a:p>
                      <a:pPr algn="l"/>
                      <a:r>
                        <a:rPr sz="1500" b="0">
                          <a:solidFill>
                            <a:srgbClr val="222222"/>
                          </a:solidFill>
                          <a:latin typeface="Arial"/>
                        </a:rPr>
                        <a:t>placar antes de cada ação e minuto da transmissão</a:t>
                      </a:r>
                    </a:p>
                  </a:txBody>
                  <a:tcPr anchor="ctr">
                    <a:solidFill>
                      <a:srgbClr val="FFFFFF"/>
                    </a:solidFill>
                  </a:tcPr>
                </a:tc>
              </a:tr>
              <a:tr h="535577">
                <a:tc>
                  <a:txBody>
                    <a:bodyPr wrap="square"/>
                    <a:lstStyle/>
                    <a:p>
                      <a:pPr algn="l"/>
                      <a:r>
                        <a:rPr sz="1500" b="1">
                          <a:solidFill>
                            <a:srgbClr val="222222"/>
                          </a:solidFill>
                          <a:latin typeface="Arial"/>
                        </a:rPr>
                        <a:t>Dados recuperados do JSON</a:t>
                      </a:r>
                    </a:p>
                  </a:txBody>
                  <a:tcPr anchor="ctr">
                    <a:solidFill>
                      <a:srgbClr val="F2F2F2"/>
                    </a:solidFill>
                  </a:tcPr>
                </a:tc>
                <a:tc>
                  <a:txBody>
                    <a:bodyPr wrap="square"/>
                    <a:lstStyle/>
                    <a:p>
                      <a:pPr algn="l"/>
                      <a:r>
                        <a:rPr sz="1500" b="0">
                          <a:solidFill>
                            <a:srgbClr val="222222"/>
                          </a:solidFill>
                          <a:latin typeface="Arial"/>
                        </a:rPr>
                        <a:t>desfecho da finalização e cartão sem falta</a:t>
                      </a:r>
                    </a:p>
                  </a:txBody>
                  <a:tcPr anchor="ctr">
                    <a:solidFill>
                      <a:srgbClr val="F2F2F2"/>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Súmula: </a:t>
            </a:r>
            <a:r>
              <a:rPr sz="1600" b="0">
                <a:solidFill>
                  <a:srgbClr val="222222"/>
                </a:solidFill>
                <a:latin typeface="Arial"/>
              </a:rPr>
              <a:t>uma consulta no banco conta, por jogador e por time, tentativas e acertos de cada tipo de ação.</a:t>
            </a:r>
          </a:p>
          <a:p>
            <a:pPr>
              <a:spcAft>
                <a:spcPts val="900"/>
              </a:spcAft>
            </a:pPr>
            <a:r>
              <a:rPr sz="1600" b="1">
                <a:solidFill>
                  <a:srgbClr val="1F5C99"/>
                </a:solidFill>
                <a:latin typeface="Arial"/>
              </a:rPr>
              <a:t>• </a:t>
            </a:r>
            <a:r>
              <a:rPr sz="1600" b="1">
                <a:solidFill>
                  <a:srgbClr val="222222"/>
                </a:solidFill>
                <a:latin typeface="Arial"/>
              </a:rPr>
              <a:t>Por que grafo: </a:t>
            </a:r>
            <a:r>
              <a:rPr sz="1600" b="0">
                <a:solidFill>
                  <a:srgbClr val="222222"/>
                </a:solidFill>
                <a:latin typeface="Arial"/>
              </a:rPr>
              <a:t>a análise de futebol trata os passes como rede; caminhos e métricas de rede viram consultas no grafo.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a partir do JSON bruto e da tabela de ações.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para dar os dados ao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parametrizada, que o modelo chama</a:t>
                      </a:r>
                    </a:p>
                  </a:txBody>
                  <a:tcPr anchor="ctr">
                    <a:solidFill>
                      <a:srgbClr val="E6EEF6"/>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parametrizada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acertaram pouco: Busca vetorial 9% a 17%, Estatísticas resumidas 0% a 9%, Sem dados 0% (slide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800"/>
              </a:spcAft>
            </a:pPr>
            <a:r>
              <a:rPr sz="1800" b="1">
                <a:solidFill>
                  <a:srgbClr val="1F5C99"/>
                </a:solidFill>
                <a:latin typeface="Arial"/>
              </a:rPr>
              <a:t>Leitura</a:t>
            </a:r>
          </a:p>
          <a:p>
            <a:pPr algn="l">
              <a:spcAft>
                <a:spcPts val="800"/>
              </a:spcAft>
            </a:pPr>
            <a:r>
              <a:rPr sz="1500" b="0">
                <a:solidFill>
                  <a:srgbClr val="222222"/>
                </a:solidFill>
                <a:latin typeface="Arial"/>
              </a:rPr>
              <a:t>Ferramentas: o modelo escolhe ferramenta e argumentos; o código monta e executa a consulta.</a:t>
            </a:r>
          </a:p>
          <a:p>
            <a:pPr algn="l">
              <a:spcAft>
                <a:spcPts val="800"/>
              </a:spcAft>
            </a:pPr>
            <a:r>
              <a:rPr sz="1500" b="0">
                <a:solidFill>
                  <a:srgbClr val="222222"/>
                </a:solidFill>
                <a:latin typeface="Arial"/>
              </a:rPr>
              <a:t>Consulta: a liberdade de escrever o Cypher só virou acerto nos modelos maiores.</a:t>
            </a:r>
          </a:p>
          <a:p>
            <a:pPr algn="l">
              <a:spcAft>
                <a:spcPts val="800"/>
              </a:spcAft>
            </a:pPr>
            <a:r>
              <a:rPr sz="1500" b="0">
                <a:solidFill>
                  <a:srgbClr val="222222"/>
                </a:solidFill>
                <a:latin typeface="Arial"/>
              </a:rPr>
              <a:t>Contexto longo: o modelo acha e combina as linhas certas na tabela inteira.</a:t>
            </a:r>
          </a:p>
          <a:p>
            <a:pPr algn="l">
              <a:spcAft>
                <a:spcPts val="800"/>
              </a:spcAft>
            </a:pPr>
            <a:r>
              <a:rPr sz="1500" b="1">
                <a:solidFill>
                  <a:srgbClr val="222222"/>
                </a:solidFill>
                <a:latin typeface="Arial"/>
              </a:rPr>
              <a:t>Contrapartida: Ferramentas só respondem ao que as ferramentas cobrem.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640080" y="5989320"/>
            <a:ext cx="3840480" cy="365760"/>
          </a:xfrm>
          <a:prstGeom prst="rect">
            <a:avLst/>
          </a:prstGeom>
          <a:noFill/>
        </p:spPr>
        <p:txBody>
          <a:bodyPr wrap="square" anchor="t" lIns="45720" rIns="45720">
            <a:spAutoFit/>
          </a:bodyPr>
          <a:lstStyle/>
          <a:p>
            <a:pPr algn="l">
              <a:spcAft>
                <a:spcPts val="600"/>
              </a:spcAft>
            </a:pPr>
            <a:r>
              <a:rPr sz="1400" b="0">
                <a:solidFill>
                  <a:srgbClr val="666666"/>
                </a:solidFill>
                <a:latin typeface="Arial"/>
              </a:rPr>
              <a:t>Custo só das três que mais acertaram.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Grafo ou banco relacional? </a:t>
            </a:r>
            <a:r>
              <a:rPr sz="1800" b="0">
                <a:solidFill>
                  <a:srgbClr val="222222"/>
                </a:solidFill>
                <a:latin typeface="Arial"/>
              </a:rPr>
              <a:t>Hipótese não testada: a diferença apareceria nas perguntas de relações.</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15 / 15</a:t>
            </a:r>
          </a:p>
        </p:txBody>
      </p:sp>
      <p:sp>
        <p:nvSpPr>
          <p:cNvPr id="5" name="Rectangle 4"/>
          <p:cNvSpPr/>
          <p:nvPr/>
        </p:nvSpPr>
        <p:spPr>
          <a:xfrm>
            <a:off x="64008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Repetir as execuções: medir a variação entre rodadas e testar as diferenças entre abordagens.</a:t>
            </a:r>
          </a:p>
          <a:p>
            <a:pPr>
              <a:spcAft>
                <a:spcPts val="1000"/>
              </a:spcAft>
            </a:pPr>
            <a:r>
              <a:rPr sz="1600" b="1">
                <a:solidFill>
                  <a:srgbClr val="1F5C99"/>
                </a:solidFill>
                <a:latin typeface="Arial"/>
              </a:rPr>
              <a:t>• </a:t>
            </a:r>
            <a:r>
              <a:rPr sz="1600" b="0">
                <a:solidFill>
                  <a:srgbClr val="222222"/>
                </a:solidFill>
                <a:latin typeface="Arial"/>
              </a:rPr>
              <a:t>Estender as perguntas a várias partidas.</a:t>
            </a:r>
          </a:p>
        </p:txBody>
      </p:sp>
      <p:sp>
        <p:nvSpPr>
          <p:cNvPr id="8" name="Rectangle 7"/>
          <p:cNvSpPr/>
          <p:nvPr/>
        </p:nvSpPr>
        <p:spPr>
          <a:xfrm>
            <a:off x="4343400" y="1508760"/>
            <a:ext cx="3474720" cy="3520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Modelos maiores sem raciocínio estendido: tamanho ou raciocínio?</a:t>
            </a:r>
          </a:p>
          <a:p>
            <a:pPr>
              <a:spcAft>
                <a:spcPts val="1000"/>
              </a:spcAft>
            </a:pPr>
            <a:r>
              <a:rPr sz="1600" b="1">
                <a:solidFill>
                  <a:srgbClr val="1F5C99"/>
                </a:solidFill>
                <a:latin typeface="Arial"/>
              </a:rPr>
              <a:t>• </a:t>
            </a:r>
            <a:r>
              <a:rPr sz="1600" b="0">
                <a:solidFill>
                  <a:srgbClr val="222222"/>
                </a:solidFill>
                <a:latin typeface="Arial"/>
              </a:rPr>
              <a:t>As mesmas ferramentas sobre um banco relacional (SQL), sem o grafo: ferramentas ou grafo?</a:t>
            </a:r>
          </a:p>
          <a:p>
            <a:pPr>
              <a:spcAft>
                <a:spcPts val="1000"/>
              </a:spcAft>
            </a:pPr>
            <a:r>
              <a:rPr sz="1600" b="1">
                <a:solidFill>
                  <a:srgbClr val="1F5C99"/>
                </a:solidFill>
                <a:latin typeface="Arial"/>
              </a:rPr>
              <a:t>• </a:t>
            </a:r>
            <a:r>
              <a:rPr sz="1600" b="0">
                <a:solidFill>
                  <a:srgbClr val="222222"/>
                </a:solidFill>
                <a:latin typeface="Arial"/>
              </a:rPr>
              <a:t>Busca vetorial com os eventos vizinhos em cada trecho.</a:t>
            </a:r>
          </a:p>
        </p:txBody>
      </p:sp>
      <p:sp>
        <p:nvSpPr>
          <p:cNvPr id="11" name="Rectangle 10"/>
          <p:cNvSpPr/>
          <p:nvPr/>
        </p:nvSpPr>
        <p:spPr>
          <a:xfrm>
            <a:off x="8046720" y="1508760"/>
            <a:ext cx="3474720" cy="35204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572768"/>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103120"/>
            <a:ext cx="3200400" cy="2880360"/>
          </a:xfrm>
          <a:prstGeom prst="rect">
            <a:avLst/>
          </a:prstGeom>
          <a:noFill/>
        </p:spPr>
        <p:txBody>
          <a:bodyPr wrap="square">
            <a:spAutoFit/>
          </a:bodyPr>
          <a:lstStyle/>
          <a:p>
            <a:pPr>
              <a:spcAft>
                <a:spcPts val="1000"/>
              </a:spcAft>
            </a:pPr>
            <a:r>
              <a:rPr sz="1600" b="1">
                <a:solidFill>
                  <a:srgbClr val="1F5C99"/>
                </a:solidFill>
                <a:latin typeface="Arial"/>
              </a:rPr>
              <a:t>• </a:t>
            </a:r>
            <a:r>
              <a:rPr sz="1600" b="0">
                <a:solidFill>
                  <a:srgbClr val="222222"/>
                </a:solidFill>
                <a:latin typeface="Arial"/>
              </a:rPr>
              <a:t>Outros registros de eventos, como os de processos industriais.</a:t>
            </a:r>
          </a:p>
          <a:p>
            <a:pPr>
              <a:spcAft>
                <a:spcPts val="1000"/>
              </a:spcAft>
            </a:pPr>
            <a:r>
              <a:rPr sz="1600" b="1">
                <a:solidFill>
                  <a:srgbClr val="1F5C99"/>
                </a:solidFill>
                <a:latin typeface="Arial"/>
              </a:rPr>
              <a:t>• </a:t>
            </a:r>
            <a:r>
              <a:rPr sz="1600" b="0">
                <a:solidFill>
                  <a:srgbClr val="222222"/>
                </a:solidFill>
                <a:latin typeface="Arial"/>
              </a:rPr>
              <a:t>Com a preparação dos dados, o grafo e as ferramentas feitos para as perguntas do domínio.</a:t>
            </a:r>
          </a:p>
        </p:txBody>
      </p:sp>
      <p:sp>
        <p:nvSpPr>
          <p:cNvPr id="14" name="Rectangle 13"/>
          <p:cNvSpPr/>
          <p:nvPr/>
        </p:nvSpPr>
        <p:spPr>
          <a:xfrm>
            <a:off x="640080" y="5212080"/>
            <a:ext cx="10881360" cy="109728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5212080"/>
            <a:ext cx="109728" cy="109728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257800"/>
            <a:ext cx="2926080" cy="1005840"/>
          </a:xfrm>
          <a:prstGeom prst="rect">
            <a:avLst/>
          </a:prstGeom>
          <a:noFill/>
        </p:spPr>
        <p:txBody>
          <a:bodyPr wrap="square" anchor="ctr" lIns="45720" rIns="45720">
            <a:spAutoFit/>
          </a:bodyPr>
          <a:lstStyle/>
          <a:p>
            <a:pPr algn="l">
              <a:spcAft>
                <a:spcPts val="600"/>
              </a:spcAft>
            </a:pPr>
            <a:r>
              <a:rPr sz="3600" b="1">
                <a:solidFill>
                  <a:srgbClr val="FFFFFF"/>
                </a:solidFill>
                <a:latin typeface="Arial"/>
              </a:rPr>
              <a:t>Perguntas</a:t>
            </a:r>
          </a:p>
        </p:txBody>
      </p:sp>
      <p:sp>
        <p:nvSpPr>
          <p:cNvPr id="17" name="TextBox 16"/>
          <p:cNvSpPr txBox="1"/>
          <p:nvPr/>
        </p:nvSpPr>
        <p:spPr>
          <a:xfrm>
            <a:off x="3931920" y="5303520"/>
            <a:ext cx="7498079" cy="914400"/>
          </a:xfrm>
          <a:prstGeom prst="rect">
            <a:avLst/>
          </a:prstGeom>
          <a:noFill/>
        </p:spPr>
        <p:txBody>
          <a:bodyPr wrap="square" anchor="ctr" lIns="45720" rIns="45720">
            <a:spAutoFit/>
          </a:bodyPr>
          <a:lstStyle/>
          <a:p>
            <a:pPr algn="l">
              <a:spcAft>
                <a:spcPts val="200"/>
              </a:spcAft>
            </a:pPr>
            <a:r>
              <a:rPr sz="1500" b="0">
                <a:solidFill>
                  <a:srgbClr val="BBBBBB"/>
                </a:solidFill>
                <a:latin typeface="Arial"/>
              </a:rPr>
              <a:t>Código, perguntas e gabarito:</a:t>
            </a:r>
          </a:p>
          <a:p>
            <a:pPr algn="l">
              <a:spcAft>
                <a:spcPts val="200"/>
              </a:spcAft>
            </a:pPr>
            <a:r>
              <a:rPr sz="1800" b="0">
                <a:solidFill>
                  <a:srgbClr val="FFFFFF"/>
                </a:solidFill>
                <a:latin typeface="Arial"/>
              </a:rPr>
              <a:t>github.com/joaowinderfeldbussolotto/match-events-qa-benchmark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