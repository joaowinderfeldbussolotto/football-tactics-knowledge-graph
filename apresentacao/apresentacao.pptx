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400" b="1">
                    <a:solidFill>
                      <a:srgbClr val="222222"/>
                    </a:solidFill>
                  </a:defRPr>
                </a:pPr>
              </a:p>
            </c:txPr>
            <c:dLblPos val="inBase"/>
            <c:showLegendKey val="0"/>
            <c:showVal val="1"/>
            <c:showCatName val="0"/>
            <c:showSerName val="0"/>
            <c:showPercent val="0"/>
            <c:showBubbleSize val="0"/>
            <c:showLeaderLines val="1"/>
          </c:dLbls>
          <c:errBars>
            <c:errDir val="y"/>
            <c:errBarType val="both"/>
            <c:errValType val="cust"/>
            <c:noEndCap val="0"/>
            <c:plus>
              <c:numLit>
                <c:formatCode>General</c:formatCode>
                <c:ptCount val="4"/>
                <c:pt idx="0">
                  <c:v>14</c:v>
                </c:pt>
                <c:pt idx="1">
                  <c:v>15</c:v>
                </c:pt>
                <c:pt idx="2">
                  <c:v>11</c:v>
                </c:pt>
                <c:pt idx="3">
                  <c:v>8</c:v>
                </c:pt>
              </c:numLit>
            </c:plus>
            <c:minus>
              <c:numLit>
                <c:formatCode>General</c:formatCode>
                <c:ptCount val="4"/>
                <c:pt idx="0">
                  <c:v>14</c:v>
                </c:pt>
                <c:pt idx="1">
                  <c:v>12</c:v>
                </c:pt>
                <c:pt idx="2">
                  <c:v>14</c:v>
                </c:pt>
                <c:pt idx="3">
                  <c:v>13</c:v>
                </c:pt>
              </c:numLit>
            </c:minus>
            <c:spPr>
              <a:ln w="15875">
                <a:solidFill>
                  <a:srgbClr val="222222"/>
                </a:solidFill>
              </a:ln>
            </c:spPr>
          </c:errBars>
          <c:cat>
            <c:strRef>
              <c:f>Sheet1!$A$2:$A$5</c:f>
              <c:strCache>
                <c:ptCount val="4"/>
                <c:pt idx="0">
                  <c:v>Haiku 5.5 (menor)</c:v>
                </c:pt>
                <c:pt idx="1">
                  <c:v>Qwen3.8-flash (menor)</c:v>
                </c:pt>
                <c:pt idx="2">
                  <c:v>Sonnet 4.6 (maior)</c:v>
                </c:pt>
                <c:pt idx="3">
                  <c:v>Kimi K3 (maior)</c:v>
                </c:pt>
              </c:strCache>
            </c:strRef>
          </c:cat>
          <c:val>
            <c:numRef>
              <c:f>Sheet1!$B$2:$B$5</c:f>
              <c:numCache>
                <c:formatCode>General</c:formatCode>
                <c:ptCount val="4"/>
                <c:pt idx="0">
                  <c:v>45</c:v>
                </c:pt>
                <c:pt idx="1">
                  <c:v>40</c:v>
                </c:pt>
                <c:pt idx="2">
                  <c:v>72</c:v>
                </c:pt>
                <c:pt idx="3">
                  <c:v>85</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400" b="1">
                    <a:solidFill>
                      <a:srgbClr val="FFFFFF"/>
                    </a:solidFill>
                  </a:defRPr>
                </a:pPr>
              </a:p>
            </c:txPr>
            <c:dLblPos val="inBase"/>
            <c:showLegendKey val="0"/>
            <c:showVal val="1"/>
            <c:showCatName val="0"/>
            <c:showSerName val="0"/>
            <c:showPercent val="0"/>
            <c:showBubbleSize val="0"/>
            <c:showLeaderLines val="1"/>
          </c:dLbls>
          <c:errBars>
            <c:errDir val="y"/>
            <c:errBarType val="both"/>
            <c:errValType val="cust"/>
            <c:noEndCap val="0"/>
            <c:plus>
              <c:numLit>
                <c:formatCode>General</c:formatCode>
                <c:ptCount val="4"/>
                <c:pt idx="0">
                  <c:v>11</c:v>
                </c:pt>
                <c:pt idx="1">
                  <c:v>13</c:v>
                </c:pt>
                <c:pt idx="2">
                  <c:v>6</c:v>
                </c:pt>
                <c:pt idx="3">
                  <c:v>4</c:v>
                </c:pt>
              </c:numLit>
            </c:plus>
            <c:minus>
              <c:numLit>
                <c:formatCode>General</c:formatCode>
                <c:ptCount val="4"/>
                <c:pt idx="0">
                  <c:v>14</c:v>
                </c:pt>
                <c:pt idx="1">
                  <c:v>14</c:v>
                </c:pt>
                <c:pt idx="2">
                  <c:v>12</c:v>
                </c:pt>
                <c:pt idx="3">
                  <c:v>11</c:v>
                </c:pt>
              </c:numLit>
            </c:minus>
            <c:spPr>
              <a:ln w="15875">
                <a:solidFill>
                  <a:srgbClr val="222222"/>
                </a:solidFill>
              </a:ln>
            </c:spPr>
          </c:errBars>
          <c:cat>
            <c:strRef>
              <c:f>Sheet1!$A$2:$A$5</c:f>
              <c:strCache>
                <c:ptCount val="4"/>
                <c:pt idx="0">
                  <c:v>Haiku 5.5 (menor)</c:v>
                </c:pt>
                <c:pt idx="1">
                  <c:v>Qwen3.8-flash (menor)</c:v>
                </c:pt>
                <c:pt idx="2">
                  <c:v>Sonnet 4.6 (maior)</c:v>
                </c:pt>
                <c:pt idx="3">
                  <c:v>Kimi K3 (maior)</c:v>
                </c:pt>
              </c:strCache>
            </c:strRef>
          </c:cat>
          <c:val>
            <c:numRef>
              <c:f>Sheet1!$C$2:$C$5</c:f>
              <c:numCache>
                <c:formatCode>General</c:formatCode>
                <c:ptCount val="4"/>
                <c:pt idx="0">
                  <c:v>70</c:v>
                </c:pt>
                <c:pt idx="1">
                  <c:v>57</c:v>
                </c:pt>
                <c:pt idx="2">
                  <c:v>89</c:v>
                </c:pt>
                <c:pt idx="3">
                  <c:v>94</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400" b="1">
                    <a:solidFill>
                      <a:srgbClr val="FFFFFF"/>
                    </a:solidFill>
                  </a:defRPr>
                </a:pPr>
              </a:p>
            </c:txPr>
            <c:dLblPos val="inBase"/>
            <c:showLegendKey val="0"/>
            <c:showVal val="1"/>
            <c:showCatName val="0"/>
            <c:showSerName val="0"/>
            <c:showPercent val="0"/>
            <c:showBubbleSize val="0"/>
            <c:showLeaderLines val="1"/>
          </c:dLbls>
          <c:errBars>
            <c:errDir val="y"/>
            <c:errBarType val="both"/>
            <c:errValType val="cust"/>
            <c:noEndCap val="0"/>
            <c:plus>
              <c:numLit>
                <c:formatCode>General</c:formatCode>
                <c:ptCount val="4"/>
                <c:pt idx="0">
                  <c:v>7</c:v>
                </c:pt>
                <c:pt idx="1">
                  <c:v>8</c:v>
                </c:pt>
                <c:pt idx="2">
                  <c:v>6</c:v>
                </c:pt>
                <c:pt idx="3">
                  <c:v>6</c:v>
                </c:pt>
              </c:numLit>
            </c:plus>
            <c:minus>
              <c:numLit>
                <c:formatCode>General</c:formatCode>
                <c:ptCount val="4"/>
                <c:pt idx="0">
                  <c:v>12</c:v>
                </c:pt>
                <c:pt idx="1">
                  <c:v>13</c:v>
                </c:pt>
                <c:pt idx="2">
                  <c:v>12</c:v>
                </c:pt>
                <c:pt idx="3">
                  <c:v>12</c:v>
                </c:pt>
              </c:numLit>
            </c:minus>
            <c:spPr>
              <a:ln w="15875">
                <a:solidFill>
                  <a:srgbClr val="222222"/>
                </a:solidFill>
              </a:ln>
            </c:spPr>
          </c:errBars>
          <c:cat>
            <c:strRef>
              <c:f>Sheet1!$A$2:$A$5</c:f>
              <c:strCache>
                <c:ptCount val="4"/>
                <c:pt idx="0">
                  <c:v>Haiku 5.5 (menor)</c:v>
                </c:pt>
                <c:pt idx="1">
                  <c:v>Qwen3.8-flash (menor)</c:v>
                </c:pt>
                <c:pt idx="2">
                  <c:v>Sonnet 4.6 (maior)</c:v>
                </c:pt>
                <c:pt idx="3">
                  <c:v>Kimi K3 (maior)</c:v>
                </c:pt>
              </c:strCache>
            </c:strRef>
          </c:cat>
          <c:val>
            <c:numRef>
              <c:f>Sheet1!$D$2:$D$5</c:f>
              <c:numCache>
                <c:formatCode>General</c:formatCode>
                <c:ptCount val="4"/>
                <c:pt idx="0">
                  <c:v>87</c:v>
                </c:pt>
                <c:pt idx="1">
                  <c:v>83</c:v>
                </c:pt>
                <c:pt idx="2">
                  <c:v>89</c:v>
                </c:pt>
                <c:pt idx="3">
                  <c:v>89</c:v>
                </c:pt>
              </c:numCache>
            </c:numRef>
          </c:val>
        </c:ser>
        <c:gapWidth val="7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4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400" b="0"/>
                  <a:t>Acerto (%)</a:t>
                </a:r>
              </a:p>
            </c:rich>
          </c:tx>
          <c:layout/>
          <c:overlay val="0"/>
        </c:title>
        <c:majorTickMark val="out"/>
        <c:minorTickMark val="none"/>
        <c:tickLblPos val="nextTo"/>
        <c:spPr>
          <a:ln>
            <a:noFill/>
          </a:ln>
        </c:spPr>
        <c:txPr>
          <a:bodyPr/>
          <a:lstStyle/>
          <a:p>
            <a:pPr>
              <a:defRPr sz="1400"/>
            </a:pPr>
          </a:p>
        </c:txPr>
        <c:crossAx val="-2068027336"/>
        <c:crosses val="autoZero"/>
        <c:majorUnit val="25.0"/>
      </c:valAx>
    </c:plotArea>
    <c:legend>
      <c:legendPos val="b"/>
      <c:overlay val="0"/>
      <c:txPr>
        <a:bodyPr/>
        <a:lstStyle/>
        <a:p>
          <a:pPr>
            <a:defRPr sz="1400"/>
          </a:pPr>
        </a:p>
      </c:txPr>
    </c:legend>
    <c:dispBlanksAs val="gap"/>
  </c:chart>
  <c:txPr>
    <a:bodyPr/>
    <a:lstStyle/>
    <a:p>
      <a:pPr>
        <a:defRPr sz="14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Sheet1!$B$2:$B$5</c:f>
              <c:numCache>
                <c:formatCode>General</c:formatCode>
                <c:ptCount val="4"/>
                <c:pt idx="0">
                  <c:v>33</c:v>
                </c:pt>
                <c:pt idx="1">
                  <c:v>33</c:v>
                </c:pt>
                <c:pt idx="2">
                  <c:v>69</c:v>
                </c:pt>
                <c:pt idx="3">
                  <c:v>81</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Sheet1!$C$2:$C$5</c:f>
              <c:numCache>
                <c:formatCode>General</c:formatCode>
                <c:ptCount val="4"/>
                <c:pt idx="0">
                  <c:v>69</c:v>
                </c:pt>
                <c:pt idx="1">
                  <c:v>53</c:v>
                </c:pt>
                <c:pt idx="2">
                  <c:v>86</c:v>
                </c:pt>
                <c:pt idx="3">
                  <c:v>92</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Sheet1!$D$2:$D$5</c:f>
              <c:numCache>
                <c:formatCode>General</c:formatCode>
                <c:ptCount val="4"/>
                <c:pt idx="0">
                  <c:v>92</c:v>
                </c:pt>
                <c:pt idx="1">
                  <c:v>86</c:v>
                </c:pt>
                <c:pt idx="2">
                  <c:v>86</c:v>
                </c:pt>
                <c:pt idx="3">
                  <c:v>89</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3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300" b="0"/>
                  <a:t>Acerto (%)</a:t>
                </a:r>
              </a:p>
            </c:rich>
          </c:tx>
          <c:layout/>
          <c:overlay val="0"/>
        </c:title>
        <c:majorTickMark val="out"/>
        <c:minorTickMark val="none"/>
        <c:tickLblPos val="nextTo"/>
        <c:spPr>
          <a:ln>
            <a:noFill/>
          </a:ln>
        </c:spPr>
        <c:txPr>
          <a:bodyPr/>
          <a:lstStyle/>
          <a:p>
            <a:pPr>
              <a:defRPr sz="1300"/>
            </a:pPr>
          </a:p>
        </c:txPr>
        <c:crossAx val="-2068027336"/>
        <c:crosses val="autoZero"/>
        <c:majorUnit val="25.0"/>
      </c:valAx>
    </c:plotArea>
    <c:legend>
      <c:legendPos val="b"/>
      <c:overlay val="0"/>
      <c:txPr>
        <a:bodyPr/>
        <a:lstStyle/>
        <a:p>
          <a:pPr>
            <a:defRPr sz="1300"/>
          </a:pPr>
        </a:p>
      </c:txPr>
    </c:legend>
    <c:dispBlanksAs val="gap"/>
  </c:chart>
  <c:txPr>
    <a:bodyPr/>
    <a:lstStyle/>
    <a:p>
      <a:pPr>
        <a:defRPr sz="13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Sheet1!$B$2:$B$3</c:f>
              <c:numCache>
                <c:formatCode>General</c:formatCode>
                <c:ptCount val="2"/>
                <c:pt idx="0">
                  <c:v>37.0</c:v>
                </c:pt>
                <c:pt idx="1">
                  <c:v>81.0</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Sheet1!$C$2:$C$3</c:f>
              <c:numCache>
                <c:formatCode>General</c:formatCode>
                <c:ptCount val="2"/>
                <c:pt idx="0">
                  <c:v>13.0</c:v>
                </c:pt>
                <c:pt idx="1">
                  <c:v>24.0</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Sheet1!$D$2:$D$3</c:f>
              <c:numCache>
                <c:formatCode>General</c:formatCode>
                <c:ptCount val="2"/>
                <c:pt idx="0">
                  <c:v>10.0</c:v>
                </c:pt>
                <c:pt idx="1">
                  <c:v>15.0</c:v>
                </c:pt>
              </c:numCache>
            </c:numRef>
          </c:val>
        </c:ser>
        <c:gapWidth val="8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4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400" b="0"/>
                  <a:t>Latência mediana (s)</a:t>
                </a:r>
              </a:p>
            </c:rich>
          </c:tx>
          <c:layout/>
          <c:overlay val="0"/>
        </c:title>
        <c:majorTickMark val="out"/>
        <c:minorTickMark val="none"/>
        <c:tickLblPos val="nextTo"/>
        <c:spPr>
          <a:ln>
            <a:noFill/>
          </a:ln>
        </c:spPr>
        <c:txPr>
          <a:bodyPr/>
          <a:lstStyle/>
          <a:p>
            <a:pPr>
              <a:defRPr sz="1400"/>
            </a:pPr>
          </a:p>
        </c:txPr>
        <c:crossAx val="-2068027336"/>
        <c:crosses val="autoZero"/>
        <c:majorUnit val="25.0"/>
      </c:valAx>
    </c:plotArea>
    <c:legend>
      <c:legendPos val="b"/>
      <c:overlay val="0"/>
      <c:txPr>
        <a:bodyPr/>
        <a:lstStyle/>
        <a:p>
          <a:pPr>
            <a:defRPr sz="1400"/>
          </a:pPr>
        </a:p>
      </c:txPr>
    </c:legend>
    <c:dispBlanksAs val="gap"/>
  </c:chart>
  <c:txPr>
    <a:bodyPr/>
    <a:lstStyle/>
    <a:p>
      <a:pPr>
        <a:defRPr sz="14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Boa noite a todos. Eu sou o Daniel, e esse é o João Victor. A gente vai apresentar o nosso trabalho, que compara seis formas de entregar os dados de uma partida de futebol pra um modelo de linguagem responder perguntas sobre ela.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Hoje, um modelo de linguagem consegue responder perguntas em linguagem natural, mas pra falar de uma partida específica ele precisa receber os dados dela. E pergunta de análise de futebol quase nunca tem a resposta num lance só. Por exemplo, qual dupla da França mais trocou passes, ou, depois que o Dembélé saiu, quem mais passou a bola pro Mbappé. Pra responder isso, você precisa ligar vários eventos entre si.</a:t>
            </a:r>
          </a:p>
          <a:p/>
          <a:p>
            <a:r>
              <a:t>[pausa] Então a nossa pergunta foi qual é a melhor forma de levar esses dados até o modelo. A gente quis saber qual abordagem acerta mais, se isso muda de um modelo pra outro e quanto cada uma custa em tokens e em tempo.</a:t>
            </a:r>
          </a:p>
          <a:p/>
          <a:p>
            <a:r>
              <a:t>E o trabalho entrega três coisas. Uma transformação dos eventos da partida numa tabela de ações e num grafo, um conjunto de 52 perguntas com gabarito, e a comparação de seis abordagens em quatro modelos, todas com as mesmas perguntas, o mesmo prompt e o mesmo formato de resposta.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Antes de entrar nos dados, rapidinho sobre os trabalhos relacionados. Essa tabela resume o que a gente encontrou. No esporte, tem conjuntos que só testam o que o modelo já sabe, com múltipla escolha, como o SportQA. E tem sistemas que ligam o modelo a dados de partidas, como o SoccerRAG e o SPORTSQL, que escrevem SQL, e o trabalho do Tzikas, que usa busca vetorial sobre eventos. Só que cada um testa uma forma de recuperação por vez.</a:t>
            </a:r>
          </a:p>
          <a:p/>
          <a:p>
            <a:r>
              <a:t>Fora do esporte, trabalhos como o LOFT e o do Li comparam contexto longo com recuperação, mas sem dados de futebol.</a:t>
            </a:r>
          </a:p>
          <a:p/>
          <a:p>
            <a:r>
              <a:t>[pausa] Então a lacuna que a gente viu é essa última linha. Comparar várias formas de recuperação, com as mesmas perguntas, em eventos de futebol, e com a correção feita por código, sem um LLM dando nota.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Os dados são da StatsBomb, que publica de graça os eventos de várias partidas. A gente usou a final da Copa de 2022, Argentina e França. São dois arquivos, a lista de eventos em ordem e as escalações.</a:t>
            </a:r>
          </a:p>
          <a:p/>
          <a:p>
            <a:r>
              <a:t>O JSON bruto tem mais de 4.400 eventos, e cada evento tem o tipo, o tempo, o time, o jogador e a posição no campo. Esse exemplo aqui é o passe do Mac Allister e o gol do Di María, logo em seguida.</a:t>
            </a:r>
          </a:p>
          <a:p/>
          <a:p>
            <a:r>
              <a:t>E esse formato tem algumas armadilhas. Cada tipo de evento tem campos próprios, então o passe traz o recebedor e o chute traz o resultado. A mesma informação pode estar em lugares diferentes, como o cartão amarelo, que às vezes vem dentro da falta e às vezes num evento separado. E o nome é o de registro, não o apelido, e o minuto conta o tempo decorrido. Então esse gol, que aparece no minuto 35 do JSON, na transmissão foi aos 36.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Por isso, o primeiro passo foi transformar esses eventos numa tabela. A gente usou a biblioteca socceraction, que converte os eventos pro formato SPADL. Esse formato guarda só as ações com bola, num vocabulário fechado, e todas com os mesmos campos. Os eventos viraram 2.585 ações.</a:t>
            </a:r>
          </a:p>
          <a:p/>
          <a:p>
            <a:r>
              <a:t>Em cima disso, a gente acrescentou colunas de contexto. Todas as ações passam a atacar da esquerda pra direita, pros dois times. Cada ação ganha a zona do campo onde começou e onde terminou. O passe ganha o recebedor, que é o jogador do mesmo time que age em seguida. As ações são agrupadas em fases de posse, que é como a gente identifica as jogadas. E cada linha tem o placar e o minuto da transmissão. Além disso, a gente recuperou do JSON o que o SPADL perde, como o desfecho do chute e o cartão sem falta.</a:t>
            </a:r>
          </a:p>
          <a:p/>
          <a:p>
            <a:r>
              <a:t>[pausa] Esse campo do lado mostra a grade de zonas, e o passe do Mac Allister pro Di María sai de uma zona e termina na outra, já perto do gol. E é essa tabela, inteira, que a abordagem de contexto longo entrega pro modelo.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Depois, essa tabela foi carregada num grafo, no Neo4j. Cada ação vira uma ligação do jogador pra partida, com as colunas da tabela, e cada passe certo com recebedor vira uma ligação de um jogador pro outro. Os outros nós são os times, as fases de posse e as zonas do campo.</a:t>
            </a:r>
          </a:p>
          <a:p/>
          <a:p>
            <a:r>
              <a:t>Essas ligações não acrescentam informação, elas só reorganizam a tabela. A única coisa calculada é a súmula, que o próprio banco conta, com os totais de cada jogador e de cada time, separando o que foi tentado e o que deu certo.</a:t>
            </a:r>
          </a:p>
          <a:p/>
          <a:p>
            <a:r>
              <a:t>[pausa] E por que um grafo? Porque a análise de futebol já trata os passes de um time como uma rede, com os jogadores ligados pelos passes. Então perguntas como qual dupla mais trocou passes, ou por qual jogador a bola mais circula, viram caminhos e métricas nesse grafo.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Com os dados prontos, a gente escreveu as perguntas. São 52, divididas em cinco grupos. Busca e contagem são as mais diretas, como quem recebeu o primeiro cartão amarelo. Relações na rede de passes, jogadas e sequências, e antes e depois de uma substituição são as encadeadas, em que você precisa ligar um evento ao outro.</a:t>
            </a:r>
          </a:p>
          <a:p/>
          <a:p>
            <a:r>
              <a:t>E tem o grupo de controle, com perguntas que não têm resposta nesses dados, como a distância que o De Paul percorreu. Aí a resposta certa é o modelo dizer que não tem a informação.</a:t>
            </a:r>
          </a:p>
          <a:p/>
          <a:p>
            <a:r>
              <a:t>[pausa] O gabarito de cada pergunta foi calculado por código, a partir do JSON e da tabela de ações, e as perguntas que davam margem pra mais de uma leitura saíram do conjunto. A correção também é por código, então a mesma resposta sempre recebe a mesma nota.</a:t>
            </a:r>
          </a:p>
          <a:p/>
          <a:p>
            <a:r>
              <a:t>Agora o João Victor vai mostrar as seis abordagens que a gente comparou e os resultados.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Valeu, Daniel. Boa noite, pessoal, eu vou continuar a partir daqui.</a:t>
            </a:r>
          </a:p>
          <a:p/>
          <a:p>
            <a:r>
              <a:t>Então, com os dados e as perguntas prontas, a gente comparou seis jeitos de entregar esses dados pro modelo. Ou seja, a gente está usando aprendizado em contexto, alimentando o modelo com os dados na hora da pergunta, sem treinar ele de novo.</a:t>
            </a:r>
          </a:p>
          <a:p/>
          <a:p>
            <a:r>
              <a:t>A primeira é sem dados, então só a pergunta vai pro modelo. É a nossa linha de base.</a:t>
            </a:r>
          </a:p>
          <a:p/>
          <a:p>
            <a:r>
              <a:t>A segunda é o contexto longo, em que a tabela inteira de ações vai direto no prompt.</a:t>
            </a:r>
          </a:p>
          <a:p/>
          <a:p>
            <a:r>
              <a:t>A terceira são as estatísticas resumidas, em que vai só a súmula, com os totais por jogador e por time.</a:t>
            </a:r>
          </a:p>
          <a:p/>
          <a:p>
            <a:r>
              <a:t>A quarta é a busca vetorial, o RAG tradicional. As linhas da tabela e a pergunta viram embeddings, que são vetores que representam o texto, e uma busca por similaridade manda pro prompt só as linhas mais parecidas com a pergunta.</a:t>
            </a:r>
          </a:p>
          <a:p/>
          <a:p>
            <a:r>
              <a:t>E as duas em azul são agentes que consultam o grafo. Isso quer dizer que o modelo não responde de uma vez. Ele chama uma ferramenta, vê o resultado e decide se chama de novo ou se já responde. Na consulta escrita pelo modelo, ele escreve a consulta sozinho, em Cypher. Nas ferramentas sobre o grafo, ele só escolhe uma ferramenta pronta e passa os argumentos.</a:t>
            </a:r>
          </a:p>
          <a:p/>
          <a:p>
            <a:r>
              <a:t>Em cada modelo, as seis abordagens usam o mesmo prompt e o mesmo formato de resposta, então a única coisa que muda é a forma como os dados chegam até a janela de contexto do LLM.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Aqui tem um exemplo real desses dois agentes. A pergunta é quem deu mais passes certos no terço final pela Argentina.</a:t>
            </a:r>
          </a:p>
          <a:p/>
          <a:p>
            <a:r>
              <a:t>Nos dois casos o modelo chama uma ferramenta, mas o que ele passa pra ela é bem diferente. Na esquerda, o parâmetro da ferramenta é a própria consulta em Cypher, escrita pelo modelo, com todos os filtros dentro, time, passe certo e terço de ataque. Na direita, o modelo não escreve consulta nenhuma. Ele passa só os argumentos, como o time, o tipo de ação e o terço do campo, e esses argumentos preenchem uma consulta parametrizada que já está implementada dentro da ferramenta. No fim, os dois chegaram no Messi.</a:t>
            </a:r>
          </a:p>
          <a:p/>
          <a:p>
            <a:r>
              <a:t>Essa ferramenta da direita, que conta ações, é uma das 8 ferramentas, e as outras seguem a mesma ideia, contando ou listando ações e trabalhando com a rede de passes.</a:t>
            </a:r>
          </a:p>
          <a:p/>
          <a:p>
            <a:r>
              <a:t>[pausa] Então os dois agentes usam o mesmo grafo, e o que muda é quem escreve a consulta, se é o próprio modelo ou a implementação dentro da ferramenta.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 Agora os resultados. A gente testou em quatro modelos, em dois grupos. Os menores são o Claude Haiku 5.5 e o Qwen3.8-flash, e os maiores, o Claude Sonnet 4.6 e o Kimi K3. Em cada grupo tem um modelo proprietário e um de pesos abertos, então o Haiku e o Sonnet, da Anthropic, representando os fechados, e o Qwen e o Kimi, os de pesos abertos. Os maiores rodaram com o raciocínio estendido ligado.</a:t>
            </a:r>
          </a:p>
          <a:p/>
          <a:p>
            <a:r>
              <a:t>O que está em azul é a abordagem com ferramentas, e ela ficou entre 83 e 89% em todos os modelos, então o tamanho do modelo quase não fez diferença nessa abordagem.</a:t>
            </a:r>
          </a:p>
          <a:p/>
          <a:p>
            <a:r>
              <a:t>A consulta escrita pelo modelo fica bem abaixo nos menores e sobe até empatar com as ferramentas nos maiores. O contexto longo faz o mesmo caminho, só que sempre um degrau abaixo. E isso já aparece na literatura, porque trabalhar com um contexto muito longo exige um modelo maior, e escrever código também, seja uma consulta em Cypher, em SQL ou até, sei lá, em Python.</a:t>
            </a:r>
          </a:p>
          <a:p/>
          <a:p>
            <a:r>
              <a:t>As outras três acertaram pouco em todos, e eu já explico por quê.</a:t>
            </a:r>
          </a:p>
          <a:p/>
          <a:p>
            <a:r>
              <a:t>[pausa] Só um cuidado. Esses risquinhos são o intervalo de confiança, e como foi uma repetição só, eles são largos. Então nos modelos maiores a gente não consegue separar a consulta das ferramentas, e por isso a gente lê essas diferenças como indício, e não como prova.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Esse gráfico não está no artigo, a gente trouxe só pra ilustrar. São só as perguntas encadeadas, em que você precisa ligar um evento ao outro, tipo quem passou pra quem ou o que mudou depois de uma substituição.</a:t>
            </a:r>
          </a:p>
          <a:p/>
          <a:p>
            <a:r>
              <a:t>É aqui que a diferença aparece, tá. Nos modelos menores, o contexto longo e a consulta caem bastante, e a abordagem com ferramentas segura. Nos maiores, as três ficam bem mais próximas.</a:t>
            </a:r>
          </a:p>
          <a:p/>
          <a:p>
            <a:r>
              <a:t>E dá pra entender o porquê olhando o que cada uma exige do modelo. Nas ferramentas, quem faz o trabalho pesado é a implementação dentro da ferramenta, que conta os passes ou percorre a jogada, e o modelo só escolhe a ferramenta certa, com os parâmetros certos.</a:t>
            </a:r>
          </a:p>
          <a:p/>
          <a:p>
            <a:r>
              <a:t>Já na consulta, o modelo menor erra ao escrever o Cypher e precisa de várias tentativas até chegar numa consulta que funciona. E no contexto longo, ele tem que achar e juntar eventos espalhados pela tabela inteira, que é justamente o que um modelo menor faz pior.</a:t>
            </a:r>
          </a:p>
          <a:p/>
          <a:p>
            <a:r>
              <a:t>[pausa] Mas isso tem uma contrapartida, porque a abordagem com ferramentas acaba sendo mais restritiva. O que eu quero dizer com isso é que, no contexto longo, a gente tá dando ao modelo todos os dados que ele precisa pra responder. Na consulta, a gente dá a liberdade pro modelo navegar pelos dados usando a linguagem Cypher. Já nas ferramentas, o modelo só vai recuperar, e consequentemente só vai responder, aquilo que as ferramentas permitem que ele recupere.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Voltando nas três que foram mal.</a:t>
            </a:r>
          </a:p>
          <a:p/>
          <a:p>
            <a:r>
              <a:t>A busca vetorial traz as 30 linhas mais parecidas com a pergunta, mas parecer não é o mesmo que ser útil pra responder. Pra contar ou ligar eventos, você vai acabar precisando de mais do que isso. Numa pergunta sobre a Argentina sem o Enzo Fernández, por exemplo, ela trouxe justamente as ações do Enzo.</a:t>
            </a:r>
          </a:p>
          <a:p/>
          <a:p>
            <a:r>
              <a:t>E muitas vezes essas linhas pareciam suficientes, então o modelo respondia errado em vez de dizer que não tinha os dados. E dizer que não tem os dados, ou seja, a abstenção, já conta como um erro, né, porque a gente está avaliando num conjunto em que sabe que toda pergunta tem resposta. Mas responder errado com cara de certo pode ser pior.</a:t>
            </a:r>
          </a:p>
          <a:p/>
          <a:p>
            <a:r>
              <a:t>A abordagem com estatísticas só tem o total do jogo, sem tempo, sem lugar do campo e sem quem passou pra quem, então o modelo dizia que não tinha os dados. É um resultado esperado.</a:t>
            </a:r>
          </a:p>
          <a:p/>
          <a:p>
            <a:r>
              <a:t>E o sem dados zerou porque o prompt proíbe responder de memória. Ou seja, os LLMs que a gente avaliou obedeceram a instrução, o que já é comum nos modelos atuais.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No custo, vamos olhar aqui só as abordagens que mais acertaram. O que pesa é o contexto longo nos modelos maiores, que gera milhares de tokens de raciocínio. No Kimi, ele levou 81 segundos por pergunta, e esse valor é a mediana, contra 15 da abordagem com ferramentas. Então ele chega perto no acerto, mas paga bem mais caro em tempo e em tokens.</a:t>
            </a:r>
          </a:p>
          <a:p/>
          <a:p>
            <a:r>
              <a:t>Mas cada uma tem vantagens e desvantagens. O contexto longo acaba sendo mais barato em termos de implementação, porque não precisa de banco de grafos nem de um agente chamando ferramenta, mas ele tem o custo do modelo.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Pra concluir, a abordagem com ferramentas sobre o grafo foi a única com acerto alto em todos os modelos, entre 83 e 89%. A consulta e o contexto longo dependem da capacidade do modelo, e o contexto longo ainda custa mais.</a:t>
            </a:r>
          </a:p>
          <a:p/>
          <a:p>
            <a:r>
              <a:t>E as limitações. É uma partida só, com uma repetição, então os intervalos são largos. Nos modelos maiores, tamanho e raciocínio vieram juntos. As ferramentas e as perguntas foram feitas por nós, então o resultado vale pro que as ferramentas cobrem.</a:t>
            </a:r>
          </a:p>
          <a:p/>
          <a:p>
            <a:r>
              <a:t>E a gente não separou o efeito do grafo do efeito de agentes com ferramentas. A nossa hipótese é que, num banco relacional com as mesmas ferramentas, as perguntas de contagem iriam bem, e a diferença ia aparecer nas perguntas de relação entre jogadores, que são mais complicadas de modelar num banco relacional. Seguir uma cadeia de passes ali exigiria um JOIN pra cada passe, então provavelmente não é a ferramenta ideal pra isso.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Como próximos passos, a gente quer ter mais evidência, com mais repetições e mais partidas. Quer separar os efeitos, testando modelos grandes sem raciocínio e as mesmas ferramentas num banco SQL, sem grafo. E quer levar isso pra outros domínios, como processos industriais. Numa linha de produção, por exemplo, cada parada de máquina, cada alerta e cada movimentação de peça é um evento, com quem fez, quando e onde, e muitas vezes um evento puxa o outro, do mesmo jeito que, sei lá, um passe puxa uma finalização. Dá pra testar as mesmas abordagens nesses dados, montando a tabela, o grafo e as ferramentas pras perguntas daquele contexto.</a:t>
            </a:r>
          </a:p>
          <a:p/>
          <a:p>
            <a:r>
              <a:t>[pausa] Então, resumindo, não existe uma abordagem que seja a melhor pra tudo. A escolha depende do orçamento, da latência e do acerto que se precisa. Com modelo pequeno, a abordagem com ferramentas segura o acerto. Com modelo grande, a consulta escrita pelo modelo chega no mesmo nível e é mais flexível. E o contexto longo funciona, é mais fácil de implementar e de manter, mas custa caro.</a:t>
            </a:r>
          </a:p>
          <a:p/>
          <a:p>
            <a:r>
              <a:t>[pausa] Era isso. O código está nesse repositório. Muito obrigado, e a gente fica aberto pras perguntas.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828800"/>
            <a:ext cx="109728" cy="2377440"/>
          </a:xfrm>
          <a:prstGeom prst="rect">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058400" cy="2194560"/>
          </a:xfrm>
          <a:prstGeom prst="rect">
            <a:avLst/>
          </a:prstGeom>
          <a:noFill/>
        </p:spPr>
        <p:txBody>
          <a:bodyPr wrap="square" anchor="t" lIns="45720" rIns="45720">
            <a:spAutoFit/>
          </a:bodyPr>
          <a:lstStyle/>
          <a:p>
            <a:pPr algn="l">
              <a:spcAft>
                <a:spcPts val="1000"/>
              </a:spcAft>
            </a:pPr>
            <a:r>
              <a:rPr sz="4000" b="1">
                <a:solidFill>
                  <a:srgbClr val="FFFFFF"/>
                </a:solidFill>
                <a:latin typeface="Arial"/>
              </a:rPr>
              <a:t>Aprendizado em contexto com dados de eventos de futebol</a:t>
            </a:r>
          </a:p>
          <a:p>
            <a:pPr algn="l">
              <a:spcAft>
                <a:spcPts val="1000"/>
              </a:spcAft>
            </a:pPr>
            <a:r>
              <a:rPr sz="2800" b="0">
                <a:solidFill>
                  <a:srgbClr val="DDDDDD"/>
                </a:solidFill>
                <a:latin typeface="Arial"/>
              </a:rPr>
              <a:t>uma comparação de seis abordagens</a:t>
            </a:r>
          </a:p>
        </p:txBody>
      </p:sp>
      <p:sp>
        <p:nvSpPr>
          <p:cNvPr id="5" name="TextBox 4"/>
          <p:cNvSpPr txBox="1"/>
          <p:nvPr/>
        </p:nvSpPr>
        <p:spPr>
          <a:xfrm>
            <a:off x="1005840" y="4480560"/>
            <a:ext cx="10058400" cy="1280160"/>
          </a:xfrm>
          <a:prstGeom prst="rect">
            <a:avLst/>
          </a:prstGeom>
          <a:noFill/>
        </p:spPr>
        <p:txBody>
          <a:bodyPr wrap="square" anchor="t" lIns="45720" rIns="45720">
            <a:spAutoFit/>
          </a:bodyPr>
          <a:lstStyle/>
          <a:p>
            <a:pPr algn="l">
              <a:spcAft>
                <a:spcPts val="400"/>
              </a:spcAft>
            </a:pPr>
            <a:r>
              <a:rPr sz="2000" b="0">
                <a:solidFill>
                  <a:srgbClr val="FFFFFF"/>
                </a:solidFill>
                <a:latin typeface="Arial"/>
              </a:rPr>
              <a:t>Daniel Alfredo Quiteque e João Victor Winderfeld Bussolotto</a:t>
            </a:r>
          </a:p>
          <a:p>
            <a:pPr algn="l">
              <a:spcAft>
                <a:spcPts val="400"/>
              </a:spcAft>
            </a:pPr>
            <a:r>
              <a:rPr sz="1600" b="0">
                <a:solidFill>
                  <a:srgbClr val="BBBBBB"/>
                </a:solidFill>
                <a:latin typeface="Arial"/>
              </a:rPr>
              <a:t>Pós-graduação em Inteligência Artificial Aplicada, UniSENAI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Qual forma de dar os dados de uma partida ao modelo funciona melhor?</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2 / 15</a:t>
            </a:r>
          </a:p>
        </p:txBody>
      </p:sp>
      <p:sp>
        <p:nvSpPr>
          <p:cNvPr id="5" name="TextBox 4"/>
          <p:cNvSpPr txBox="1"/>
          <p:nvPr/>
        </p:nvSpPr>
        <p:spPr>
          <a:xfrm>
            <a:off x="640080" y="1600200"/>
            <a:ext cx="512064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Perguntas de pesquisa</a:t>
            </a:r>
          </a:p>
        </p:txBody>
      </p:sp>
      <p:sp>
        <p:nvSpPr>
          <p:cNvPr id="6" name="TextBox 5"/>
          <p:cNvSpPr txBox="1"/>
          <p:nvPr/>
        </p:nvSpPr>
        <p:spPr>
          <a:xfrm>
            <a:off x="640080" y="2103120"/>
            <a:ext cx="5120640" cy="1920240"/>
          </a:xfrm>
          <a:prstGeom prst="rect">
            <a:avLst/>
          </a:prstGeom>
          <a:noFill/>
        </p:spPr>
        <p:txBody>
          <a:bodyPr wrap="square">
            <a:spAutoFit/>
          </a:bodyPr>
          <a:lstStyle/>
          <a:p>
            <a:pPr>
              <a:spcAft>
                <a:spcPts val="800"/>
              </a:spcAft>
            </a:pPr>
            <a:r>
              <a:rPr sz="1800" b="1">
                <a:solidFill>
                  <a:srgbClr val="1F5C99"/>
                </a:solidFill>
                <a:latin typeface="Arial"/>
              </a:rPr>
              <a:t>• </a:t>
            </a:r>
            <a:r>
              <a:rPr sz="1800" b="0">
                <a:solidFill>
                  <a:srgbClr val="222222"/>
                </a:solidFill>
                <a:latin typeface="Arial"/>
              </a:rPr>
              <a:t>Qual abordagem acerta mais?</a:t>
            </a:r>
          </a:p>
          <a:p>
            <a:pPr>
              <a:spcAft>
                <a:spcPts val="800"/>
              </a:spcAft>
            </a:pPr>
            <a:r>
              <a:rPr sz="1800" b="1">
                <a:solidFill>
                  <a:srgbClr val="1F5C99"/>
                </a:solidFill>
                <a:latin typeface="Arial"/>
              </a:rPr>
              <a:t>• </a:t>
            </a:r>
            <a:r>
              <a:rPr sz="1800" b="0">
                <a:solidFill>
                  <a:srgbClr val="222222"/>
                </a:solidFill>
                <a:latin typeface="Arial"/>
              </a:rPr>
              <a:t>Como o acerto muda de um modelo para outro?</a:t>
            </a:r>
          </a:p>
          <a:p>
            <a:pPr>
              <a:spcAft>
                <a:spcPts val="800"/>
              </a:spcAft>
            </a:pPr>
            <a:r>
              <a:rPr sz="1800" b="1">
                <a:solidFill>
                  <a:srgbClr val="1F5C99"/>
                </a:solidFill>
                <a:latin typeface="Arial"/>
              </a:rPr>
              <a:t>• </a:t>
            </a:r>
            <a:r>
              <a:rPr sz="1800" b="0">
                <a:solidFill>
                  <a:srgbClr val="222222"/>
                </a:solidFill>
                <a:latin typeface="Arial"/>
              </a:rPr>
              <a:t>Quanto cada abordagem custa em tokens e em tempo?</a:t>
            </a:r>
          </a:p>
        </p:txBody>
      </p:sp>
      <p:sp>
        <p:nvSpPr>
          <p:cNvPr id="7" name="Rectangle 6"/>
          <p:cNvSpPr/>
          <p:nvPr/>
        </p:nvSpPr>
        <p:spPr>
          <a:xfrm>
            <a:off x="640080" y="4023360"/>
            <a:ext cx="5120640"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069080"/>
            <a:ext cx="4846320" cy="2011680"/>
          </a:xfrm>
          <a:prstGeom prst="rect">
            <a:avLst/>
          </a:prstGeom>
          <a:noFill/>
        </p:spPr>
        <p:txBody>
          <a:bodyPr wrap="square" anchor="t" lIns="45720" rIns="45720">
            <a:spAutoFit/>
          </a:bodyPr>
          <a:lstStyle/>
          <a:p>
            <a:pPr algn="l">
              <a:spcAft>
                <a:spcPts val="500"/>
              </a:spcAft>
            </a:pPr>
            <a:r>
              <a:rPr sz="1600" b="1">
                <a:solidFill>
                  <a:srgbClr val="1F5C99"/>
                </a:solidFill>
                <a:latin typeface="Arial"/>
              </a:rPr>
              <a:t>Contribuições</a:t>
            </a:r>
          </a:p>
          <a:p>
            <a:pPr algn="l">
              <a:spcAft>
                <a:spcPts val="500"/>
              </a:spcAft>
            </a:pPr>
            <a:r>
              <a:rPr sz="1500" b="0">
                <a:solidFill>
                  <a:srgbClr val="222222"/>
                </a:solidFill>
                <a:latin typeface="Arial"/>
              </a:rPr>
              <a:t>Eventos transformados em tabela de ações, com contexto, e em grafo.</a:t>
            </a:r>
          </a:p>
          <a:p>
            <a:pPr algn="l">
              <a:spcAft>
                <a:spcPts val="500"/>
              </a:spcAft>
            </a:pPr>
            <a:r>
              <a:rPr sz="1500" b="0">
                <a:solidFill>
                  <a:srgbClr val="222222"/>
                </a:solidFill>
                <a:latin typeface="Arial"/>
              </a:rPr>
              <a:t>52 perguntas com gabarito.</a:t>
            </a:r>
          </a:p>
          <a:p>
            <a:pPr algn="l">
              <a:spcAft>
                <a:spcPts val="500"/>
              </a:spcAft>
            </a:pPr>
            <a:r>
              <a:rPr sz="1500" b="0">
                <a:solidFill>
                  <a:srgbClr val="222222"/>
                </a:solidFill>
                <a:latin typeface="Arial"/>
              </a:rPr>
              <a:t>6 abordagens em 4 modelos, com as mesmas perguntas, prompt e saída.</a:t>
            </a:r>
          </a:p>
        </p:txBody>
      </p:sp>
      <p:sp>
        <p:nvSpPr>
          <p:cNvPr id="9" name="TextBox 8"/>
          <p:cNvSpPr txBox="1"/>
          <p:nvPr/>
        </p:nvSpPr>
        <p:spPr>
          <a:xfrm>
            <a:off x="6217920" y="1600200"/>
            <a:ext cx="5303520" cy="457200"/>
          </a:xfrm>
          <a:prstGeom prst="rect">
            <a:avLst/>
          </a:prstGeom>
          <a:noFill/>
        </p:spPr>
        <p:txBody>
          <a:bodyPr wrap="square" anchor="t" lIns="45720" rIns="45720">
            <a:spAutoFit/>
          </a:bodyPr>
          <a:lstStyle/>
          <a:p>
            <a:pPr algn="l">
              <a:spcAft>
                <a:spcPts val="600"/>
              </a:spcAft>
            </a:pPr>
            <a:r>
              <a:rPr sz="2000" b="1">
                <a:solidFill>
                  <a:srgbClr val="222222"/>
                </a:solidFill>
                <a:latin typeface="Arial"/>
              </a:rPr>
              <a:t>Exemplos de pergunta do conjunto</a:t>
            </a:r>
          </a:p>
        </p:txBody>
      </p:sp>
      <p:sp>
        <p:nvSpPr>
          <p:cNvPr id="10" name="Rectangle 9"/>
          <p:cNvSpPr/>
          <p:nvPr/>
        </p:nvSpPr>
        <p:spPr>
          <a:xfrm>
            <a:off x="6217920" y="2103120"/>
            <a:ext cx="5303520" cy="11887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2130551"/>
            <a:ext cx="5029200" cy="1143000"/>
          </a:xfrm>
          <a:prstGeom prst="rect">
            <a:avLst/>
          </a:prstGeom>
          <a:noFill/>
        </p:spPr>
        <p:txBody>
          <a:bodyPr wrap="square" anchor="t" lIns="45720" rIns="45720">
            <a:spAutoFit/>
          </a:bodyPr>
          <a:lstStyle/>
          <a:p>
            <a:pPr algn="l">
              <a:spcAft>
                <a:spcPts val="200"/>
              </a:spcAft>
            </a:pPr>
            <a:r>
              <a:rPr sz="1500" b="1">
                <a:solidFill>
                  <a:srgbClr val="1F5C99"/>
                </a:solidFill>
                <a:latin typeface="Arial"/>
              </a:rPr>
              <a:t>Quem passou para quem</a:t>
            </a:r>
          </a:p>
          <a:p>
            <a:pPr algn="l">
              <a:spcAft>
                <a:spcPts val="200"/>
              </a:spcAft>
            </a:pPr>
            <a:r>
              <a:rPr sz="1500" b="0">
                <a:solidFill>
                  <a:srgbClr val="222222"/>
                </a:solidFill>
                <a:latin typeface="Arial"/>
              </a:rPr>
              <a:t>Qual dupla da França mais trocou passes entre si na final?</a:t>
            </a:r>
          </a:p>
        </p:txBody>
      </p:sp>
      <p:sp>
        <p:nvSpPr>
          <p:cNvPr id="12" name="Rectangle 11"/>
          <p:cNvSpPr/>
          <p:nvPr/>
        </p:nvSpPr>
        <p:spPr>
          <a:xfrm>
            <a:off x="6217920" y="3337560"/>
            <a:ext cx="5303520" cy="11887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3364991"/>
            <a:ext cx="5029200" cy="1143000"/>
          </a:xfrm>
          <a:prstGeom prst="rect">
            <a:avLst/>
          </a:prstGeom>
          <a:noFill/>
        </p:spPr>
        <p:txBody>
          <a:bodyPr wrap="square" anchor="t" lIns="45720" rIns="45720">
            <a:spAutoFit/>
          </a:bodyPr>
          <a:lstStyle/>
          <a:p>
            <a:pPr algn="l">
              <a:spcAft>
                <a:spcPts val="200"/>
              </a:spcAft>
            </a:pPr>
            <a:r>
              <a:rPr sz="1500" b="1">
                <a:solidFill>
                  <a:srgbClr val="1F5C99"/>
                </a:solidFill>
                <a:latin typeface="Arial"/>
              </a:rPr>
              <a:t>Ordem das ações em uma jogada</a:t>
            </a:r>
          </a:p>
          <a:p>
            <a:pPr algn="l">
              <a:spcAft>
                <a:spcPts val="200"/>
              </a:spcAft>
            </a:pPr>
            <a:r>
              <a:rPr sz="1500" b="0">
                <a:solidFill>
                  <a:srgbClr val="222222"/>
                </a:solidFill>
                <a:latin typeface="Arial"/>
              </a:rPr>
              <a:t>Qual jogador participou de mais jogadas da Argentina que terminaram em finalização?</a:t>
            </a:r>
          </a:p>
        </p:txBody>
      </p:sp>
      <p:sp>
        <p:nvSpPr>
          <p:cNvPr id="14" name="Rectangle 13"/>
          <p:cNvSpPr/>
          <p:nvPr/>
        </p:nvSpPr>
        <p:spPr>
          <a:xfrm>
            <a:off x="6217920" y="4572000"/>
            <a:ext cx="5303520" cy="11887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4599432"/>
            <a:ext cx="5029200" cy="1143000"/>
          </a:xfrm>
          <a:prstGeom prst="rect">
            <a:avLst/>
          </a:prstGeom>
          <a:noFill/>
        </p:spPr>
        <p:txBody>
          <a:bodyPr wrap="square" anchor="t" lIns="45720" rIns="45720">
            <a:spAutoFit/>
          </a:bodyPr>
          <a:lstStyle/>
          <a:p>
            <a:pPr algn="l">
              <a:spcAft>
                <a:spcPts val="200"/>
              </a:spcAft>
            </a:pPr>
            <a:r>
              <a:rPr sz="1500" b="1">
                <a:solidFill>
                  <a:srgbClr val="1F5C99"/>
                </a:solidFill>
                <a:latin typeface="Arial"/>
              </a:rPr>
              <a:t>Antes e depois de uma substituição</a:t>
            </a:r>
          </a:p>
          <a:p>
            <a:pPr algn="l">
              <a:spcAft>
                <a:spcPts val="200"/>
              </a:spcAft>
            </a:pPr>
            <a:r>
              <a:rPr sz="1500" b="0">
                <a:solidFill>
                  <a:srgbClr val="222222"/>
                </a:solidFill>
                <a:latin typeface="Arial"/>
              </a:rPr>
              <a:t>Depois que Dembélé foi substituído no primeiro tempo, qual companheiro mais passou a bola para Mbappé?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Trabalhos relacionados: cada um avalia uma forma de recuperação por vez</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3 / 15</a:t>
            </a:r>
          </a:p>
        </p:txBody>
      </p:sp>
      <p:graphicFrame>
        <p:nvGraphicFramePr>
          <p:cNvPr id="5" name="Table 4"/>
          <p:cNvGraphicFramePr>
            <a:graphicFrameLocks noGrp="1"/>
          </p:cNvGraphicFramePr>
          <p:nvPr/>
        </p:nvGraphicFramePr>
        <p:xfrm>
          <a:off x="640080" y="1463040"/>
          <a:ext cx="10881360" cy="4754880"/>
        </p:xfrm>
        <a:graphic>
          <a:graphicData uri="http://schemas.openxmlformats.org/drawingml/2006/table">
            <a:tbl>
              <a:tblPr firstRow="0" bandRow="0">
                <a:tableStyleId>{5C22544A-7EE6-4342-B048-85BDC9FD1C3A}</a:tableStyleId>
              </a:tblPr>
              <a:tblGrid>
                <a:gridCol w="2103120"/>
                <a:gridCol w="3017520"/>
                <a:gridCol w="2926080"/>
                <a:gridCol w="2834640"/>
              </a:tblGrid>
              <a:tr h="528320">
                <a:tc>
                  <a:txBody>
                    <a:bodyPr wrap="square"/>
                    <a:lstStyle/>
                    <a:p>
                      <a:pPr algn="l"/>
                      <a:r>
                        <a:rPr sz="1400" b="1">
                          <a:solidFill>
                            <a:srgbClr val="FFFFFF"/>
                          </a:solidFill>
                          <a:latin typeface="Arial"/>
                        </a:rPr>
                        <a:t>Trabalho</a:t>
                      </a:r>
                    </a:p>
                  </a:txBody>
                  <a:tcPr anchor="ctr">
                    <a:solidFill>
                      <a:srgbClr val="222222"/>
                    </a:solidFill>
                  </a:tcPr>
                </a:tc>
                <a:tc>
                  <a:txBody>
                    <a:bodyPr wrap="square"/>
                    <a:lstStyle/>
                    <a:p>
                      <a:pPr algn="l"/>
                      <a:r>
                        <a:rPr sz="1400" b="1">
                          <a:solidFill>
                            <a:srgbClr val="FFFFFF"/>
                          </a:solidFill>
                          <a:latin typeface="Arial"/>
                        </a:rPr>
                        <a:t>Dados</a:t>
                      </a:r>
                    </a:p>
                  </a:txBody>
                  <a:tcPr anchor="ctr">
                    <a:solidFill>
                      <a:srgbClr val="222222"/>
                    </a:solidFill>
                  </a:tcPr>
                </a:tc>
                <a:tc>
                  <a:txBody>
                    <a:bodyPr wrap="square"/>
                    <a:lstStyle/>
                    <a:p>
                      <a:pPr algn="l"/>
                      <a:r>
                        <a:rPr sz="1400" b="1">
                          <a:solidFill>
                            <a:srgbClr val="FFFFFF"/>
                          </a:solidFill>
                          <a:latin typeface="Arial"/>
                        </a:rPr>
                        <a:t>Formas de recuperação</a:t>
                      </a:r>
                    </a:p>
                  </a:txBody>
                  <a:tcPr anchor="ctr">
                    <a:solidFill>
                      <a:srgbClr val="222222"/>
                    </a:solidFill>
                  </a:tcPr>
                </a:tc>
                <a:tc>
                  <a:txBody>
                    <a:bodyPr wrap="square"/>
                    <a:lstStyle/>
                    <a:p>
                      <a:pPr algn="l"/>
                      <a:r>
                        <a:rPr sz="1400" b="1">
                          <a:solidFill>
                            <a:srgbClr val="FFFFFF"/>
                          </a:solidFill>
                          <a:latin typeface="Arial"/>
                        </a:rPr>
                        <a:t>Conferência</a:t>
                      </a:r>
                    </a:p>
                  </a:txBody>
                  <a:tcPr anchor="ctr">
                    <a:solidFill>
                      <a:srgbClr val="222222"/>
                    </a:solidFill>
                  </a:tcPr>
                </a:tc>
              </a:tr>
              <a:tr h="528320">
                <a:tc>
                  <a:txBody>
                    <a:bodyPr wrap="square"/>
                    <a:lstStyle/>
                    <a:p>
                      <a:pPr algn="l"/>
                      <a:r>
                        <a:rPr sz="1400" b="1">
                          <a:solidFill>
                            <a:srgbClr val="222222"/>
                          </a:solidFill>
                          <a:latin typeface="Arial"/>
                        </a:rPr>
                        <a:t>SportQA</a:t>
                      </a:r>
                    </a:p>
                  </a:txBody>
                  <a:tcPr anchor="ctr">
                    <a:solidFill>
                      <a:srgbClr val="FFFFFF"/>
                    </a:solidFill>
                  </a:tcPr>
                </a:tc>
                <a:tc>
                  <a:txBody>
                    <a:bodyPr wrap="square"/>
                    <a:lstStyle/>
                    <a:p>
                      <a:pPr algn="l"/>
                      <a:r>
                        <a:rPr sz="1400" b="0">
                          <a:solidFill>
                            <a:srgbClr val="222222"/>
                          </a:solidFill>
                          <a:latin typeface="Arial"/>
                        </a:rPr>
                        <a:t>nenhum (memória do modelo)</a:t>
                      </a:r>
                    </a:p>
                  </a:txBody>
                  <a:tcPr anchor="ctr">
                    <a:solidFill>
                      <a:srgbClr val="FFFFFF"/>
                    </a:solidFill>
                  </a:tcPr>
                </a:tc>
                <a:tc>
                  <a:txBody>
                    <a:bodyPr wrap="square"/>
                    <a:lstStyle/>
                    <a:p>
                      <a:pPr algn="l"/>
                      <a:r>
                        <a:rPr sz="1400" b="0">
                          <a:solidFill>
                            <a:srgbClr val="222222"/>
                          </a:solidFill>
                          <a:latin typeface="Arial"/>
                        </a:rPr>
                        <a:t>nenhuma</a:t>
                      </a:r>
                    </a:p>
                  </a:txBody>
                  <a:tcPr anchor="ctr">
                    <a:solidFill>
                      <a:srgbClr val="FFFFFF"/>
                    </a:solidFill>
                  </a:tcPr>
                </a:tc>
                <a:tc>
                  <a:txBody>
                    <a:bodyPr wrap="square"/>
                    <a:lstStyle/>
                    <a:p>
                      <a:pPr algn="l"/>
                      <a:r>
                        <a:rPr sz="1400" b="0">
                          <a:solidFill>
                            <a:srgbClr val="222222"/>
                          </a:solidFill>
                          <a:latin typeface="Arial"/>
                        </a:rPr>
                        <a:t>múltipla escolha</a:t>
                      </a:r>
                    </a:p>
                  </a:txBody>
                  <a:tcPr anchor="ctr">
                    <a:solidFill>
                      <a:srgbClr val="FFFFFF"/>
                    </a:solidFill>
                  </a:tcPr>
                </a:tc>
              </a:tr>
              <a:tr h="528320">
                <a:tc>
                  <a:txBody>
                    <a:bodyPr wrap="square"/>
                    <a:lstStyle/>
                    <a:p>
                      <a:pPr algn="l"/>
                      <a:r>
                        <a:rPr sz="1400" b="1">
                          <a:solidFill>
                            <a:srgbClr val="222222"/>
                          </a:solidFill>
                          <a:latin typeface="Arial"/>
                        </a:rPr>
                        <a:t>SoccerAgent</a:t>
                      </a:r>
                    </a:p>
                  </a:txBody>
                  <a:tcPr anchor="ctr">
                    <a:solidFill>
                      <a:srgbClr val="F2F2F2"/>
                    </a:solidFill>
                  </a:tcPr>
                </a:tc>
                <a:tc>
                  <a:txBody>
                    <a:bodyPr wrap="square"/>
                    <a:lstStyle/>
                    <a:p>
                      <a:pPr algn="l"/>
                      <a:r>
                        <a:rPr sz="1400" b="0">
                          <a:solidFill>
                            <a:srgbClr val="222222"/>
                          </a:solidFill>
                          <a:latin typeface="Arial"/>
                        </a:rPr>
                        <a:t>base de conhecimento, imagens e vídeos</a:t>
                      </a:r>
                    </a:p>
                  </a:txBody>
                  <a:tcPr anchor="ctr">
                    <a:solidFill>
                      <a:srgbClr val="F2F2F2"/>
                    </a:solidFill>
                  </a:tcPr>
                </a:tc>
                <a:tc>
                  <a:txBody>
                    <a:bodyPr wrap="square"/>
                    <a:lstStyle/>
                    <a:p>
                      <a:pPr algn="l"/>
                      <a:r>
                        <a:rPr sz="1400" b="0">
                          <a:solidFill>
                            <a:srgbClr val="222222"/>
                          </a:solidFill>
                          <a:latin typeface="Arial"/>
                        </a:rPr>
                        <a:t>uma (agente com ferramentas)</a:t>
                      </a:r>
                    </a:p>
                  </a:txBody>
                  <a:tcPr anchor="ctr">
                    <a:solidFill>
                      <a:srgbClr val="F2F2F2"/>
                    </a:solidFill>
                  </a:tcPr>
                </a:tc>
                <a:tc>
                  <a:txBody>
                    <a:bodyPr wrap="square"/>
                    <a:lstStyle/>
                    <a:p>
                      <a:pPr algn="l"/>
                      <a:r>
                        <a:rPr sz="1400" b="0">
                          <a:solidFill>
                            <a:srgbClr val="222222"/>
                          </a:solidFill>
                          <a:latin typeface="Arial"/>
                        </a:rPr>
                        <a:t>múltipla escolha</a:t>
                      </a:r>
                    </a:p>
                  </a:txBody>
                  <a:tcPr anchor="ctr">
                    <a:solidFill>
                      <a:srgbClr val="F2F2F2"/>
                    </a:solidFill>
                  </a:tcPr>
                </a:tc>
              </a:tr>
              <a:tr h="528320">
                <a:tc>
                  <a:txBody>
                    <a:bodyPr wrap="square"/>
                    <a:lstStyle/>
                    <a:p>
                      <a:pPr algn="l"/>
                      <a:r>
                        <a:rPr sz="1400" b="1">
                          <a:solidFill>
                            <a:srgbClr val="222222"/>
                          </a:solidFill>
                          <a:latin typeface="Arial"/>
                        </a:rPr>
                        <a:t>SoccerRAG</a:t>
                      </a:r>
                    </a:p>
                  </a:txBody>
                  <a:tcPr anchor="ctr">
                    <a:solidFill>
                      <a:srgbClr val="FFFFFF"/>
                    </a:solidFill>
                  </a:tcPr>
                </a:tc>
                <a:tc>
                  <a:txBody>
                    <a:bodyPr wrap="square"/>
                    <a:lstStyle/>
                    <a:p>
                      <a:pPr algn="l"/>
                      <a:r>
                        <a:rPr sz="1400" b="0">
                          <a:solidFill>
                            <a:srgbClr val="222222"/>
                          </a:solidFill>
                          <a:latin typeface="Arial"/>
                        </a:rPr>
                        <a:t>anotações e comentários de partidas</a:t>
                      </a:r>
                    </a:p>
                  </a:txBody>
                  <a:tcPr anchor="ctr">
                    <a:solidFill>
                      <a:srgbClr val="FFFFFF"/>
                    </a:solidFill>
                  </a:tcPr>
                </a:tc>
                <a:tc>
                  <a:txBody>
                    <a:bodyPr wrap="square"/>
                    <a:lstStyle/>
                    <a:p>
                      <a:pPr algn="l"/>
                      <a:r>
                        <a:rPr sz="1400" b="0">
                          <a:solidFill>
                            <a:srgbClr val="222222"/>
                          </a:solidFill>
                          <a:latin typeface="Arial"/>
                        </a:rPr>
                        <a:t>uma (SQL), em seis configurações</a:t>
                      </a:r>
                    </a:p>
                  </a:txBody>
                  <a:tcPr anchor="ctr">
                    <a:solidFill>
                      <a:srgbClr val="FFFFFF"/>
                    </a:solidFill>
                  </a:tcPr>
                </a:tc>
                <a:tc>
                  <a:txBody>
                    <a:bodyPr wrap="square"/>
                    <a:lstStyle/>
                    <a:p>
                      <a:pPr algn="l"/>
                      <a:r>
                        <a:rPr sz="1400" b="0">
                          <a:solidFill>
                            <a:srgbClr val="222222"/>
                          </a:solidFill>
                          <a:latin typeface="Arial"/>
                        </a:rPr>
                        <a:t>manual, contra SQL escrito à mão</a:t>
                      </a:r>
                    </a:p>
                  </a:txBody>
                  <a:tcPr anchor="ctr">
                    <a:solidFill>
                      <a:srgbClr val="FFFFFF"/>
                    </a:solidFill>
                  </a:tcPr>
                </a:tc>
              </a:tr>
              <a:tr h="528320">
                <a:tc>
                  <a:txBody>
                    <a:bodyPr wrap="square"/>
                    <a:lstStyle/>
                    <a:p>
                      <a:pPr algn="l"/>
                      <a:r>
                        <a:rPr sz="1400" b="1">
                          <a:solidFill>
                            <a:srgbClr val="222222"/>
                          </a:solidFill>
                          <a:latin typeface="Arial"/>
                        </a:rPr>
                        <a:t>SPORTSQL</a:t>
                      </a:r>
                    </a:p>
                  </a:txBody>
                  <a:tcPr anchor="ctr">
                    <a:solidFill>
                      <a:srgbClr val="F2F2F2"/>
                    </a:solidFill>
                  </a:tcPr>
                </a:tc>
                <a:tc>
                  <a:txBody>
                    <a:bodyPr wrap="square"/>
                    <a:lstStyle/>
                    <a:p>
                      <a:pPr algn="l"/>
                      <a:r>
                        <a:rPr sz="1400" b="0">
                          <a:solidFill>
                            <a:srgbClr val="222222"/>
                          </a:solidFill>
                          <a:latin typeface="Arial"/>
                        </a:rPr>
                        <a:t>estatísticas de jogadores e times</a:t>
                      </a:r>
                    </a:p>
                  </a:txBody>
                  <a:tcPr anchor="ctr">
                    <a:solidFill>
                      <a:srgbClr val="F2F2F2"/>
                    </a:solidFill>
                  </a:tcPr>
                </a:tc>
                <a:tc>
                  <a:txBody>
                    <a:bodyPr wrap="square"/>
                    <a:lstStyle/>
                    <a:p>
                      <a:pPr algn="l"/>
                      <a:r>
                        <a:rPr sz="1400" b="0">
                          <a:solidFill>
                            <a:srgbClr val="222222"/>
                          </a:solidFill>
                          <a:latin typeface="Arial"/>
                        </a:rPr>
                        <a:t>uma (SQL)</a:t>
                      </a:r>
                    </a:p>
                  </a:txBody>
                  <a:tcPr anchor="ctr">
                    <a:solidFill>
                      <a:srgbClr val="F2F2F2"/>
                    </a:solidFill>
                  </a:tcPr>
                </a:tc>
                <a:tc>
                  <a:txBody>
                    <a:bodyPr wrap="square"/>
                    <a:lstStyle/>
                    <a:p>
                      <a:pPr algn="l"/>
                      <a:r>
                        <a:rPr sz="1400" b="0">
                          <a:solidFill>
                            <a:srgbClr val="222222"/>
                          </a:solidFill>
                          <a:latin typeface="Arial"/>
                        </a:rPr>
                        <a:t>resposta de referência e LLM como juiz</a:t>
                      </a:r>
                    </a:p>
                  </a:txBody>
                  <a:tcPr anchor="ctr">
                    <a:solidFill>
                      <a:srgbClr val="F2F2F2"/>
                    </a:solidFill>
                  </a:tcPr>
                </a:tc>
              </a:tr>
              <a:tr h="528320">
                <a:tc>
                  <a:txBody>
                    <a:bodyPr wrap="square"/>
                    <a:lstStyle/>
                    <a:p>
                      <a:pPr algn="l"/>
                      <a:r>
                        <a:rPr sz="1400" b="1">
                          <a:solidFill>
                            <a:srgbClr val="222222"/>
                          </a:solidFill>
                          <a:latin typeface="Arial"/>
                        </a:rPr>
                        <a:t>Tzikas et al.</a:t>
                      </a:r>
                    </a:p>
                  </a:txBody>
                  <a:tcPr anchor="ctr">
                    <a:solidFill>
                      <a:srgbClr val="FFFFFF"/>
                    </a:solidFill>
                  </a:tcPr>
                </a:tc>
                <a:tc>
                  <a:txBody>
                    <a:bodyPr wrap="square"/>
                    <a:lstStyle/>
                    <a:p>
                      <a:pPr algn="l"/>
                      <a:r>
                        <a:rPr sz="1400" b="0">
                          <a:solidFill>
                            <a:srgbClr val="222222"/>
                          </a:solidFill>
                          <a:latin typeface="Arial"/>
                        </a:rPr>
                        <a:t>eventos de partidas</a:t>
                      </a:r>
                    </a:p>
                  </a:txBody>
                  <a:tcPr anchor="ctr">
                    <a:solidFill>
                      <a:srgbClr val="FFFFFF"/>
                    </a:solidFill>
                  </a:tcPr>
                </a:tc>
                <a:tc>
                  <a:txBody>
                    <a:bodyPr wrap="square"/>
                    <a:lstStyle/>
                    <a:p>
                      <a:pPr algn="l"/>
                      <a:r>
                        <a:rPr sz="1400" b="0">
                          <a:solidFill>
                            <a:srgbClr val="222222"/>
                          </a:solidFill>
                          <a:latin typeface="Arial"/>
                        </a:rPr>
                        <a:t>uma (recuperação vetorial)</a:t>
                      </a:r>
                    </a:p>
                  </a:txBody>
                  <a:tcPr anchor="ctr">
                    <a:solidFill>
                      <a:srgbClr val="FFFFFF"/>
                    </a:solidFill>
                  </a:tcPr>
                </a:tc>
                <a:tc>
                  <a:txBody>
                    <a:bodyPr wrap="square"/>
                    <a:lstStyle/>
                    <a:p>
                      <a:pPr algn="l"/>
                      <a:r>
                        <a:rPr sz="1400" b="0">
                          <a:solidFill>
                            <a:srgbClr val="222222"/>
                          </a:solidFill>
                          <a:latin typeface="Arial"/>
                        </a:rPr>
                        <a:t>LLM como juiz</a:t>
                      </a:r>
                    </a:p>
                  </a:txBody>
                  <a:tcPr anchor="ctr">
                    <a:solidFill>
                      <a:srgbClr val="FFFFFF"/>
                    </a:solidFill>
                  </a:tcPr>
                </a:tc>
              </a:tr>
              <a:tr h="528320">
                <a:tc>
                  <a:txBody>
                    <a:bodyPr wrap="square"/>
                    <a:lstStyle/>
                    <a:p>
                      <a:pPr algn="l"/>
                      <a:r>
                        <a:rPr sz="1400" b="1">
                          <a:solidFill>
                            <a:srgbClr val="222222"/>
                          </a:solidFill>
                          <a:latin typeface="Arial"/>
                        </a:rPr>
                        <a:t>Li et al.</a:t>
                      </a:r>
                    </a:p>
                  </a:txBody>
                  <a:tcPr anchor="ctr">
                    <a:solidFill>
                      <a:srgbClr val="F2F2F2"/>
                    </a:solidFill>
                  </a:tcPr>
                </a:tc>
                <a:tc>
                  <a:txBody>
                    <a:bodyPr wrap="square"/>
                    <a:lstStyle/>
                    <a:p>
                      <a:pPr algn="l"/>
                      <a:r>
                        <a:rPr sz="1400" b="0">
                          <a:solidFill>
                            <a:srgbClr val="222222"/>
                          </a:solidFill>
                          <a:latin typeface="Arial"/>
                        </a:rPr>
                        <a:t>textos gerais</a:t>
                      </a:r>
                    </a:p>
                  </a:txBody>
                  <a:tcPr anchor="ctr">
                    <a:solidFill>
                      <a:srgbClr val="F2F2F2"/>
                    </a:solidFill>
                  </a:tcPr>
                </a:tc>
                <a:tc>
                  <a:txBody>
                    <a:bodyPr wrap="square"/>
                    <a:lstStyle/>
                    <a:p>
                      <a:pPr algn="l"/>
                      <a:r>
                        <a:rPr sz="1400" b="0">
                          <a:solidFill>
                            <a:srgbClr val="222222"/>
                          </a:solidFill>
                          <a:latin typeface="Arial"/>
                        </a:rPr>
                        <a:t>duas (recuperação e contexto longo)</a:t>
                      </a:r>
                    </a:p>
                  </a:txBody>
                  <a:tcPr anchor="ctr">
                    <a:solidFill>
                      <a:srgbClr val="F2F2F2"/>
                    </a:solidFill>
                  </a:tcPr>
                </a:tc>
                <a:tc>
                  <a:txBody>
                    <a:bodyPr wrap="square"/>
                    <a:lstStyle/>
                    <a:p>
                      <a:pPr algn="l"/>
                      <a:r>
                        <a:rPr sz="1400" b="0">
                          <a:solidFill>
                            <a:srgbClr val="222222"/>
                          </a:solidFill>
                          <a:latin typeface="Arial"/>
                        </a:rPr>
                        <a:t>métricas dos conjuntos</a:t>
                      </a:r>
                    </a:p>
                  </a:txBody>
                  <a:tcPr anchor="ctr">
                    <a:solidFill>
                      <a:srgbClr val="F2F2F2"/>
                    </a:solidFill>
                  </a:tcPr>
                </a:tc>
              </a:tr>
              <a:tr h="528320">
                <a:tc>
                  <a:txBody>
                    <a:bodyPr wrap="square"/>
                    <a:lstStyle/>
                    <a:p>
                      <a:pPr algn="l"/>
                      <a:r>
                        <a:rPr sz="1400" b="1">
                          <a:solidFill>
                            <a:srgbClr val="222222"/>
                          </a:solidFill>
                          <a:latin typeface="Arial"/>
                        </a:rPr>
                        <a:t>LOFT</a:t>
                      </a:r>
                    </a:p>
                  </a:txBody>
                  <a:tcPr anchor="ctr">
                    <a:solidFill>
                      <a:srgbClr val="FFFFFF"/>
                    </a:solidFill>
                  </a:tcPr>
                </a:tc>
                <a:tc>
                  <a:txBody>
                    <a:bodyPr wrap="square"/>
                    <a:lstStyle/>
                    <a:p>
                      <a:pPr algn="l"/>
                      <a:r>
                        <a:rPr sz="1400" b="0">
                          <a:solidFill>
                            <a:srgbClr val="222222"/>
                          </a:solidFill>
                          <a:latin typeface="Arial"/>
                        </a:rPr>
                        <a:t>textos, tabelas, imagens e áudio</a:t>
                      </a:r>
                    </a:p>
                  </a:txBody>
                  <a:tcPr anchor="ctr">
                    <a:solidFill>
                      <a:srgbClr val="FFFFFF"/>
                    </a:solidFill>
                  </a:tcPr>
                </a:tc>
                <a:tc>
                  <a:txBody>
                    <a:bodyPr wrap="square"/>
                    <a:lstStyle/>
                    <a:p>
                      <a:pPr algn="l"/>
                      <a:r>
                        <a:rPr sz="1400" b="0">
                          <a:solidFill>
                            <a:srgbClr val="222222"/>
                          </a:solidFill>
                          <a:latin typeface="Arial"/>
                        </a:rPr>
                        <a:t>contexto longo contra sistemas especializados</a:t>
                      </a:r>
                    </a:p>
                  </a:txBody>
                  <a:tcPr anchor="ctr">
                    <a:solidFill>
                      <a:srgbClr val="FFFFFF"/>
                    </a:solidFill>
                  </a:tcPr>
                </a:tc>
                <a:tc>
                  <a:txBody>
                    <a:bodyPr wrap="square"/>
                    <a:lstStyle/>
                    <a:p>
                      <a:pPr algn="l"/>
                      <a:r>
                        <a:rPr sz="1400" b="0">
                          <a:solidFill>
                            <a:srgbClr val="222222"/>
                          </a:solidFill>
                          <a:latin typeface="Arial"/>
                        </a:rPr>
                        <a:t>métricas dos conjuntos</a:t>
                      </a:r>
                    </a:p>
                  </a:txBody>
                  <a:tcPr anchor="ctr">
                    <a:solidFill>
                      <a:srgbClr val="FFFFFF"/>
                    </a:solidFill>
                  </a:tcPr>
                </a:tc>
              </a:tr>
              <a:tr h="528320">
                <a:tc>
                  <a:txBody>
                    <a:bodyPr wrap="square"/>
                    <a:lstStyle/>
                    <a:p>
                      <a:pPr algn="l"/>
                      <a:r>
                        <a:rPr sz="1400" b="1">
                          <a:solidFill>
                            <a:srgbClr val="222222"/>
                          </a:solidFill>
                          <a:latin typeface="Arial"/>
                        </a:rPr>
                        <a:t>Este trabalho</a:t>
                      </a:r>
                    </a:p>
                  </a:txBody>
                  <a:tcPr anchor="ctr">
                    <a:solidFill>
                      <a:srgbClr val="E6EEF6"/>
                    </a:solidFill>
                  </a:tcPr>
                </a:tc>
                <a:tc>
                  <a:txBody>
                    <a:bodyPr wrap="square"/>
                    <a:lstStyle/>
                    <a:p>
                      <a:pPr algn="l"/>
                      <a:r>
                        <a:rPr sz="1400" b="0">
                          <a:solidFill>
                            <a:srgbClr val="222222"/>
                          </a:solidFill>
                          <a:latin typeface="Arial"/>
                        </a:rPr>
                        <a:t>eventos de uma partida</a:t>
                      </a:r>
                    </a:p>
                  </a:txBody>
                  <a:tcPr anchor="ctr">
                    <a:solidFill>
                      <a:srgbClr val="E6EEF6"/>
                    </a:solidFill>
                  </a:tcPr>
                </a:tc>
                <a:tc>
                  <a:txBody>
                    <a:bodyPr wrap="square"/>
                    <a:lstStyle/>
                    <a:p>
                      <a:pPr algn="l"/>
                      <a:r>
                        <a:rPr sz="1400" b="0">
                          <a:solidFill>
                            <a:srgbClr val="222222"/>
                          </a:solidFill>
                          <a:latin typeface="Arial"/>
                        </a:rPr>
                        <a:t>6 abordagens, com as mesmas perguntas</a:t>
                      </a:r>
                    </a:p>
                  </a:txBody>
                  <a:tcPr anchor="ctr">
                    <a:solidFill>
                      <a:srgbClr val="E6EEF6"/>
                    </a:solidFill>
                  </a:tcPr>
                </a:tc>
                <a:tc>
                  <a:txBody>
                    <a:bodyPr wrap="square"/>
                    <a:lstStyle/>
                    <a:p>
                      <a:pPr algn="l"/>
                      <a:r>
                        <a:rPr sz="1400" b="0">
                          <a:solidFill>
                            <a:srgbClr val="222222"/>
                          </a:solidFill>
                          <a:latin typeface="Arial"/>
                        </a:rPr>
                        <a:t>por código, contra gabarito calculado por código</a:t>
                      </a:r>
                    </a:p>
                  </a:txBody>
                  <a:tcPr anchor="ctr">
                    <a:solidFill>
                      <a:srgbClr val="E6EEF6"/>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Os dados: eventos da StatsBomb da final de 2022, em JSON</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4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Exemplo resumido: o passe de Mac Allister e o gol de Di María (docs/02 e Figura 1 do artigo).</a:t>
            </a:r>
          </a:p>
        </p:txBody>
      </p:sp>
      <p:sp>
        <p:nvSpPr>
          <p:cNvPr id="6" name="Rectangle 5"/>
          <p:cNvSpPr/>
          <p:nvPr/>
        </p:nvSpPr>
        <p:spPr>
          <a:xfrm>
            <a:off x="640080" y="1554480"/>
            <a:ext cx="6492240" cy="30175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91640"/>
            <a:ext cx="6217920" cy="3200400"/>
          </a:xfrm>
          <a:prstGeom prst="rect">
            <a:avLst/>
          </a:prstGeom>
          <a:noFill/>
        </p:spPr>
        <p:txBody>
          <a:bodyPr wrap="square">
            <a:spAutoFit/>
          </a:bodyPr>
          <a:lstStyle/>
          <a:p>
            <a:r>
              <a:rPr sz="1400">
                <a:solidFill>
                  <a:srgbClr val="E8E8E8"/>
                </a:solidFill>
                <a:latin typeface="Courier New"/>
              </a:rPr>
              <a:t>{ "type": "Pass", "minute": 35, "second": 20,</a:t>
            </a:r>
          </a:p>
          <a:p>
            <a:r>
              <a:rPr sz="1400">
                <a:solidFill>
                  <a:srgbClr val="E8E8E8"/>
                </a:solidFill>
                <a:latin typeface="Courier New"/>
              </a:rPr>
              <a:t>  "player": "Alexis Mac Allister",</a:t>
            </a:r>
          </a:p>
          <a:p>
            <a:r>
              <a:rPr sz="1400">
                <a:solidFill>
                  <a:srgbClr val="E8E8E8"/>
                </a:solidFill>
                <a:latin typeface="Courier New"/>
              </a:rPr>
              <a:t>  "pass": { "recipient": "Ángel Fabián Di María",</a:t>
            </a:r>
          </a:p>
          <a:p>
            <a:r>
              <a:rPr sz="1400">
                <a:solidFill>
                  <a:srgbClr val="E8E8E8"/>
                </a:solidFill>
                <a:latin typeface="Courier New"/>
              </a:rPr>
              <a:t>            "goal_assist": true } }</a:t>
            </a:r>
          </a:p>
          <a:p>
            <a:r>
              <a:rPr sz="1400">
                <a:solidFill>
                  <a:srgbClr val="E8E8E8"/>
                </a:solidFill>
                <a:latin typeface="Courier New"/>
              </a:rPr>
              <a:t> </a:t>
            </a:r>
          </a:p>
          <a:p>
            <a:r>
              <a:rPr sz="1400">
                <a:solidFill>
                  <a:srgbClr val="E8E8E8"/>
                </a:solidFill>
                <a:latin typeface="Courier New"/>
              </a:rPr>
              <a:t>{ "type": "Shot", "minute": 35, "second": 22,</a:t>
            </a:r>
          </a:p>
          <a:p>
            <a:r>
              <a:rPr sz="1400">
                <a:solidFill>
                  <a:srgbClr val="E8E8E8"/>
                </a:solidFill>
                <a:latin typeface="Courier New"/>
              </a:rPr>
              <a:t>  "team": "Argentina",</a:t>
            </a:r>
          </a:p>
          <a:p>
            <a:r>
              <a:rPr sz="1400">
                <a:solidFill>
                  <a:srgbClr val="E8E8E8"/>
                </a:solidFill>
                <a:latin typeface="Courier New"/>
              </a:rPr>
              <a:t>  "player": "Ángel Fabián Di María",</a:t>
            </a:r>
          </a:p>
          <a:p>
            <a:r>
              <a:rPr sz="1400">
                <a:solidFill>
                  <a:srgbClr val="E8E8E8"/>
                </a:solidFill>
                <a:latin typeface="Courier New"/>
              </a:rPr>
              <a:t>  "shot": { "outcome": "Goal",</a:t>
            </a:r>
          </a:p>
          <a:p>
            <a:r>
              <a:rPr sz="1400">
                <a:solidFill>
                  <a:srgbClr val="E8E8E8"/>
                </a:solidFill>
                <a:latin typeface="Courier New"/>
              </a:rPr>
              <a:t>            "body_part": "Left Foot" } }</a:t>
            </a:r>
          </a:p>
        </p:txBody>
      </p:sp>
      <p:sp>
        <p:nvSpPr>
          <p:cNvPr id="8" name="TextBox 7"/>
          <p:cNvSpPr txBox="1"/>
          <p:nvPr/>
        </p:nvSpPr>
        <p:spPr>
          <a:xfrm>
            <a:off x="7406640" y="1554480"/>
            <a:ext cx="4206240" cy="4572000"/>
          </a:xfrm>
          <a:prstGeom prst="rect">
            <a:avLst/>
          </a:prstGeom>
          <a:noFill/>
        </p:spPr>
        <p:txBody>
          <a:bodyPr wrap="square">
            <a:spAutoFit/>
          </a:bodyPr>
          <a:lstStyle/>
          <a:p>
            <a:pPr>
              <a:spcAft>
                <a:spcPts val="1000"/>
              </a:spcAft>
            </a:pPr>
            <a:r>
              <a:rPr sz="1600" b="1">
                <a:solidFill>
                  <a:srgbClr val="1F5C99"/>
                </a:solidFill>
                <a:latin typeface="Arial"/>
              </a:rPr>
              <a:t>• </a:t>
            </a:r>
            <a:r>
              <a:rPr sz="1600" b="1">
                <a:solidFill>
                  <a:srgbClr val="222222"/>
                </a:solidFill>
                <a:latin typeface="Arial"/>
              </a:rPr>
              <a:t>Fonte: </a:t>
            </a:r>
            <a:r>
              <a:rPr sz="1600" b="0">
                <a:solidFill>
                  <a:srgbClr val="222222"/>
                </a:solidFill>
                <a:latin typeface="Arial"/>
              </a:rPr>
              <a:t>StatsBomb Open Data, lista de eventos e escalações da partida.</a:t>
            </a:r>
          </a:p>
          <a:p>
            <a:pPr>
              <a:spcAft>
                <a:spcPts val="1000"/>
              </a:spcAft>
            </a:pPr>
            <a:r>
              <a:rPr sz="1600" b="1">
                <a:solidFill>
                  <a:srgbClr val="1F5C99"/>
                </a:solidFill>
                <a:latin typeface="Arial"/>
              </a:rPr>
              <a:t>• </a:t>
            </a:r>
            <a:r>
              <a:rPr sz="1600" b="1">
                <a:solidFill>
                  <a:srgbClr val="222222"/>
                </a:solidFill>
                <a:latin typeface="Arial"/>
              </a:rPr>
              <a:t>4.407 eventos, </a:t>
            </a:r>
            <a:r>
              <a:rPr sz="1600" b="0">
                <a:solidFill>
                  <a:srgbClr val="222222"/>
                </a:solidFill>
                <a:latin typeface="Arial"/>
              </a:rPr>
              <a:t>cada um com tipo, tempo, time, jogador e posição.</a:t>
            </a:r>
          </a:p>
          <a:p>
            <a:pPr>
              <a:spcAft>
                <a:spcPts val="1000"/>
              </a:spcAft>
            </a:pPr>
            <a:r>
              <a:rPr sz="1600" b="1">
                <a:solidFill>
                  <a:srgbClr val="1F5C99"/>
                </a:solidFill>
                <a:latin typeface="Arial"/>
              </a:rPr>
              <a:t>• </a:t>
            </a:r>
            <a:r>
              <a:rPr sz="1600" b="1">
                <a:solidFill>
                  <a:srgbClr val="222222"/>
                </a:solidFill>
                <a:latin typeface="Arial"/>
              </a:rPr>
              <a:t>Campos próprios por tipo: </a:t>
            </a:r>
            <a:r>
              <a:rPr sz="1600" b="0">
                <a:solidFill>
                  <a:srgbClr val="222222"/>
                </a:solidFill>
                <a:latin typeface="Arial"/>
              </a:rPr>
              <a:t>o passe traz o recebedor; a finalização, o resultado.</a:t>
            </a:r>
          </a:p>
          <a:p>
            <a:pPr>
              <a:spcAft>
                <a:spcPts val="1000"/>
              </a:spcAft>
            </a:pPr>
            <a:r>
              <a:rPr sz="1600" b="1">
                <a:solidFill>
                  <a:srgbClr val="1F5C99"/>
                </a:solidFill>
                <a:latin typeface="Arial"/>
              </a:rPr>
              <a:t>• </a:t>
            </a:r>
            <a:r>
              <a:rPr sz="1600" b="1">
                <a:solidFill>
                  <a:srgbClr val="222222"/>
                </a:solidFill>
                <a:latin typeface="Arial"/>
              </a:rPr>
              <a:t>Mesma informação em lugares diferentes: </a:t>
            </a:r>
            <a:r>
              <a:rPr sz="1600" b="0">
                <a:solidFill>
                  <a:srgbClr val="222222"/>
                </a:solidFill>
                <a:latin typeface="Arial"/>
              </a:rPr>
              <a:t>o cartão amarelo vem na falta ou em outro evento.</a:t>
            </a:r>
          </a:p>
          <a:p>
            <a:pPr>
              <a:spcAft>
                <a:spcPts val="1000"/>
              </a:spcAft>
            </a:pPr>
            <a:r>
              <a:rPr sz="1600" b="1">
                <a:solidFill>
                  <a:srgbClr val="1F5C99"/>
                </a:solidFill>
                <a:latin typeface="Arial"/>
              </a:rPr>
              <a:t>• </a:t>
            </a:r>
            <a:r>
              <a:rPr sz="1600" b="1">
                <a:solidFill>
                  <a:srgbClr val="222222"/>
                </a:solidFill>
                <a:latin typeface="Arial"/>
              </a:rPr>
              <a:t>Nome de registro e minuto decorrido: </a:t>
            </a:r>
            <a:r>
              <a:rPr sz="1600" b="0">
                <a:solidFill>
                  <a:srgbClr val="222222"/>
                </a:solidFill>
                <a:latin typeface="Arial"/>
              </a:rPr>
              <a:t>o gol aos 35 aparece como 36 na transmissão.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Do JSON à tabela de ações: um vocabulário fechado, com contexto acrescentado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5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Pênaltis fora da tabela. Fonte: Tabela 1 do artigo e docs/09.</a:t>
            </a:r>
          </a:p>
        </p:txBody>
      </p:sp>
      <p:sp>
        <p:nvSpPr>
          <p:cNvPr id="6" name="Rectangle 5"/>
          <p:cNvSpPr/>
          <p:nvPr/>
        </p:nvSpPr>
        <p:spPr>
          <a:xfrm>
            <a:off x="640080" y="1417320"/>
            <a:ext cx="3017520" cy="777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44752"/>
            <a:ext cx="2834640" cy="731520"/>
          </a:xfrm>
          <a:prstGeom prst="rect">
            <a:avLst/>
          </a:prstGeom>
          <a:noFill/>
        </p:spPr>
        <p:txBody>
          <a:bodyPr wrap="square" anchor="t" lIns="45720" rIns="45720">
            <a:spAutoFit/>
          </a:bodyPr>
          <a:lstStyle/>
          <a:p>
            <a:pPr algn="l">
              <a:spcAft>
                <a:spcPts val="0"/>
              </a:spcAft>
            </a:pPr>
            <a:r>
              <a:rPr sz="1400" b="1">
                <a:solidFill>
                  <a:srgbClr val="666666"/>
                </a:solidFill>
                <a:latin typeface="Arial"/>
              </a:rPr>
              <a:t>JSON bruto</a:t>
            </a:r>
          </a:p>
          <a:p>
            <a:pPr algn="l">
              <a:spcAft>
                <a:spcPts val="0"/>
              </a:spcAft>
            </a:pPr>
            <a:r>
              <a:rPr sz="2000" b="1">
                <a:solidFill>
                  <a:srgbClr val="222222"/>
                </a:solidFill>
                <a:latin typeface="Arial"/>
              </a:rPr>
              <a:t>4.407 eventos</a:t>
            </a:r>
          </a:p>
        </p:txBody>
      </p:sp>
      <p:sp>
        <p:nvSpPr>
          <p:cNvPr id="8" name="TextBox 7"/>
          <p:cNvSpPr txBox="1"/>
          <p:nvPr/>
        </p:nvSpPr>
        <p:spPr>
          <a:xfrm>
            <a:off x="3657600" y="1508760"/>
            <a:ext cx="731520" cy="640080"/>
          </a:xfrm>
          <a:prstGeom prst="rect">
            <a:avLst/>
          </a:prstGeom>
          <a:noFill/>
        </p:spPr>
        <p:txBody>
          <a:bodyPr wrap="square" anchor="t" lIns="45720" rIns="45720">
            <a:spAutoFit/>
          </a:bodyPr>
          <a:lstStyle/>
          <a:p>
            <a:pPr algn="ctr">
              <a:spcAft>
                <a:spcPts val="600"/>
              </a:spcAft>
            </a:pPr>
            <a:r>
              <a:rPr sz="3000" b="0">
                <a:solidFill>
                  <a:srgbClr val="666666"/>
                </a:solidFill>
                <a:latin typeface="Arial"/>
              </a:rPr>
              <a:t>→</a:t>
            </a:r>
          </a:p>
        </p:txBody>
      </p:sp>
      <p:sp>
        <p:nvSpPr>
          <p:cNvPr id="9" name="Rectangle 8"/>
          <p:cNvSpPr/>
          <p:nvPr/>
        </p:nvSpPr>
        <p:spPr>
          <a:xfrm>
            <a:off x="4389120" y="1417320"/>
            <a:ext cx="3566160" cy="77724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444752"/>
            <a:ext cx="3383280" cy="731520"/>
          </a:xfrm>
          <a:prstGeom prst="rect">
            <a:avLst/>
          </a:prstGeom>
          <a:noFill/>
        </p:spPr>
        <p:txBody>
          <a:bodyPr wrap="square" anchor="t" lIns="45720" rIns="45720">
            <a:spAutoFit/>
          </a:bodyPr>
          <a:lstStyle/>
          <a:p>
            <a:pPr algn="l">
              <a:spcAft>
                <a:spcPts val="0"/>
              </a:spcAft>
            </a:pPr>
            <a:r>
              <a:rPr sz="1400" b="1">
                <a:solidFill>
                  <a:srgbClr val="1F5C99"/>
                </a:solidFill>
                <a:latin typeface="Arial"/>
              </a:rPr>
              <a:t>Tabela de ações (SPADL)</a:t>
            </a:r>
          </a:p>
          <a:p>
            <a:pPr algn="l">
              <a:spcAft>
                <a:spcPts val="0"/>
              </a:spcAft>
            </a:pPr>
            <a:r>
              <a:rPr sz="2000" b="1">
                <a:solidFill>
                  <a:srgbClr val="222222"/>
                </a:solidFill>
                <a:latin typeface="Arial"/>
              </a:rPr>
              <a:t>2.585 ações</a:t>
            </a:r>
          </a:p>
        </p:txBody>
      </p:sp>
      <p:sp>
        <p:nvSpPr>
          <p:cNvPr id="11" name="TextBox 10"/>
          <p:cNvSpPr txBox="1"/>
          <p:nvPr/>
        </p:nvSpPr>
        <p:spPr>
          <a:xfrm>
            <a:off x="8229600" y="1463040"/>
            <a:ext cx="3383280" cy="731520"/>
          </a:xfrm>
          <a:prstGeom prst="rect">
            <a:avLst/>
          </a:prstGeom>
          <a:noFill/>
        </p:spPr>
        <p:txBody>
          <a:bodyPr wrap="square" anchor="ctr" lIns="45720" rIns="45720">
            <a:spAutoFit/>
          </a:bodyPr>
          <a:lstStyle/>
          <a:p>
            <a:pPr algn="l">
              <a:spcAft>
                <a:spcPts val="600"/>
              </a:spcAft>
            </a:pPr>
            <a:r>
              <a:rPr sz="1500" b="0">
                <a:solidFill>
                  <a:srgbClr val="666666"/>
                </a:solidFill>
                <a:latin typeface="Arial"/>
              </a:rPr>
              <a:t>96 zonas, 537 fases de posse, 34 jogadores</a:t>
            </a:r>
          </a:p>
        </p:txBody>
      </p:sp>
      <p:graphicFrame>
        <p:nvGraphicFramePr>
          <p:cNvPr id="12" name="Table 11"/>
          <p:cNvGraphicFramePr>
            <a:graphicFrameLocks noGrp="1"/>
          </p:cNvGraphicFramePr>
          <p:nvPr/>
        </p:nvGraphicFramePr>
        <p:xfrm>
          <a:off x="640080" y="2423160"/>
          <a:ext cx="6766560" cy="3749039"/>
        </p:xfrm>
        <a:graphic>
          <a:graphicData uri="http://schemas.openxmlformats.org/drawingml/2006/table">
            <a:tbl>
              <a:tblPr firstRow="0" bandRow="0">
                <a:tableStyleId>{5C22544A-7EE6-4342-B048-85BDC9FD1C3A}</a:tableStyleId>
              </a:tblPr>
              <a:tblGrid>
                <a:gridCol w="2514600"/>
                <a:gridCol w="4251960"/>
              </a:tblGrid>
              <a:tr h="535577">
                <a:tc>
                  <a:txBody>
                    <a:bodyPr wrap="square"/>
                    <a:lstStyle/>
                    <a:p>
                      <a:pPr algn="l"/>
                      <a:r>
                        <a:rPr sz="1500" b="1">
                          <a:solidFill>
                            <a:srgbClr val="FFFFFF"/>
                          </a:solidFill>
                          <a:latin typeface="Arial"/>
                        </a:rPr>
                        <a:t>Transformação</a:t>
                      </a:r>
                    </a:p>
                  </a:txBody>
                  <a:tcPr anchor="ctr">
                    <a:solidFill>
                      <a:srgbClr val="222222"/>
                    </a:solidFill>
                  </a:tcPr>
                </a:tc>
                <a:tc>
                  <a:txBody>
                    <a:bodyPr wrap="square"/>
                    <a:lstStyle/>
                    <a:p>
                      <a:pPr algn="l"/>
                      <a:r>
                        <a:rPr sz="1500" b="1">
                          <a:solidFill>
                            <a:srgbClr val="FFFFFF"/>
                          </a:solidFill>
                          <a:latin typeface="Arial"/>
                        </a:rPr>
                        <a:t>O que faz</a:t>
                      </a:r>
                    </a:p>
                  </a:txBody>
                  <a:tcPr anchor="ctr">
                    <a:solidFill>
                      <a:srgbClr val="222222"/>
                    </a:solidFill>
                  </a:tcPr>
                </a:tc>
              </a:tr>
              <a:tr h="535577">
                <a:tc>
                  <a:txBody>
                    <a:bodyPr wrap="square"/>
                    <a:lstStyle/>
                    <a:p>
                      <a:pPr algn="l"/>
                      <a:r>
                        <a:rPr sz="1500" b="1">
                          <a:solidFill>
                            <a:srgbClr val="222222"/>
                          </a:solidFill>
                          <a:latin typeface="Arial"/>
                        </a:rPr>
                        <a:t>Direção de ataque</a:t>
                      </a:r>
                    </a:p>
                  </a:txBody>
                  <a:tcPr anchor="ctr">
                    <a:solidFill>
                      <a:srgbClr val="FFFFFF"/>
                    </a:solidFill>
                  </a:tcPr>
                </a:tc>
                <a:tc>
                  <a:txBody>
                    <a:bodyPr wrap="square"/>
                    <a:lstStyle/>
                    <a:p>
                      <a:pPr algn="l"/>
                      <a:r>
                        <a:rPr sz="1500" b="0">
                          <a:solidFill>
                            <a:srgbClr val="222222"/>
                          </a:solidFill>
                          <a:latin typeface="Arial"/>
                        </a:rPr>
                        <a:t>toda ação ataca da esquerda para a direita, nos dois times</a:t>
                      </a:r>
                    </a:p>
                  </a:txBody>
                  <a:tcPr anchor="ctr">
                    <a:solidFill>
                      <a:srgbClr val="FFFFFF"/>
                    </a:solidFill>
                  </a:tcPr>
                </a:tc>
              </a:tr>
              <a:tr h="535577">
                <a:tc>
                  <a:txBody>
                    <a:bodyPr wrap="square"/>
                    <a:lstStyle/>
                    <a:p>
                      <a:pPr algn="l"/>
                      <a:r>
                        <a:rPr sz="1500" b="1">
                          <a:solidFill>
                            <a:srgbClr val="222222"/>
                          </a:solidFill>
                          <a:latin typeface="Arial"/>
                        </a:rPr>
                        <a:t>Zona, terço e corredor</a:t>
                      </a:r>
                    </a:p>
                  </a:txBody>
                  <a:tcPr anchor="ctr">
                    <a:solidFill>
                      <a:srgbClr val="F2F2F2"/>
                    </a:solidFill>
                  </a:tcPr>
                </a:tc>
                <a:tc>
                  <a:txBody>
                    <a:bodyPr wrap="square"/>
                    <a:lstStyle/>
                    <a:p>
                      <a:pPr algn="l"/>
                      <a:r>
                        <a:rPr sz="1500" b="0">
                          <a:solidFill>
                            <a:srgbClr val="222222"/>
                          </a:solidFill>
                          <a:latin typeface="Arial"/>
                        </a:rPr>
                        <a:t>situa o início e o fim de cada ação no campo</a:t>
                      </a:r>
                    </a:p>
                  </a:txBody>
                  <a:tcPr anchor="ctr">
                    <a:solidFill>
                      <a:srgbClr val="F2F2F2"/>
                    </a:solidFill>
                  </a:tcPr>
                </a:tc>
              </a:tr>
              <a:tr h="535577">
                <a:tc>
                  <a:txBody>
                    <a:bodyPr wrap="square"/>
                    <a:lstStyle/>
                    <a:p>
                      <a:pPr algn="l"/>
                      <a:r>
                        <a:rPr sz="1500" b="1">
                          <a:solidFill>
                            <a:srgbClr val="222222"/>
                          </a:solidFill>
                          <a:latin typeface="Arial"/>
                        </a:rPr>
                        <a:t>Recebedor do passe</a:t>
                      </a:r>
                    </a:p>
                  </a:txBody>
                  <a:tcPr anchor="ctr">
                    <a:solidFill>
                      <a:srgbClr val="FFFFFF"/>
                    </a:solidFill>
                  </a:tcPr>
                </a:tc>
                <a:tc>
                  <a:txBody>
                    <a:bodyPr wrap="square"/>
                    <a:lstStyle/>
                    <a:p>
                      <a:pPr algn="l"/>
                      <a:r>
                        <a:rPr sz="1500" b="0">
                          <a:solidFill>
                            <a:srgbClr val="222222"/>
                          </a:solidFill>
                          <a:latin typeface="Arial"/>
                        </a:rPr>
                        <a:t>jogador do mesmo time que age em seguida</a:t>
                      </a:r>
                    </a:p>
                  </a:txBody>
                  <a:tcPr anchor="ctr">
                    <a:solidFill>
                      <a:srgbClr val="FFFFFF"/>
                    </a:solidFill>
                  </a:tcPr>
                </a:tc>
              </a:tr>
              <a:tr h="535577">
                <a:tc>
                  <a:txBody>
                    <a:bodyPr wrap="square"/>
                    <a:lstStyle/>
                    <a:p>
                      <a:pPr algn="l"/>
                      <a:r>
                        <a:rPr sz="1500" b="1">
                          <a:solidFill>
                            <a:srgbClr val="222222"/>
                          </a:solidFill>
                          <a:latin typeface="Arial"/>
                        </a:rPr>
                        <a:t>Fase de posse</a:t>
                      </a:r>
                    </a:p>
                  </a:txBody>
                  <a:tcPr anchor="ctr">
                    <a:solidFill>
                      <a:srgbClr val="F2F2F2"/>
                    </a:solidFill>
                  </a:tcPr>
                </a:tc>
                <a:tc>
                  <a:txBody>
                    <a:bodyPr wrap="square"/>
                    <a:lstStyle/>
                    <a:p>
                      <a:pPr algn="l"/>
                      <a:r>
                        <a:rPr sz="1500" b="0">
                          <a:solidFill>
                            <a:srgbClr val="222222"/>
                          </a:solidFill>
                          <a:latin typeface="Arial"/>
                        </a:rPr>
                        <a:t>agrupa em jogadas as ações seguidas do mesmo time</a:t>
                      </a:r>
                    </a:p>
                  </a:txBody>
                  <a:tcPr anchor="ctr">
                    <a:solidFill>
                      <a:srgbClr val="F2F2F2"/>
                    </a:solidFill>
                  </a:tcPr>
                </a:tc>
              </a:tr>
              <a:tr h="535577">
                <a:tc>
                  <a:txBody>
                    <a:bodyPr wrap="square"/>
                    <a:lstStyle/>
                    <a:p>
                      <a:pPr algn="l"/>
                      <a:r>
                        <a:rPr sz="1500" b="1">
                          <a:solidFill>
                            <a:srgbClr val="222222"/>
                          </a:solidFill>
                          <a:latin typeface="Arial"/>
                        </a:rPr>
                        <a:t>Placar, minuto e período</a:t>
                      </a:r>
                    </a:p>
                  </a:txBody>
                  <a:tcPr anchor="ctr">
                    <a:solidFill>
                      <a:srgbClr val="FFFFFF"/>
                    </a:solidFill>
                  </a:tcPr>
                </a:tc>
                <a:tc>
                  <a:txBody>
                    <a:bodyPr wrap="square"/>
                    <a:lstStyle/>
                    <a:p>
                      <a:pPr algn="l"/>
                      <a:r>
                        <a:rPr sz="1500" b="0">
                          <a:solidFill>
                            <a:srgbClr val="222222"/>
                          </a:solidFill>
                          <a:latin typeface="Arial"/>
                        </a:rPr>
                        <a:t>placar antes de cada ação e minuto da transmissão</a:t>
                      </a:r>
                    </a:p>
                  </a:txBody>
                  <a:tcPr anchor="ctr">
                    <a:solidFill>
                      <a:srgbClr val="FFFFFF"/>
                    </a:solidFill>
                  </a:tcPr>
                </a:tc>
              </a:tr>
              <a:tr h="535577">
                <a:tc>
                  <a:txBody>
                    <a:bodyPr wrap="square"/>
                    <a:lstStyle/>
                    <a:p>
                      <a:pPr algn="l"/>
                      <a:r>
                        <a:rPr sz="1500" b="1">
                          <a:solidFill>
                            <a:srgbClr val="222222"/>
                          </a:solidFill>
                          <a:latin typeface="Arial"/>
                        </a:rPr>
                        <a:t>Dados recuperados do JSON</a:t>
                      </a:r>
                    </a:p>
                  </a:txBody>
                  <a:tcPr anchor="ctr">
                    <a:solidFill>
                      <a:srgbClr val="F2F2F2"/>
                    </a:solidFill>
                  </a:tcPr>
                </a:tc>
                <a:tc>
                  <a:txBody>
                    <a:bodyPr wrap="square"/>
                    <a:lstStyle/>
                    <a:p>
                      <a:pPr algn="l"/>
                      <a:r>
                        <a:rPr sz="1500" b="0">
                          <a:solidFill>
                            <a:srgbClr val="222222"/>
                          </a:solidFill>
                          <a:latin typeface="Arial"/>
                        </a:rPr>
                        <a:t>desfecho da finalização e cartão sem falta</a:t>
                      </a:r>
                    </a:p>
                  </a:txBody>
                  <a:tcPr anchor="ctr">
                    <a:solidFill>
                      <a:srgbClr val="F2F2F2"/>
                    </a:solidFill>
                  </a:tcPr>
                </a:tc>
              </a:tr>
            </a:tbl>
          </a:graphicData>
        </a:graphic>
      </p:graphicFrame>
      <p:sp>
        <p:nvSpPr>
          <p:cNvPr id="13" name="TextBox 12"/>
          <p:cNvSpPr txBox="1"/>
          <p:nvPr/>
        </p:nvSpPr>
        <p:spPr>
          <a:xfrm>
            <a:off x="7635240" y="2423160"/>
            <a:ext cx="4023360" cy="365760"/>
          </a:xfrm>
          <a:prstGeom prst="rect">
            <a:avLst/>
          </a:prstGeom>
          <a:noFill/>
        </p:spPr>
        <p:txBody>
          <a:bodyPr wrap="square" anchor="t" lIns="45720" rIns="45720">
            <a:spAutoFit/>
          </a:bodyPr>
          <a:lstStyle/>
          <a:p>
            <a:pPr algn="ctr">
              <a:spcAft>
                <a:spcPts val="600"/>
              </a:spcAft>
            </a:pPr>
            <a:r>
              <a:rPr sz="1400" b="0">
                <a:solidFill>
                  <a:srgbClr val="666666"/>
                </a:solidFill>
                <a:latin typeface="Arial"/>
              </a:rPr>
              <a:t>Ataque: da esquerda para a direita →</a:t>
            </a:r>
          </a:p>
        </p:txBody>
      </p:sp>
      <p:sp>
        <p:nvSpPr>
          <p:cNvPr id="14" name="Rectangle 13"/>
          <p:cNvSpPr/>
          <p:nvPr/>
        </p:nvSpPr>
        <p:spPr>
          <a:xfrm>
            <a:off x="7726679" y="2880360"/>
            <a:ext cx="3840480" cy="2487168"/>
          </a:xfrm>
          <a:prstGeom prst="rect">
            <a:avLst/>
          </a:prstGeom>
          <a:solidFill>
            <a:srgbClr val="FFFFFF"/>
          </a:solidFill>
          <a:ln w="254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04671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36675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68680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00684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32688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4691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96695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28700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060704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92708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124712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726679" y="3191256"/>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726679" y="3502152"/>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26679" y="3813048"/>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726679" y="4123944"/>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726679" y="4434840"/>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726679" y="4745736"/>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726679" y="5056632"/>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10607040" y="3502152"/>
            <a:ext cx="320040" cy="310896"/>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1247120" y="4123944"/>
            <a:ext cx="320040" cy="310896"/>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10767059" y="3657600"/>
            <a:ext cx="640081" cy="621792"/>
          </a:xfrm>
          <a:prstGeom prst="line">
            <a:avLst/>
          </a:prstGeom>
          <a:ln w="38100">
            <a:solidFill>
              <a:srgbClr val="1F5C99"/>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635240" y="5413248"/>
            <a:ext cx="4023360" cy="640080"/>
          </a:xfrm>
          <a:prstGeom prst="rect">
            <a:avLst/>
          </a:prstGeom>
          <a:noFill/>
        </p:spPr>
        <p:txBody>
          <a:bodyPr wrap="square" anchor="t" lIns="45720" rIns="45720">
            <a:spAutoFit/>
          </a:bodyPr>
          <a:lstStyle/>
          <a:p>
            <a:pPr algn="ctr">
              <a:spcAft>
                <a:spcPts val="600"/>
              </a:spcAft>
            </a:pPr>
            <a:r>
              <a:rPr sz="1400" b="0">
                <a:solidFill>
                  <a:srgbClr val="222222"/>
                </a:solidFill>
                <a:latin typeface="Arial"/>
              </a:rPr>
              <a:t>Grade de 96 zonas; passe da zona 74 para a 92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Da tabela ao grafo: cada ação vira uma aresta, e a súmula é contada pelo banco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6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Esquema simplificado: Figura 2 do artigo. A camada de padrões táticos não é lida por nenhuma abordagem.</a:t>
            </a:r>
          </a:p>
        </p:txBody>
      </p:sp>
      <p:cxnSp>
        <p:nvCxnSpPr>
          <p:cNvPr id="6" name="Connector 5"/>
          <p:cNvCxnSpPr/>
          <p:nvPr/>
        </p:nvCxnSpPr>
        <p:spPr>
          <a:xfrm flipH="1">
            <a:off x="1005840" y="3429000"/>
            <a:ext cx="2560320" cy="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600200" y="3090672"/>
            <a:ext cx="109728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membro de</a:t>
            </a:r>
          </a:p>
        </p:txBody>
      </p:sp>
      <p:cxnSp>
        <p:nvCxnSpPr>
          <p:cNvPr id="8" name="Connector 7"/>
          <p:cNvCxnSpPr/>
          <p:nvPr/>
        </p:nvCxnSpPr>
        <p:spPr>
          <a:xfrm>
            <a:off x="3566160" y="3429000"/>
            <a:ext cx="2560320" cy="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572000" y="3090672"/>
            <a:ext cx="96012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realizou</a:t>
            </a:r>
          </a:p>
        </p:txBody>
      </p:sp>
      <p:cxnSp>
        <p:nvCxnSpPr>
          <p:cNvPr id="10" name="Connector 9"/>
          <p:cNvCxnSpPr/>
          <p:nvPr/>
        </p:nvCxnSpPr>
        <p:spPr>
          <a:xfrm flipH="1">
            <a:off x="1005840" y="3429000"/>
            <a:ext cx="256032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97280" y="4206240"/>
            <a:ext cx="137160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participou de</a:t>
            </a:r>
          </a:p>
        </p:txBody>
      </p:sp>
      <p:cxnSp>
        <p:nvCxnSpPr>
          <p:cNvPr id="12" name="Connector 11"/>
          <p:cNvCxnSpPr/>
          <p:nvPr/>
        </p:nvCxnSpPr>
        <p:spPr>
          <a:xfrm>
            <a:off x="3566160" y="3429000"/>
            <a:ext cx="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26080" y="4069080"/>
            <a:ext cx="150876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tem estatística</a:t>
            </a:r>
          </a:p>
        </p:txBody>
      </p:sp>
      <p:cxnSp>
        <p:nvCxnSpPr>
          <p:cNvPr id="14" name="Connector 13"/>
          <p:cNvCxnSpPr/>
          <p:nvPr/>
        </p:nvCxnSpPr>
        <p:spPr>
          <a:xfrm>
            <a:off x="3566160" y="3429000"/>
            <a:ext cx="256032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663440" y="4206240"/>
            <a:ext cx="96012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atuou em</a:t>
            </a:r>
          </a:p>
        </p:txBody>
      </p:sp>
      <p:sp>
        <p:nvSpPr>
          <p:cNvPr id="16" name="Rectangle 15"/>
          <p:cNvSpPr/>
          <p:nvPr/>
        </p:nvSpPr>
        <p:spPr>
          <a:xfrm>
            <a:off x="457200" y="30175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Time</a:t>
            </a:r>
          </a:p>
        </p:txBody>
      </p:sp>
      <p:sp>
        <p:nvSpPr>
          <p:cNvPr id="17" name="Rectangle 16"/>
          <p:cNvSpPr/>
          <p:nvPr/>
        </p:nvSpPr>
        <p:spPr>
          <a:xfrm>
            <a:off x="2743200" y="3017520"/>
            <a:ext cx="1645920" cy="822960"/>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Jogador</a:t>
            </a:r>
          </a:p>
          <a:p>
            <a:pPr algn="ctr"/>
            <a:r>
              <a:rPr sz="1400" b="0">
                <a:solidFill>
                  <a:srgbClr val="666666"/>
                </a:solidFill>
                <a:latin typeface="Arial"/>
              </a:rPr>
              <a:t>34 na final</a:t>
            </a:r>
          </a:p>
        </p:txBody>
      </p:sp>
      <p:sp>
        <p:nvSpPr>
          <p:cNvPr id="18" name="Rectangle 17"/>
          <p:cNvSpPr/>
          <p:nvPr/>
        </p:nvSpPr>
        <p:spPr>
          <a:xfrm>
            <a:off x="5577840" y="30175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Partida</a:t>
            </a:r>
          </a:p>
        </p:txBody>
      </p:sp>
      <p:sp>
        <p:nvSpPr>
          <p:cNvPr id="19" name="Rectangle 18"/>
          <p:cNvSpPr/>
          <p:nvPr/>
        </p:nvSpPr>
        <p:spPr>
          <a:xfrm>
            <a:off x="457200" y="48463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Fase</a:t>
            </a:r>
          </a:p>
          <a:p>
            <a:pPr algn="ctr"/>
            <a:r>
              <a:rPr sz="1400" b="0">
                <a:solidFill>
                  <a:srgbClr val="666666"/>
                </a:solidFill>
                <a:latin typeface="Arial"/>
              </a:rPr>
              <a:t>537</a:t>
            </a:r>
          </a:p>
        </p:txBody>
      </p:sp>
      <p:sp>
        <p:nvSpPr>
          <p:cNvPr id="20" name="Rectangle 19"/>
          <p:cNvSpPr/>
          <p:nvPr/>
        </p:nvSpPr>
        <p:spPr>
          <a:xfrm>
            <a:off x="2743200" y="4846320"/>
            <a:ext cx="164592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Súmula</a:t>
            </a:r>
          </a:p>
          <a:p>
            <a:pPr algn="ctr"/>
            <a:r>
              <a:rPr sz="1400" b="0">
                <a:solidFill>
                  <a:srgbClr val="666666"/>
                </a:solidFill>
                <a:latin typeface="Arial"/>
              </a:rPr>
              <a:t>jogador e time</a:t>
            </a:r>
          </a:p>
        </p:txBody>
      </p:sp>
      <p:sp>
        <p:nvSpPr>
          <p:cNvPr id="21" name="Rectangle 20"/>
          <p:cNvSpPr/>
          <p:nvPr/>
        </p:nvSpPr>
        <p:spPr>
          <a:xfrm>
            <a:off x="5577840" y="48463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Zona</a:t>
            </a:r>
          </a:p>
          <a:p>
            <a:pPr algn="ctr"/>
            <a:r>
              <a:rPr sz="1400" b="0">
                <a:solidFill>
                  <a:srgbClr val="666666"/>
                </a:solidFill>
                <a:latin typeface="Arial"/>
              </a:rPr>
              <a:t>96</a:t>
            </a:r>
          </a:p>
        </p:txBody>
      </p:sp>
      <p:sp>
        <p:nvSpPr>
          <p:cNvPr id="22" name="TextBox 21"/>
          <p:cNvSpPr txBox="1"/>
          <p:nvPr/>
        </p:nvSpPr>
        <p:spPr>
          <a:xfrm>
            <a:off x="1188720" y="1920240"/>
            <a:ext cx="4754880" cy="822960"/>
          </a:xfrm>
          <a:prstGeom prst="rect">
            <a:avLst/>
          </a:prstGeom>
          <a:noFill/>
        </p:spPr>
        <p:txBody>
          <a:bodyPr wrap="square" anchor="t" lIns="45720" rIns="45720">
            <a:spAutoFit/>
          </a:bodyPr>
          <a:lstStyle/>
          <a:p>
            <a:pPr algn="ctr">
              <a:spcAft>
                <a:spcPts val="200"/>
              </a:spcAft>
            </a:pPr>
            <a:r>
              <a:rPr sz="1400" b="0">
                <a:solidFill>
                  <a:srgbClr val="666666"/>
                </a:solidFill>
                <a:latin typeface="Arial"/>
              </a:rPr>
              <a:t>Entre jogadores: passou para, deu assistência, pressionou</a:t>
            </a:r>
          </a:p>
          <a:p>
            <a:pPr algn="ctr">
              <a:spcAft>
                <a:spcPts val="200"/>
              </a:spcAft>
            </a:pPr>
            <a:r>
              <a:rPr sz="1400" b="0">
                <a:solidFill>
                  <a:srgbClr val="666666"/>
                </a:solidFill>
                <a:latin typeface="Arial"/>
              </a:rPr>
              <a:t>Entre zonas: progrediu para</a:t>
            </a:r>
          </a:p>
        </p:txBody>
      </p:sp>
      <p:sp>
        <p:nvSpPr>
          <p:cNvPr id="23" name="TextBox 22"/>
          <p:cNvSpPr txBox="1"/>
          <p:nvPr/>
        </p:nvSpPr>
        <p:spPr>
          <a:xfrm>
            <a:off x="7132320" y="1554480"/>
            <a:ext cx="4480560" cy="4572000"/>
          </a:xfrm>
          <a:prstGeom prst="rect">
            <a:avLst/>
          </a:prstGeom>
          <a:noFill/>
        </p:spPr>
        <p:txBody>
          <a:bodyPr wrap="square">
            <a:spAutoFit/>
          </a:bodyPr>
          <a:lstStyle/>
          <a:p>
            <a:pPr>
              <a:spcAft>
                <a:spcPts val="900"/>
              </a:spcAft>
            </a:pPr>
            <a:r>
              <a:rPr sz="1600" b="1">
                <a:solidFill>
                  <a:srgbClr val="1F5C99"/>
                </a:solidFill>
                <a:latin typeface="Arial"/>
              </a:rPr>
              <a:t>• </a:t>
            </a:r>
            <a:r>
              <a:rPr sz="1600" b="1">
                <a:solidFill>
                  <a:srgbClr val="222222"/>
                </a:solidFill>
                <a:latin typeface="Arial"/>
              </a:rPr>
              <a:t>Cada ação </a:t>
            </a:r>
            <a:r>
              <a:rPr sz="1600" b="0">
                <a:solidFill>
                  <a:srgbClr val="222222"/>
                </a:solidFill>
                <a:latin typeface="Arial"/>
              </a:rPr>
              <a:t>vira uma aresta do jogador para a partida, com as colunas da linha como propriedades.</a:t>
            </a:r>
          </a:p>
          <a:p>
            <a:pPr>
              <a:spcAft>
                <a:spcPts val="900"/>
              </a:spcAft>
            </a:pPr>
            <a:r>
              <a:rPr sz="1600" b="1">
                <a:solidFill>
                  <a:srgbClr val="1F5C99"/>
                </a:solidFill>
                <a:latin typeface="Arial"/>
              </a:rPr>
              <a:t>• </a:t>
            </a:r>
            <a:r>
              <a:rPr sz="1600" b="1">
                <a:solidFill>
                  <a:srgbClr val="222222"/>
                </a:solidFill>
                <a:latin typeface="Arial"/>
              </a:rPr>
              <a:t>Cada passe certo com recebedor </a:t>
            </a:r>
            <a:r>
              <a:rPr sz="1600" b="0">
                <a:solidFill>
                  <a:srgbClr val="222222"/>
                </a:solidFill>
                <a:latin typeface="Arial"/>
              </a:rPr>
              <a:t>vira uma aresta entre dois jogadores.</a:t>
            </a:r>
          </a:p>
          <a:p>
            <a:pPr>
              <a:spcAft>
                <a:spcPts val="900"/>
              </a:spcAft>
            </a:pPr>
            <a:r>
              <a:rPr sz="1600" b="1">
                <a:solidFill>
                  <a:srgbClr val="1F5C99"/>
                </a:solidFill>
                <a:latin typeface="Arial"/>
              </a:rPr>
              <a:t>• </a:t>
            </a:r>
            <a:r>
              <a:rPr sz="1600" b="1">
                <a:solidFill>
                  <a:srgbClr val="222222"/>
                </a:solidFill>
                <a:latin typeface="Arial"/>
              </a:rPr>
              <a:t>As arestas reorganizam a tabela, </a:t>
            </a:r>
            <a:r>
              <a:rPr sz="1600" b="0">
                <a:solidFill>
                  <a:srgbClr val="222222"/>
                </a:solidFill>
                <a:latin typeface="Arial"/>
              </a:rPr>
              <a:t>não acrescentam informação.</a:t>
            </a:r>
          </a:p>
          <a:p>
            <a:pPr>
              <a:spcAft>
                <a:spcPts val="900"/>
              </a:spcAft>
            </a:pPr>
            <a:r>
              <a:rPr sz="1600" b="1">
                <a:solidFill>
                  <a:srgbClr val="1F5C99"/>
                </a:solidFill>
                <a:latin typeface="Arial"/>
              </a:rPr>
              <a:t>• </a:t>
            </a:r>
            <a:r>
              <a:rPr sz="1600" b="1">
                <a:solidFill>
                  <a:srgbClr val="222222"/>
                </a:solidFill>
                <a:latin typeface="Arial"/>
              </a:rPr>
              <a:t>Súmula: </a:t>
            </a:r>
            <a:r>
              <a:rPr sz="1600" b="0">
                <a:solidFill>
                  <a:srgbClr val="222222"/>
                </a:solidFill>
                <a:latin typeface="Arial"/>
              </a:rPr>
              <a:t>uma consulta no banco conta, por jogador e por time, tentativas e acertos de cada tipo de ação.</a:t>
            </a:r>
          </a:p>
          <a:p>
            <a:pPr>
              <a:spcAft>
                <a:spcPts val="900"/>
              </a:spcAft>
            </a:pPr>
            <a:r>
              <a:rPr sz="1600" b="1">
                <a:solidFill>
                  <a:srgbClr val="1F5C99"/>
                </a:solidFill>
                <a:latin typeface="Arial"/>
              </a:rPr>
              <a:t>• </a:t>
            </a:r>
            <a:r>
              <a:rPr sz="1600" b="1">
                <a:solidFill>
                  <a:srgbClr val="222222"/>
                </a:solidFill>
                <a:latin typeface="Arial"/>
              </a:rPr>
              <a:t>Por que grafo: </a:t>
            </a:r>
            <a:r>
              <a:rPr sz="1600" b="0">
                <a:solidFill>
                  <a:srgbClr val="222222"/>
                </a:solidFill>
                <a:latin typeface="Arial"/>
              </a:rPr>
              <a:t>a análise de futebol trata os passes como rede; caminhos e métricas de rede viram consultas no grafo.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52 perguntas em cinco grupos, com gabarito calculado por código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7 / 15</a:t>
            </a:r>
          </a:p>
        </p:txBody>
      </p:sp>
      <p:graphicFrame>
        <p:nvGraphicFramePr>
          <p:cNvPr id="5" name="Table 4"/>
          <p:cNvGraphicFramePr>
            <a:graphicFrameLocks noGrp="1"/>
          </p:cNvGraphicFramePr>
          <p:nvPr/>
        </p:nvGraphicFramePr>
        <p:xfrm>
          <a:off x="640080" y="1554480"/>
          <a:ext cx="10881360" cy="3931920"/>
        </p:xfrm>
        <a:graphic>
          <a:graphicData uri="http://schemas.openxmlformats.org/drawingml/2006/table">
            <a:tbl>
              <a:tblPr firstRow="0" bandRow="0">
                <a:tableStyleId>{5C22544A-7EE6-4342-B048-85BDC9FD1C3A}</a:tableStyleId>
              </a:tblPr>
              <a:tblGrid>
                <a:gridCol w="3108960"/>
                <a:gridCol w="640080"/>
                <a:gridCol w="7132320"/>
              </a:tblGrid>
              <a:tr h="655320">
                <a:tc>
                  <a:txBody>
                    <a:bodyPr wrap="square"/>
                    <a:lstStyle/>
                    <a:p>
                      <a:pPr algn="l"/>
                      <a:r>
                        <a:rPr sz="1600" b="1">
                          <a:solidFill>
                            <a:srgbClr val="FFFFFF"/>
                          </a:solidFill>
                          <a:latin typeface="Arial"/>
                        </a:rPr>
                        <a:t>Grupo</a:t>
                      </a:r>
                    </a:p>
                  </a:txBody>
                  <a:tcPr anchor="ctr">
                    <a:solidFill>
                      <a:srgbClr val="222222"/>
                    </a:solidFill>
                  </a:tcPr>
                </a:tc>
                <a:tc>
                  <a:txBody>
                    <a:bodyPr wrap="square"/>
                    <a:lstStyle/>
                    <a:p>
                      <a:pPr algn="l"/>
                      <a:r>
                        <a:rPr sz="1600" b="1">
                          <a:solidFill>
                            <a:srgbClr val="FFFFFF"/>
                          </a:solidFill>
                          <a:latin typeface="Arial"/>
                        </a:rPr>
                        <a:t>n</a:t>
                      </a:r>
                    </a:p>
                  </a:txBody>
                  <a:tcPr anchor="ctr">
                    <a:solidFill>
                      <a:srgbClr val="222222"/>
                    </a:solidFill>
                  </a:tcPr>
                </a:tc>
                <a:tc>
                  <a:txBody>
                    <a:bodyPr wrap="square"/>
                    <a:lstStyle/>
                    <a:p>
                      <a:pPr algn="l"/>
                      <a:r>
                        <a:rPr sz="1600" b="1">
                          <a:solidFill>
                            <a:srgbClr val="FFFFFF"/>
                          </a:solidFill>
                          <a:latin typeface="Arial"/>
                        </a:rPr>
                        <a:t>Exemplo (resposta esperada)</a:t>
                      </a:r>
                    </a:p>
                  </a:txBody>
                  <a:tcPr anchor="ctr">
                    <a:solidFill>
                      <a:srgbClr val="222222"/>
                    </a:solidFill>
                  </a:tcPr>
                </a:tc>
              </a:tr>
              <a:tr h="655320">
                <a:tc>
                  <a:txBody>
                    <a:bodyPr wrap="square"/>
                    <a:lstStyle/>
                    <a:p>
                      <a:pPr algn="l"/>
                      <a:r>
                        <a:rPr sz="1600" b="1">
                          <a:solidFill>
                            <a:srgbClr val="222222"/>
                          </a:solidFill>
                          <a:latin typeface="Arial"/>
                        </a:rPr>
                        <a:t>Busca e contagem</a:t>
                      </a:r>
                    </a:p>
                  </a:txBody>
                  <a:tcPr anchor="ctr">
                    <a:solidFill>
                      <a:srgbClr val="FFFFFF"/>
                    </a:solidFill>
                  </a:tcPr>
                </a:tc>
                <a:tc>
                  <a:txBody>
                    <a:bodyPr wrap="square"/>
                    <a:lstStyle/>
                    <a:p>
                      <a:pPr algn="l"/>
                      <a:r>
                        <a:rPr sz="1600" b="0">
                          <a:solidFill>
                            <a:srgbClr val="222222"/>
                          </a:solidFill>
                          <a:latin typeface="Arial"/>
                        </a:rPr>
                        <a:t>11</a:t>
                      </a:r>
                    </a:p>
                  </a:txBody>
                  <a:tcPr anchor="ctr">
                    <a:solidFill>
                      <a:srgbClr val="FFFFFF"/>
                    </a:solidFill>
                  </a:tcPr>
                </a:tc>
                <a:tc>
                  <a:txBody>
                    <a:bodyPr wrap="square"/>
                    <a:lstStyle/>
                    <a:p>
                      <a:pPr algn="l"/>
                      <a:r>
                        <a:rPr sz="1600" b="0">
                          <a:solidFill>
                            <a:srgbClr val="222222"/>
                          </a:solidFill>
                          <a:latin typeface="Arial"/>
                        </a:rPr>
                        <a:t>Quem recebeu o primeiro cartão amarelo da final? (jogador)</a:t>
                      </a:r>
                    </a:p>
                  </a:txBody>
                  <a:tcPr anchor="ctr">
                    <a:solidFill>
                      <a:srgbClr val="FFFFFF"/>
                    </a:solidFill>
                  </a:tcPr>
                </a:tc>
              </a:tr>
              <a:tr h="655320">
                <a:tc>
                  <a:txBody>
                    <a:bodyPr wrap="square"/>
                    <a:lstStyle/>
                    <a:p>
                      <a:pPr algn="l"/>
                      <a:r>
                        <a:rPr sz="1600" b="1">
                          <a:solidFill>
                            <a:srgbClr val="222222"/>
                          </a:solidFill>
                          <a:latin typeface="Arial"/>
                        </a:rPr>
                        <a:t>Relações na rede de passes</a:t>
                      </a:r>
                    </a:p>
                  </a:txBody>
                  <a:tcPr anchor="ctr">
                    <a:solidFill>
                      <a:srgbClr val="F2F2F2"/>
                    </a:solidFill>
                  </a:tcPr>
                </a:tc>
                <a:tc>
                  <a:txBody>
                    <a:bodyPr wrap="square"/>
                    <a:lstStyle/>
                    <a:p>
                      <a:pPr algn="l"/>
                      <a:r>
                        <a:rPr sz="1600" b="0">
                          <a:solidFill>
                            <a:srgbClr val="222222"/>
                          </a:solidFill>
                          <a:latin typeface="Arial"/>
                        </a:rPr>
                        <a:t>20</a:t>
                      </a:r>
                    </a:p>
                  </a:txBody>
                  <a:tcPr anchor="ctr">
                    <a:solidFill>
                      <a:srgbClr val="F2F2F2"/>
                    </a:solidFill>
                  </a:tcPr>
                </a:tc>
                <a:tc>
                  <a:txBody>
                    <a:bodyPr wrap="square"/>
                    <a:lstStyle/>
                    <a:p>
                      <a:pPr algn="l"/>
                      <a:r>
                        <a:rPr sz="1600" b="0">
                          <a:solidFill>
                            <a:srgbClr val="222222"/>
                          </a:solidFill>
                          <a:latin typeface="Arial"/>
                        </a:rPr>
                        <a:t>Qual dupla da França mais trocou passes entre si? (conjunto de jogadores)</a:t>
                      </a:r>
                    </a:p>
                  </a:txBody>
                  <a:tcPr anchor="ctr">
                    <a:solidFill>
                      <a:srgbClr val="F2F2F2"/>
                    </a:solidFill>
                  </a:tcPr>
                </a:tc>
              </a:tr>
              <a:tr h="655320">
                <a:tc>
                  <a:txBody>
                    <a:bodyPr wrap="square"/>
                    <a:lstStyle/>
                    <a:p>
                      <a:pPr algn="l"/>
                      <a:r>
                        <a:rPr sz="1600" b="1">
                          <a:solidFill>
                            <a:srgbClr val="222222"/>
                          </a:solidFill>
                          <a:latin typeface="Arial"/>
                        </a:rPr>
                        <a:t>Jogadas e sequências</a:t>
                      </a:r>
                    </a:p>
                  </a:txBody>
                  <a:tcPr anchor="ctr">
                    <a:solidFill>
                      <a:srgbClr val="FFFFFF"/>
                    </a:solidFill>
                  </a:tcPr>
                </a:tc>
                <a:tc>
                  <a:txBody>
                    <a:bodyPr wrap="square"/>
                    <a:lstStyle/>
                    <a:p>
                      <a:pPr algn="l"/>
                      <a:r>
                        <a:rPr sz="1600" b="0">
                          <a:solidFill>
                            <a:srgbClr val="222222"/>
                          </a:solidFill>
                          <a:latin typeface="Arial"/>
                        </a:rPr>
                        <a:t>10</a:t>
                      </a:r>
                    </a:p>
                  </a:txBody>
                  <a:tcPr anchor="ctr">
                    <a:solidFill>
                      <a:srgbClr val="FFFFFF"/>
                    </a:solidFill>
                  </a:tcPr>
                </a:tc>
                <a:tc>
                  <a:txBody>
                    <a:bodyPr wrap="square"/>
                    <a:lstStyle/>
                    <a:p>
                      <a:pPr algn="l"/>
                      <a:r>
                        <a:rPr sz="1600" b="0">
                          <a:solidFill>
                            <a:srgbClr val="222222"/>
                          </a:solidFill>
                          <a:latin typeface="Arial"/>
                        </a:rPr>
                        <a:t>Qual jogador participou de mais jogadas da Argentina que terminaram em finalização? (jogador)</a:t>
                      </a:r>
                    </a:p>
                  </a:txBody>
                  <a:tcPr anchor="ctr">
                    <a:solidFill>
                      <a:srgbClr val="FFFFFF"/>
                    </a:solidFill>
                  </a:tcPr>
                </a:tc>
              </a:tr>
              <a:tr h="655320">
                <a:tc>
                  <a:txBody>
                    <a:bodyPr wrap="square"/>
                    <a:lstStyle/>
                    <a:p>
                      <a:pPr algn="l"/>
                      <a:r>
                        <a:rPr sz="1600" b="1">
                          <a:solidFill>
                            <a:srgbClr val="222222"/>
                          </a:solidFill>
                          <a:latin typeface="Arial"/>
                        </a:rPr>
                        <a:t>Antes e depois de uma substituição</a:t>
                      </a:r>
                    </a:p>
                  </a:txBody>
                  <a:tcPr anchor="ctr">
                    <a:solidFill>
                      <a:srgbClr val="F2F2F2"/>
                    </a:solidFill>
                  </a:tcPr>
                </a:tc>
                <a:tc>
                  <a:txBody>
                    <a:bodyPr wrap="square"/>
                    <a:lstStyle/>
                    <a:p>
                      <a:pPr algn="l"/>
                      <a:r>
                        <a:rPr sz="1600" b="0">
                          <a:solidFill>
                            <a:srgbClr val="222222"/>
                          </a:solidFill>
                          <a:latin typeface="Arial"/>
                        </a:rPr>
                        <a:t>6</a:t>
                      </a:r>
                    </a:p>
                  </a:txBody>
                  <a:tcPr anchor="ctr">
                    <a:solidFill>
                      <a:srgbClr val="F2F2F2"/>
                    </a:solidFill>
                  </a:tcPr>
                </a:tc>
                <a:tc>
                  <a:txBody>
                    <a:bodyPr wrap="square"/>
                    <a:lstStyle/>
                    <a:p>
                      <a:pPr algn="l"/>
                      <a:r>
                        <a:rPr sz="1600" b="0">
                          <a:solidFill>
                            <a:srgbClr val="222222"/>
                          </a:solidFill>
                          <a:latin typeface="Arial"/>
                        </a:rPr>
                        <a:t>Depois que Dembélé saiu, qual companheiro mais passou a bola para Mbappé? (jogador)</a:t>
                      </a:r>
                    </a:p>
                  </a:txBody>
                  <a:tcPr anchor="ctr">
                    <a:solidFill>
                      <a:srgbClr val="F2F2F2"/>
                    </a:solidFill>
                  </a:tcPr>
                </a:tc>
              </a:tr>
              <a:tr h="655320">
                <a:tc>
                  <a:txBody>
                    <a:bodyPr wrap="square"/>
                    <a:lstStyle/>
                    <a:p>
                      <a:pPr algn="l"/>
                      <a:r>
                        <a:rPr sz="1600" b="1">
                          <a:solidFill>
                            <a:srgbClr val="222222"/>
                          </a:solidFill>
                          <a:latin typeface="Arial"/>
                        </a:rPr>
                        <a:t>Controle</a:t>
                      </a:r>
                    </a:p>
                  </a:txBody>
                  <a:tcPr anchor="ctr">
                    <a:solidFill>
                      <a:srgbClr val="FFFFFF"/>
                    </a:solidFill>
                  </a:tcPr>
                </a:tc>
                <a:tc>
                  <a:txBody>
                    <a:bodyPr wrap="square"/>
                    <a:lstStyle/>
                    <a:p>
                      <a:pPr algn="l"/>
                      <a:r>
                        <a:rPr sz="1600" b="0">
                          <a:solidFill>
                            <a:srgbClr val="222222"/>
                          </a:solidFill>
                          <a:latin typeface="Arial"/>
                        </a:rPr>
                        <a:t>5</a:t>
                      </a:r>
                    </a:p>
                  </a:txBody>
                  <a:tcPr anchor="ctr">
                    <a:solidFill>
                      <a:srgbClr val="FFFFFF"/>
                    </a:solidFill>
                  </a:tcPr>
                </a:tc>
                <a:tc>
                  <a:txBody>
                    <a:bodyPr wrap="square"/>
                    <a:lstStyle/>
                    <a:p>
                      <a:pPr algn="l"/>
                      <a:r>
                        <a:rPr sz="1600" b="0">
                          <a:solidFill>
                            <a:srgbClr val="222222"/>
                          </a:solidFill>
                          <a:latin typeface="Arial"/>
                        </a:rPr>
                        <a:t>Qual foi a distância total percorrida por Rodrigo De Paul? (ausência de dados)</a:t>
                      </a:r>
                    </a:p>
                  </a:txBody>
                  <a:tcPr anchor="ctr">
                    <a:solidFill>
                      <a:srgbClr val="FFFFFF"/>
                    </a:solidFill>
                  </a:tcPr>
                </a:tc>
              </a:tr>
            </a:tbl>
          </a:graphicData>
        </a:graphic>
      </p:graphicFrame>
      <p:sp>
        <p:nvSpPr>
          <p:cNvPr id="6" name="TextBox 5"/>
          <p:cNvSpPr txBox="1"/>
          <p:nvPr/>
        </p:nvSpPr>
        <p:spPr>
          <a:xfrm>
            <a:off x="640080" y="5669280"/>
            <a:ext cx="10881360" cy="640080"/>
          </a:xfrm>
          <a:prstGeom prst="rect">
            <a:avLst/>
          </a:prstGeom>
          <a:noFill/>
        </p:spPr>
        <p:txBody>
          <a:bodyPr wrap="square" anchor="t" lIns="45720" rIns="45720">
            <a:spAutoFit/>
          </a:bodyPr>
          <a:lstStyle/>
          <a:p>
            <a:pPr algn="l">
              <a:spcAft>
                <a:spcPts val="600"/>
              </a:spcAft>
            </a:pPr>
            <a:r>
              <a:rPr sz="1500" b="0">
                <a:solidFill>
                  <a:srgbClr val="666666"/>
                </a:solidFill>
                <a:latin typeface="Arial"/>
              </a:rPr>
              <a:t>47 perguntas com resposta e 5 de controle. Gabarito calculado por código, a partir do JSON bruto e da tabela de ações.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Seis abordagens para dar os dados ao modelo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8 / 15</a:t>
            </a:r>
          </a:p>
        </p:txBody>
      </p:sp>
      <p:graphicFrame>
        <p:nvGraphicFramePr>
          <p:cNvPr id="5" name="Table 4"/>
          <p:cNvGraphicFramePr>
            <a:graphicFrameLocks noGrp="1"/>
          </p:cNvGraphicFramePr>
          <p:nvPr/>
        </p:nvGraphicFramePr>
        <p:xfrm>
          <a:off x="640080" y="1463040"/>
          <a:ext cx="10881360" cy="3291840"/>
        </p:xfrm>
        <a:graphic>
          <a:graphicData uri="http://schemas.openxmlformats.org/drawingml/2006/table">
            <a:tbl>
              <a:tblPr firstRow="0" bandRow="0">
                <a:tableStyleId>{5C22544A-7EE6-4342-B048-85BDC9FD1C3A}</a:tableStyleId>
              </a:tblPr>
              <a:tblGrid>
                <a:gridCol w="3840480"/>
                <a:gridCol w="7040880"/>
              </a:tblGrid>
              <a:tr h="470262">
                <a:tc>
                  <a:txBody>
                    <a:bodyPr wrap="square"/>
                    <a:lstStyle/>
                    <a:p>
                      <a:pPr algn="l"/>
                      <a:r>
                        <a:rPr sz="1700" b="1">
                          <a:solidFill>
                            <a:srgbClr val="FFFFFF"/>
                          </a:solidFill>
                          <a:latin typeface="Arial"/>
                        </a:rPr>
                        <a:t>Abordagem</a:t>
                      </a:r>
                    </a:p>
                  </a:txBody>
                  <a:tcPr anchor="ctr">
                    <a:solidFill>
                      <a:srgbClr val="222222"/>
                    </a:solidFill>
                  </a:tcPr>
                </a:tc>
                <a:tc>
                  <a:txBody>
                    <a:bodyPr wrap="square"/>
                    <a:lstStyle/>
                    <a:p>
                      <a:pPr algn="l"/>
                      <a:r>
                        <a:rPr sz="1700" b="1">
                          <a:solidFill>
                            <a:srgbClr val="FFFFFF"/>
                          </a:solidFill>
                          <a:latin typeface="Arial"/>
                        </a:rPr>
                        <a:t>O que o modelo recebe</a:t>
                      </a:r>
                    </a:p>
                  </a:txBody>
                  <a:tcPr anchor="ctr">
                    <a:solidFill>
                      <a:srgbClr val="222222"/>
                    </a:solidFill>
                  </a:tcPr>
                </a:tc>
              </a:tr>
              <a:tr h="470262">
                <a:tc>
                  <a:txBody>
                    <a:bodyPr wrap="square"/>
                    <a:lstStyle/>
                    <a:p>
                      <a:pPr algn="l"/>
                      <a:r>
                        <a:rPr sz="1700" b="1">
                          <a:solidFill>
                            <a:srgbClr val="222222"/>
                          </a:solidFill>
                          <a:latin typeface="Arial"/>
                        </a:rPr>
                        <a:t>Sem dados</a:t>
                      </a:r>
                    </a:p>
                  </a:txBody>
                  <a:tcPr anchor="ctr">
                    <a:solidFill>
                      <a:srgbClr val="FFFFFF"/>
                    </a:solidFill>
                  </a:tcPr>
                </a:tc>
                <a:tc>
                  <a:txBody>
                    <a:bodyPr wrap="square"/>
                    <a:lstStyle/>
                    <a:p>
                      <a:pPr algn="l"/>
                      <a:r>
                        <a:rPr sz="1700" b="0">
                          <a:solidFill>
                            <a:srgbClr val="222222"/>
                          </a:solidFill>
                          <a:latin typeface="Arial"/>
                        </a:rPr>
                        <a:t>só a pergunta (linha de base)</a:t>
                      </a:r>
                    </a:p>
                  </a:txBody>
                  <a:tcPr anchor="ctr">
                    <a:solidFill>
                      <a:srgbClr val="FFFFFF"/>
                    </a:solidFill>
                  </a:tcPr>
                </a:tc>
              </a:tr>
              <a:tr h="470262">
                <a:tc>
                  <a:txBody>
                    <a:bodyPr wrap="square"/>
                    <a:lstStyle/>
                    <a:p>
                      <a:pPr algn="l"/>
                      <a:r>
                        <a:rPr sz="1700" b="1">
                          <a:solidFill>
                            <a:srgbClr val="222222"/>
                          </a:solidFill>
                          <a:latin typeface="Arial"/>
                        </a:rPr>
                        <a:t>Contexto longo</a:t>
                      </a:r>
                    </a:p>
                  </a:txBody>
                  <a:tcPr anchor="ctr">
                    <a:solidFill>
                      <a:srgbClr val="F2F2F2"/>
                    </a:solidFill>
                  </a:tcPr>
                </a:tc>
                <a:tc>
                  <a:txBody>
                    <a:bodyPr wrap="square"/>
                    <a:lstStyle/>
                    <a:p>
                      <a:pPr algn="l"/>
                      <a:r>
                        <a:rPr sz="1700" b="0">
                          <a:solidFill>
                            <a:srgbClr val="222222"/>
                          </a:solidFill>
                          <a:latin typeface="Arial"/>
                        </a:rPr>
                        <a:t>a tabela com as 2.585 ações, inteira, no prompt</a:t>
                      </a:r>
                    </a:p>
                  </a:txBody>
                  <a:tcPr anchor="ctr">
                    <a:solidFill>
                      <a:srgbClr val="F2F2F2"/>
                    </a:solidFill>
                  </a:tcPr>
                </a:tc>
              </a:tr>
              <a:tr h="470262">
                <a:tc>
                  <a:txBody>
                    <a:bodyPr wrap="square"/>
                    <a:lstStyle/>
                    <a:p>
                      <a:pPr algn="l"/>
                      <a:r>
                        <a:rPr sz="1700" b="1">
                          <a:solidFill>
                            <a:srgbClr val="222222"/>
                          </a:solidFill>
                          <a:latin typeface="Arial"/>
                        </a:rPr>
                        <a:t>Estatísticas resumidas</a:t>
                      </a:r>
                    </a:p>
                  </a:txBody>
                  <a:tcPr anchor="ctr">
                    <a:solidFill>
                      <a:srgbClr val="FFFFFF"/>
                    </a:solidFill>
                  </a:tcPr>
                </a:tc>
                <a:tc>
                  <a:txBody>
                    <a:bodyPr wrap="square"/>
                    <a:lstStyle/>
                    <a:p>
                      <a:pPr algn="l"/>
                      <a:r>
                        <a:rPr sz="1700" b="0">
                          <a:solidFill>
                            <a:srgbClr val="222222"/>
                          </a:solidFill>
                          <a:latin typeface="Arial"/>
                        </a:rPr>
                        <a:t>a súmula: totais por jogador e por time</a:t>
                      </a:r>
                    </a:p>
                  </a:txBody>
                  <a:tcPr anchor="ctr">
                    <a:solidFill>
                      <a:srgbClr val="FFFFFF"/>
                    </a:solidFill>
                  </a:tcPr>
                </a:tc>
              </a:tr>
              <a:tr h="470262">
                <a:tc>
                  <a:txBody>
                    <a:bodyPr wrap="square"/>
                    <a:lstStyle/>
                    <a:p>
                      <a:pPr algn="l"/>
                      <a:r>
                        <a:rPr sz="1700" b="1">
                          <a:solidFill>
                            <a:srgbClr val="222222"/>
                          </a:solidFill>
                          <a:latin typeface="Arial"/>
                        </a:rPr>
                        <a:t>Busca vetorial</a:t>
                      </a:r>
                    </a:p>
                  </a:txBody>
                  <a:tcPr anchor="ctr">
                    <a:solidFill>
                      <a:srgbClr val="F2F2F2"/>
                    </a:solidFill>
                  </a:tcPr>
                </a:tc>
                <a:tc>
                  <a:txBody>
                    <a:bodyPr wrap="square"/>
                    <a:lstStyle/>
                    <a:p>
                      <a:pPr algn="l"/>
                      <a:r>
                        <a:rPr sz="1700" b="0">
                          <a:solidFill>
                            <a:srgbClr val="222222"/>
                          </a:solidFill>
                          <a:latin typeface="Arial"/>
                        </a:rPr>
                        <a:t>as 30 linhas mais parecidas com a pergunta (embeddings)</a:t>
                      </a:r>
                    </a:p>
                  </a:txBody>
                  <a:tcPr anchor="ctr">
                    <a:solidFill>
                      <a:srgbClr val="F2F2F2"/>
                    </a:solidFill>
                  </a:tcPr>
                </a:tc>
              </a:tr>
              <a:tr h="470262">
                <a:tc>
                  <a:txBody>
                    <a:bodyPr wrap="square"/>
                    <a:lstStyle/>
                    <a:p>
                      <a:pPr algn="l"/>
                      <a:r>
                        <a:rPr sz="1700" b="1">
                          <a:solidFill>
                            <a:srgbClr val="222222"/>
                          </a:solidFill>
                          <a:latin typeface="Arial"/>
                        </a:rPr>
                        <a:t>Consulta escrita pelo modelo</a:t>
                      </a:r>
                    </a:p>
                  </a:txBody>
                  <a:tcPr anchor="ctr">
                    <a:solidFill>
                      <a:srgbClr val="E6EEF6"/>
                    </a:solidFill>
                  </a:tcPr>
                </a:tc>
                <a:tc>
                  <a:txBody>
                    <a:bodyPr wrap="square"/>
                    <a:lstStyle/>
                    <a:p>
                      <a:pPr algn="l"/>
                      <a:r>
                        <a:rPr sz="1700" b="0">
                          <a:solidFill>
                            <a:srgbClr val="222222"/>
                          </a:solidFill>
                          <a:latin typeface="Arial"/>
                        </a:rPr>
                        <a:t>o esquema do grafo e o resultado da consulta que o modelo escreveu</a:t>
                      </a:r>
                    </a:p>
                  </a:txBody>
                  <a:tcPr anchor="ctr">
                    <a:solidFill>
                      <a:srgbClr val="E6EEF6"/>
                    </a:solidFill>
                  </a:tcPr>
                </a:tc>
              </a:tr>
              <a:tr h="470268">
                <a:tc>
                  <a:txBody>
                    <a:bodyPr wrap="square"/>
                    <a:lstStyle/>
                    <a:p>
                      <a:pPr algn="l"/>
                      <a:r>
                        <a:rPr sz="1700" b="1">
                          <a:solidFill>
                            <a:srgbClr val="222222"/>
                          </a:solidFill>
                          <a:latin typeface="Arial"/>
                        </a:rPr>
                        <a:t>Ferramentas sobre o grafo</a:t>
                      </a:r>
                    </a:p>
                  </a:txBody>
                  <a:tcPr anchor="ctr">
                    <a:solidFill>
                      <a:srgbClr val="E6EEF6"/>
                    </a:solidFill>
                  </a:tcPr>
                </a:tc>
                <a:tc>
                  <a:txBody>
                    <a:bodyPr wrap="square"/>
                    <a:lstStyle/>
                    <a:p>
                      <a:pPr algn="l"/>
                      <a:r>
                        <a:rPr sz="1700" b="0">
                          <a:solidFill>
                            <a:srgbClr val="222222"/>
                          </a:solidFill>
                          <a:latin typeface="Arial"/>
                        </a:rPr>
                        <a:t>o resultado de 8 ferramentas com consulta parametrizada, que o modelo chama</a:t>
                      </a:r>
                    </a:p>
                  </a:txBody>
                  <a:tcPr anchor="ctr">
                    <a:solidFill>
                      <a:srgbClr val="E6EEF6"/>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Mesmo grafo, duas formas de consultar</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9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Registro real (Claude Haiku 5.5, a01); trechos abreviados com [...]. Uma chamada bastou nas duas; limite de 12 chamadas.</a:t>
            </a:r>
          </a:p>
        </p:txBody>
      </p:sp>
      <p:sp>
        <p:nvSpPr>
          <p:cNvPr id="6" name="Rectangle 5"/>
          <p:cNvSpPr/>
          <p:nvPr/>
        </p:nvSpPr>
        <p:spPr>
          <a:xfrm>
            <a:off x="640080" y="1417320"/>
            <a:ext cx="10881360" cy="5029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44752"/>
            <a:ext cx="10607040" cy="457200"/>
          </a:xfrm>
          <a:prstGeom prst="rect">
            <a:avLst/>
          </a:prstGeom>
          <a:noFill/>
        </p:spPr>
        <p:txBody>
          <a:bodyPr wrap="square" anchor="ctr" lIns="45720" rIns="45720">
            <a:spAutoFit/>
          </a:bodyPr>
          <a:lstStyle/>
          <a:p>
            <a:pPr algn="l">
              <a:spcAft>
                <a:spcPts val="600"/>
              </a:spcAft>
            </a:pPr>
            <a:r>
              <a:rPr sz="1600" b="1">
                <a:solidFill>
                  <a:srgbClr val="222222"/>
                </a:solidFill>
                <a:latin typeface="Arial"/>
              </a:rPr>
              <a:t>Pergunta a01: Quem deu mais passes certos no terço final do campo pela Argentina?</a:t>
            </a:r>
          </a:p>
        </p:txBody>
      </p:sp>
      <p:sp>
        <p:nvSpPr>
          <p:cNvPr id="8" name="Rectangle 7"/>
          <p:cNvSpPr/>
          <p:nvPr/>
        </p:nvSpPr>
        <p:spPr>
          <a:xfrm>
            <a:off x="640080" y="2057400"/>
            <a:ext cx="5349240" cy="42519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03120"/>
            <a:ext cx="5029200" cy="365760"/>
          </a:xfrm>
          <a:prstGeom prst="rect">
            <a:avLst/>
          </a:prstGeom>
          <a:noFill/>
        </p:spPr>
        <p:txBody>
          <a:bodyPr wrap="square" anchor="t" lIns="45720" rIns="45720">
            <a:spAutoFit/>
          </a:bodyPr>
          <a:lstStyle/>
          <a:p>
            <a:pPr algn="l">
              <a:spcAft>
                <a:spcPts val="600"/>
              </a:spcAft>
            </a:pPr>
            <a:r>
              <a:rPr sz="1700" b="1">
                <a:solidFill>
                  <a:srgbClr val="222222"/>
                </a:solidFill>
                <a:latin typeface="Arial"/>
              </a:rPr>
              <a:t>Consulta escrita pelo modelo</a:t>
            </a:r>
          </a:p>
        </p:txBody>
      </p:sp>
      <p:sp>
        <p:nvSpPr>
          <p:cNvPr id="10" name="TextBox 9"/>
          <p:cNvSpPr txBox="1"/>
          <p:nvPr/>
        </p:nvSpPr>
        <p:spPr>
          <a:xfrm>
            <a:off x="777240" y="2468880"/>
            <a:ext cx="5074920" cy="320040"/>
          </a:xfrm>
          <a:prstGeom prst="rect">
            <a:avLst/>
          </a:prstGeom>
          <a:noFill/>
        </p:spPr>
        <p:txBody>
          <a:bodyPr wrap="square" anchor="t" lIns="45720" rIns="45720">
            <a:spAutoFit/>
          </a:bodyPr>
          <a:lstStyle/>
          <a:p>
            <a:pPr algn="l">
              <a:spcAft>
                <a:spcPts val="600"/>
              </a:spcAft>
            </a:pPr>
            <a:r>
              <a:rPr sz="1400" b="0">
                <a:solidFill>
                  <a:srgbClr val="222222"/>
                </a:solidFill>
                <a:latin typeface="Arial"/>
              </a:rPr>
              <a:t>Modelo chama run_cypher com a consulta que escreveu:</a:t>
            </a:r>
          </a:p>
        </p:txBody>
      </p:sp>
      <p:sp>
        <p:nvSpPr>
          <p:cNvPr id="11" name="Rectangle 10"/>
          <p:cNvSpPr/>
          <p:nvPr/>
        </p:nvSpPr>
        <p:spPr>
          <a:xfrm>
            <a:off x="777240" y="2807208"/>
            <a:ext cx="5074920" cy="21488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52927"/>
            <a:ext cx="4892040" cy="2057400"/>
          </a:xfrm>
          <a:prstGeom prst="rect">
            <a:avLst/>
          </a:prstGeom>
          <a:noFill/>
        </p:spPr>
        <p:txBody>
          <a:bodyPr wrap="square">
            <a:spAutoFit/>
          </a:bodyPr>
          <a:lstStyle/>
          <a:p>
            <a:r>
              <a:rPr sz="1300">
                <a:solidFill>
                  <a:srgbClr val="E8E8E8"/>
                </a:solidFill>
                <a:latin typeface="Courier New"/>
              </a:rPr>
              <a:t>MATCH (j:Jogador)-[r:REALIZOU]-&gt;</a:t>
            </a:r>
          </a:p>
          <a:p>
            <a:r>
              <a:rPr sz="1300">
                <a:solidFill>
                  <a:srgbClr val="E8E8E8"/>
                </a:solidFill>
                <a:latin typeface="Courier New"/>
              </a:rPr>
              <a:t>  (p:Partida [...])</a:t>
            </a:r>
          </a:p>
          <a:p>
            <a:r>
              <a:rPr sz="1300">
                <a:solidFill>
                  <a:srgbClr val="E8E8E8"/>
                </a:solidFill>
                <a:latin typeface="Courier New"/>
              </a:rPr>
              <a:t>WHERE j.time = 'Argentina'</a:t>
            </a:r>
          </a:p>
          <a:p>
            <a:r>
              <a:rPr sz="1300">
                <a:solidFill>
                  <a:srgbClr val="E8E8E8"/>
                </a:solidFill>
                <a:latin typeface="Courier New"/>
              </a:rPr>
              <a:t>  AND r.acao = 'passe'</a:t>
            </a:r>
          </a:p>
          <a:p>
            <a:r>
              <a:rPr sz="1300">
                <a:solidFill>
                  <a:srgbClr val="E8E8E8"/>
                </a:solidFill>
                <a:latin typeface="Courier New"/>
              </a:rPr>
              <a:t>  AND r.sucesso = true</a:t>
            </a:r>
          </a:p>
          <a:p>
            <a:r>
              <a:rPr sz="1300">
                <a:solidFill>
                  <a:srgbClr val="E8E8E8"/>
                </a:solidFill>
                <a:latin typeface="Courier New"/>
              </a:rPr>
              <a:t>  AND r.terco = 'ataque' [...]</a:t>
            </a:r>
          </a:p>
          <a:p>
            <a:r>
              <a:rPr sz="1300">
                <a:solidFill>
                  <a:srgbClr val="E8E8E8"/>
                </a:solidFill>
                <a:latin typeface="Courier New"/>
              </a:rPr>
              <a:t>RETURN j.nome AS jogador,</a:t>
            </a:r>
          </a:p>
          <a:p>
            <a:r>
              <a:rPr sz="1300">
                <a:solidFill>
                  <a:srgbClr val="E8E8E8"/>
                </a:solidFill>
                <a:latin typeface="Courier New"/>
              </a:rPr>
              <a:t>  count(r) AS passes_certos_terco_final</a:t>
            </a:r>
          </a:p>
          <a:p>
            <a:r>
              <a:rPr sz="1300">
                <a:solidFill>
                  <a:srgbClr val="E8E8E8"/>
                </a:solidFill>
                <a:latin typeface="Courier New"/>
              </a:rPr>
              <a:t>ORDER BY passes_certos_terco_final DESC</a:t>
            </a:r>
          </a:p>
          <a:p>
            <a:r>
              <a:rPr sz="1300">
                <a:solidFill>
                  <a:srgbClr val="E8E8E8"/>
                </a:solidFill>
                <a:latin typeface="Courier New"/>
              </a:rPr>
              <a:t>LIMIT 10</a:t>
            </a:r>
          </a:p>
        </p:txBody>
      </p:sp>
      <p:sp>
        <p:nvSpPr>
          <p:cNvPr id="13" name="TextBox 12"/>
          <p:cNvSpPr txBox="1"/>
          <p:nvPr/>
        </p:nvSpPr>
        <p:spPr>
          <a:xfrm>
            <a:off x="777240" y="4983480"/>
            <a:ext cx="5074920" cy="365760"/>
          </a:xfrm>
          <a:prstGeom prst="rect">
            <a:avLst/>
          </a:prstGeom>
          <a:noFill/>
        </p:spPr>
        <p:txBody>
          <a:bodyPr wrap="square" anchor="t" lIns="45720" rIns="45720">
            <a:spAutoFit/>
          </a:bodyPr>
          <a:lstStyle/>
          <a:p>
            <a:pPr algn="l">
              <a:spcAft>
                <a:spcPts val="600"/>
              </a:spcAft>
            </a:pPr>
            <a:r>
              <a:rPr sz="1400" b="0">
                <a:solidFill>
                  <a:srgbClr val="222222"/>
                </a:solidFill>
                <a:latin typeface="Arial"/>
              </a:rPr>
              <a:t>Ferramenta executa no grafo e devolve:</a:t>
            </a:r>
          </a:p>
        </p:txBody>
      </p:sp>
      <p:sp>
        <p:nvSpPr>
          <p:cNvPr id="14" name="Rectangle 13"/>
          <p:cNvSpPr/>
          <p:nvPr/>
        </p:nvSpPr>
        <p:spPr>
          <a:xfrm>
            <a:off x="777240" y="5349240"/>
            <a:ext cx="5074920" cy="5486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394959"/>
            <a:ext cx="4892040" cy="457200"/>
          </a:xfrm>
          <a:prstGeom prst="rect">
            <a:avLst/>
          </a:prstGeom>
          <a:noFill/>
        </p:spPr>
        <p:txBody>
          <a:bodyPr wrap="square">
            <a:spAutoFit/>
          </a:bodyPr>
          <a:lstStyle/>
          <a:p>
            <a:r>
              <a:rPr sz="1300">
                <a:solidFill>
                  <a:srgbClr val="E8E8E8"/>
                </a:solidFill>
                <a:latin typeface="Courier New"/>
              </a:rPr>
              <a:t>Lionel Andrés Messi Cuccittini: 24</a:t>
            </a:r>
          </a:p>
          <a:p>
            <a:r>
              <a:rPr sz="1300">
                <a:solidFill>
                  <a:srgbClr val="E8E8E8"/>
                </a:solidFill>
                <a:latin typeface="Courier New"/>
              </a:rPr>
              <a:t>Alexis Mac Allister: 18 [...]</a:t>
            </a:r>
          </a:p>
        </p:txBody>
      </p:sp>
      <p:sp>
        <p:nvSpPr>
          <p:cNvPr id="16" name="TextBox 15"/>
          <p:cNvSpPr txBox="1"/>
          <p:nvPr/>
        </p:nvSpPr>
        <p:spPr>
          <a:xfrm>
            <a:off x="777240" y="5916168"/>
            <a:ext cx="5074920" cy="365760"/>
          </a:xfrm>
          <a:prstGeom prst="rect">
            <a:avLst/>
          </a:prstGeom>
          <a:noFill/>
        </p:spPr>
        <p:txBody>
          <a:bodyPr wrap="square" anchor="ctr" lIns="45720" rIns="45720">
            <a:spAutoFit/>
          </a:bodyPr>
          <a:lstStyle/>
          <a:p>
            <a:pPr algn="l">
              <a:spcAft>
                <a:spcPts val="600"/>
              </a:spcAft>
            </a:pPr>
            <a:r>
              <a:rPr sz="1400" b="1">
                <a:solidFill>
                  <a:srgbClr val="222222"/>
                </a:solidFill>
                <a:latin typeface="Arial"/>
              </a:rPr>
              <a:t>Modelo responde: Lionel Andrés Messi Cuccittini</a:t>
            </a:r>
          </a:p>
        </p:txBody>
      </p:sp>
      <p:sp>
        <p:nvSpPr>
          <p:cNvPr id="17" name="Rectangle 16"/>
          <p:cNvSpPr/>
          <p:nvPr/>
        </p:nvSpPr>
        <p:spPr>
          <a:xfrm>
            <a:off x="6172200" y="2057400"/>
            <a:ext cx="5349240" cy="425196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2103120"/>
            <a:ext cx="5029200" cy="365760"/>
          </a:xfrm>
          <a:prstGeom prst="rect">
            <a:avLst/>
          </a:prstGeom>
          <a:noFill/>
        </p:spPr>
        <p:txBody>
          <a:bodyPr wrap="square" anchor="t" lIns="45720" rIns="45720">
            <a:spAutoFit/>
          </a:bodyPr>
          <a:lstStyle/>
          <a:p>
            <a:pPr algn="l">
              <a:spcAft>
                <a:spcPts val="600"/>
              </a:spcAft>
            </a:pPr>
            <a:r>
              <a:rPr sz="1700" b="1">
                <a:solidFill>
                  <a:srgbClr val="1F5C99"/>
                </a:solidFill>
                <a:latin typeface="Arial"/>
              </a:rPr>
              <a:t>Ferramentas sobre o grafo</a:t>
            </a:r>
          </a:p>
        </p:txBody>
      </p:sp>
      <p:sp>
        <p:nvSpPr>
          <p:cNvPr id="19" name="TextBox 18"/>
          <p:cNvSpPr txBox="1"/>
          <p:nvPr/>
        </p:nvSpPr>
        <p:spPr>
          <a:xfrm>
            <a:off x="6309360" y="2468880"/>
            <a:ext cx="5074920" cy="320040"/>
          </a:xfrm>
          <a:prstGeom prst="rect">
            <a:avLst/>
          </a:prstGeom>
          <a:noFill/>
        </p:spPr>
        <p:txBody>
          <a:bodyPr wrap="square" anchor="t" lIns="45720" rIns="45720">
            <a:spAutoFit/>
          </a:bodyPr>
          <a:lstStyle/>
          <a:p>
            <a:pPr algn="l">
              <a:spcAft>
                <a:spcPts val="600"/>
              </a:spcAft>
            </a:pPr>
            <a:r>
              <a:rPr sz="1400" b="0">
                <a:solidFill>
                  <a:srgbClr val="222222"/>
                </a:solidFill>
                <a:latin typeface="Arial"/>
              </a:rPr>
              <a:t>Modelo escolhe query_actions e preenche os argumentos:</a:t>
            </a:r>
          </a:p>
        </p:txBody>
      </p:sp>
      <p:sp>
        <p:nvSpPr>
          <p:cNvPr id="20" name="Rectangle 19"/>
          <p:cNvSpPr/>
          <p:nvPr/>
        </p:nvSpPr>
        <p:spPr>
          <a:xfrm>
            <a:off x="6309360" y="2807208"/>
            <a:ext cx="5074920" cy="21488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2852927"/>
            <a:ext cx="4892040" cy="2057400"/>
          </a:xfrm>
          <a:prstGeom prst="rect">
            <a:avLst/>
          </a:prstGeom>
          <a:noFill/>
        </p:spPr>
        <p:txBody>
          <a:bodyPr wrap="square">
            <a:spAutoFit/>
          </a:bodyPr>
          <a:lstStyle/>
          <a:p>
            <a:r>
              <a:rPr sz="1300">
                <a:solidFill>
                  <a:srgbClr val="E8E8E8"/>
                </a:solidFill>
                <a:latin typeface="Courier New"/>
              </a:rPr>
              <a:t>filters: {team: "Argentina",</a:t>
            </a:r>
          </a:p>
          <a:p>
            <a:r>
              <a:rPr sz="1300">
                <a:solidFill>
                  <a:srgbClr val="E8E8E8"/>
                </a:solidFill>
                <a:latin typeface="Courier New"/>
              </a:rPr>
              <a:t>  action: ["passe"], success: true,</a:t>
            </a:r>
          </a:p>
          <a:p>
            <a:r>
              <a:rPr sz="1300">
                <a:solidFill>
                  <a:srgbClr val="E8E8E8"/>
                </a:solidFill>
                <a:latin typeface="Courier New"/>
              </a:rPr>
              <a:t>  third: "attacking"},</a:t>
            </a:r>
          </a:p>
          <a:p>
            <a:r>
              <a:rPr sz="1300">
                <a:solidFill>
                  <a:srgbClr val="E8E8E8"/>
                </a:solidFill>
                <a:latin typeface="Courier New"/>
              </a:rPr>
              <a:t>group_by: ["player"], metric: "count",</a:t>
            </a:r>
          </a:p>
          <a:p>
            <a:r>
              <a:rPr sz="1300">
                <a:solidFill>
                  <a:srgbClr val="E8E8E8"/>
                </a:solidFill>
                <a:latin typeface="Courier New"/>
              </a:rPr>
              <a:t>top: 5</a:t>
            </a:r>
          </a:p>
        </p:txBody>
      </p:sp>
      <p:sp>
        <p:nvSpPr>
          <p:cNvPr id="22" name="TextBox 21"/>
          <p:cNvSpPr txBox="1"/>
          <p:nvPr/>
        </p:nvSpPr>
        <p:spPr>
          <a:xfrm>
            <a:off x="6309360" y="4983480"/>
            <a:ext cx="5074920" cy="365760"/>
          </a:xfrm>
          <a:prstGeom prst="rect">
            <a:avLst/>
          </a:prstGeom>
          <a:noFill/>
        </p:spPr>
        <p:txBody>
          <a:bodyPr wrap="square" anchor="t" lIns="45720" rIns="45720">
            <a:spAutoFit/>
          </a:bodyPr>
          <a:lstStyle/>
          <a:p>
            <a:pPr algn="l">
              <a:spcAft>
                <a:spcPts val="600"/>
              </a:spcAft>
            </a:pPr>
            <a:r>
              <a:rPr sz="1400" b="0">
                <a:solidFill>
                  <a:srgbClr val="222222"/>
                </a:solidFill>
                <a:latin typeface="Arial"/>
              </a:rPr>
              <a:t>Ferramenta executa a consulta parametrizada e devolve:</a:t>
            </a:r>
          </a:p>
        </p:txBody>
      </p:sp>
      <p:sp>
        <p:nvSpPr>
          <p:cNvPr id="23" name="Rectangle 22"/>
          <p:cNvSpPr/>
          <p:nvPr/>
        </p:nvSpPr>
        <p:spPr>
          <a:xfrm>
            <a:off x="6309360" y="5349240"/>
            <a:ext cx="5074920" cy="5486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5394959"/>
            <a:ext cx="4892040" cy="457200"/>
          </a:xfrm>
          <a:prstGeom prst="rect">
            <a:avLst/>
          </a:prstGeom>
          <a:noFill/>
        </p:spPr>
        <p:txBody>
          <a:bodyPr wrap="square">
            <a:spAutoFit/>
          </a:bodyPr>
          <a:lstStyle/>
          <a:p>
            <a:r>
              <a:rPr sz="1300">
                <a:solidFill>
                  <a:srgbClr val="E8E8E8"/>
                </a:solidFill>
                <a:latin typeface="Courier New"/>
              </a:rPr>
              <a:t>Lionel Andrés Messi Cuccittini: 24</a:t>
            </a:r>
          </a:p>
          <a:p>
            <a:r>
              <a:rPr sz="1300">
                <a:solidFill>
                  <a:srgbClr val="E8E8E8"/>
                </a:solidFill>
                <a:latin typeface="Courier New"/>
              </a:rPr>
              <a:t>Alexis Mac Allister: 18 [...]</a:t>
            </a:r>
          </a:p>
        </p:txBody>
      </p:sp>
      <p:sp>
        <p:nvSpPr>
          <p:cNvPr id="25" name="TextBox 24"/>
          <p:cNvSpPr txBox="1"/>
          <p:nvPr/>
        </p:nvSpPr>
        <p:spPr>
          <a:xfrm>
            <a:off x="6309360" y="5916168"/>
            <a:ext cx="5074920" cy="365760"/>
          </a:xfrm>
          <a:prstGeom prst="rect">
            <a:avLst/>
          </a:prstGeom>
          <a:noFill/>
        </p:spPr>
        <p:txBody>
          <a:bodyPr wrap="square" anchor="ctr" lIns="45720" rIns="45720">
            <a:spAutoFit/>
          </a:bodyPr>
          <a:lstStyle/>
          <a:p>
            <a:pPr algn="l">
              <a:spcAft>
                <a:spcPts val="600"/>
              </a:spcAft>
            </a:pPr>
            <a:r>
              <a:rPr sz="1400" b="1">
                <a:solidFill>
                  <a:srgbClr val="222222"/>
                </a:solidFill>
                <a:latin typeface="Arial"/>
              </a:rPr>
              <a:t>Modelo responde: Lionel Andrés Messi Cuccittini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Ferramentas sobre o grafo: 83% a 89% de acerto nos 4 modelos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10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Barras de erro: intervalo de Wilson de 95%. Uma repetição por pergunta.</a:t>
            </a:r>
          </a:p>
        </p:txBody>
      </p:sp>
      <p:sp>
        <p:nvSpPr>
          <p:cNvPr id="6" name="TextBox 5"/>
          <p:cNvSpPr txBox="1"/>
          <p:nvPr/>
        </p:nvSpPr>
        <p:spPr>
          <a:xfrm>
            <a:off x="640080" y="1325880"/>
            <a:ext cx="10881360" cy="1005840"/>
          </a:xfrm>
          <a:prstGeom prst="rect">
            <a:avLst/>
          </a:prstGeom>
          <a:noFill/>
        </p:spPr>
        <p:txBody>
          <a:bodyPr wrap="square" anchor="t" lIns="45720" rIns="45720">
            <a:spAutoFit/>
          </a:bodyPr>
          <a:lstStyle/>
          <a:p>
            <a:pPr algn="l">
              <a:spcAft>
                <a:spcPts val="200"/>
              </a:spcAft>
            </a:pPr>
            <a:r>
              <a:rPr sz="1400" b="0">
                <a:solidFill>
                  <a:srgbClr val="666666"/>
                </a:solidFill>
                <a:latin typeface="Arial"/>
              </a:rPr>
              <a:t>4 modelos: Claude Haiku 5.5 e Qwen3.8-flash (menores, sem raciocínio estendido, temperatura zero); Claude Sonnet 4.6 e Kimi K3 (maiores, com raciocínio estendido).</a:t>
            </a:r>
          </a:p>
          <a:p>
            <a:pPr algn="l">
              <a:spcAft>
                <a:spcPts val="200"/>
              </a:spcAft>
            </a:pPr>
            <a:r>
              <a:rPr sz="1400" b="0">
                <a:solidFill>
                  <a:srgbClr val="666666"/>
                </a:solidFill>
                <a:latin typeface="Arial"/>
              </a:rPr>
              <a:t>52 perguntas × 6 abordagens = 312 execuções por modelo, 1 repetição por pergunta. Diferenças lidas como indícios.</a:t>
            </a:r>
          </a:p>
        </p:txBody>
      </p:sp>
      <p:graphicFrame>
        <p:nvGraphicFramePr>
          <p:cNvPr id="7" name="Chart 6"/>
          <p:cNvGraphicFramePr>
            <a:graphicFrameLocks noGrp="1"/>
          </p:cNvGraphicFramePr>
          <p:nvPr/>
        </p:nvGraphicFramePr>
        <p:xfrm>
          <a:off x="457200" y="2286000"/>
          <a:ext cx="11247120" cy="3703320"/>
        </p:xfrm>
        <a:graphic>
          <a:graphicData uri="http://schemas.openxmlformats.org/drawingml/2006/chart">
            <c:chart xmlns:c="http://schemas.openxmlformats.org/drawingml/2006/chart" r:id="rId3"/>
          </a:graphicData>
        </a:graphic>
      </p:graphicFrame>
      <p:sp>
        <p:nvSpPr>
          <p:cNvPr id="8" name="TextBox 7"/>
          <p:cNvSpPr txBox="1"/>
          <p:nvPr/>
        </p:nvSpPr>
        <p:spPr>
          <a:xfrm>
            <a:off x="640080" y="5989320"/>
            <a:ext cx="10881360" cy="365760"/>
          </a:xfrm>
          <a:prstGeom prst="rect">
            <a:avLst/>
          </a:prstGeom>
          <a:noFill/>
        </p:spPr>
        <p:txBody>
          <a:bodyPr wrap="square" anchor="t" lIns="45720" rIns="45720">
            <a:spAutoFit/>
          </a:bodyPr>
          <a:lstStyle/>
          <a:p>
            <a:pPr algn="l">
              <a:spcAft>
                <a:spcPts val="600"/>
              </a:spcAft>
            </a:pPr>
            <a:r>
              <a:rPr sz="1400" b="0">
                <a:solidFill>
                  <a:srgbClr val="222222"/>
                </a:solidFill>
                <a:latin typeface="Arial"/>
              </a:rPr>
              <a:t>As outras três acertaram pouco: Busca vetorial 9% a 17%, Estatísticas resumidas 0% a 9%, Sem dados 0% (slide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Nas perguntas encadeadas, Consulta e Contexto longo dependem do modelo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11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Acerto nas 36 perguntas encadeadas com resposta (soma dos grupos Relações, Jogadas e Momento).</a:t>
            </a:r>
          </a:p>
        </p:txBody>
      </p:sp>
      <p:graphicFrame>
        <p:nvGraphicFramePr>
          <p:cNvPr id="6" name="Chart 5"/>
          <p:cNvGraphicFramePr>
            <a:graphicFrameLocks noGrp="1"/>
          </p:cNvGraphicFramePr>
          <p:nvPr/>
        </p:nvGraphicFramePr>
        <p:xfrm>
          <a:off x="457200" y="1371600"/>
          <a:ext cx="7498079" cy="4937760"/>
        </p:xfrm>
        <a:graphic>
          <a:graphicData uri="http://schemas.openxmlformats.org/drawingml/2006/chart">
            <c:chart xmlns:c="http://schemas.openxmlformats.org/drawingml/2006/chart" r:id="rId3"/>
          </a:graphicData>
        </a:graphic>
      </p:graphicFrame>
      <p:sp>
        <p:nvSpPr>
          <p:cNvPr id="7" name="Rectangle 6"/>
          <p:cNvSpPr/>
          <p:nvPr/>
        </p:nvSpPr>
        <p:spPr>
          <a:xfrm>
            <a:off x="8229600" y="1554480"/>
            <a:ext cx="3383280" cy="4389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66760" y="1645920"/>
            <a:ext cx="3108960" cy="4206240"/>
          </a:xfrm>
          <a:prstGeom prst="rect">
            <a:avLst/>
          </a:prstGeom>
          <a:noFill/>
        </p:spPr>
        <p:txBody>
          <a:bodyPr wrap="square" anchor="t" lIns="45720" rIns="45720">
            <a:spAutoFit/>
          </a:bodyPr>
          <a:lstStyle/>
          <a:p>
            <a:pPr algn="l">
              <a:spcAft>
                <a:spcPts val="800"/>
              </a:spcAft>
            </a:pPr>
            <a:r>
              <a:rPr sz="1800" b="1">
                <a:solidFill>
                  <a:srgbClr val="1F5C99"/>
                </a:solidFill>
                <a:latin typeface="Arial"/>
              </a:rPr>
              <a:t>Leitura</a:t>
            </a:r>
          </a:p>
          <a:p>
            <a:pPr algn="l">
              <a:spcAft>
                <a:spcPts val="800"/>
              </a:spcAft>
            </a:pPr>
            <a:r>
              <a:rPr sz="1500" b="0">
                <a:solidFill>
                  <a:srgbClr val="222222"/>
                </a:solidFill>
                <a:latin typeface="Arial"/>
              </a:rPr>
              <a:t>Ferramentas: o modelo escolhe ferramenta e argumentos; o código monta e executa a consulta.</a:t>
            </a:r>
          </a:p>
          <a:p>
            <a:pPr algn="l">
              <a:spcAft>
                <a:spcPts val="800"/>
              </a:spcAft>
            </a:pPr>
            <a:r>
              <a:rPr sz="1500" b="0">
                <a:solidFill>
                  <a:srgbClr val="222222"/>
                </a:solidFill>
                <a:latin typeface="Arial"/>
              </a:rPr>
              <a:t>Consulta: a liberdade de escrever o Cypher só virou acerto nos modelos maiores.</a:t>
            </a:r>
          </a:p>
          <a:p>
            <a:pPr algn="l">
              <a:spcAft>
                <a:spcPts val="800"/>
              </a:spcAft>
            </a:pPr>
            <a:r>
              <a:rPr sz="1500" b="0">
                <a:solidFill>
                  <a:srgbClr val="222222"/>
                </a:solidFill>
                <a:latin typeface="Arial"/>
              </a:rPr>
              <a:t>Contexto longo: o modelo acha e combina as linhas certas na tabela inteira.</a:t>
            </a:r>
          </a:p>
          <a:p>
            <a:pPr algn="l">
              <a:spcAft>
                <a:spcPts val="800"/>
              </a:spcAft>
            </a:pPr>
            <a:r>
              <a:rPr sz="1500" b="1">
                <a:solidFill>
                  <a:srgbClr val="222222"/>
                </a:solidFill>
                <a:latin typeface="Arial"/>
              </a:rPr>
              <a:t>Contrapartida: Ferramentas só respondem ao que as ferramentas cobrem.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Busca vetorial, Estatísticas resumidas e Sem dados ficam baixas por motivos diferentes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12 / 15</a:t>
            </a:r>
          </a:p>
        </p:txBody>
      </p:sp>
      <p:sp>
        <p:nvSpPr>
          <p:cNvPr id="5" name="Rectangle 4"/>
          <p:cNvSpPr/>
          <p:nvPr/>
        </p:nvSpPr>
        <p:spPr>
          <a:xfrm>
            <a:off x="64008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Busca vetorial</a:t>
            </a:r>
          </a:p>
          <a:p>
            <a:pPr algn="l">
              <a:spcAft>
                <a:spcPts val="1000"/>
              </a:spcAft>
            </a:pPr>
            <a:r>
              <a:rPr sz="3400" b="1">
                <a:solidFill>
                  <a:srgbClr val="1F5C99"/>
                </a:solidFill>
                <a:latin typeface="Arial"/>
              </a:rPr>
              <a:t>9% a 17%</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Traz as 30 linhas mais parecidas com a pergunta, de 2.585. Contar exige todas as linhas de um tipo e ligar eventos exige as vizinhas.</a:t>
            </a:r>
          </a:p>
        </p:txBody>
      </p:sp>
      <p:sp>
        <p:nvSpPr>
          <p:cNvPr id="7" name="Rectangle 6"/>
          <p:cNvSpPr/>
          <p:nvPr/>
        </p:nvSpPr>
        <p:spPr>
          <a:xfrm>
            <a:off x="434340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Estatísticas resumidas</a:t>
            </a:r>
          </a:p>
          <a:p>
            <a:pPr algn="l">
              <a:spcAft>
                <a:spcPts val="1000"/>
              </a:spcAft>
            </a:pPr>
            <a:r>
              <a:rPr sz="3400" b="1">
                <a:solidFill>
                  <a:srgbClr val="1F5C99"/>
                </a:solidFill>
                <a:latin typeface="Arial"/>
              </a:rPr>
              <a:t>0% a 9%</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A súmula tem totais da partida inteira, sem recorte de tempo ou de campo e sem quem passou para quem. Os modelos se abstêm.</a:t>
            </a:r>
          </a:p>
        </p:txBody>
      </p:sp>
      <p:sp>
        <p:nvSpPr>
          <p:cNvPr id="9" name="Rectangle 8"/>
          <p:cNvSpPr/>
          <p:nvPr/>
        </p:nvSpPr>
        <p:spPr>
          <a:xfrm>
            <a:off x="804672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8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Sem dados</a:t>
            </a:r>
          </a:p>
          <a:p>
            <a:pPr algn="l">
              <a:spcAft>
                <a:spcPts val="1000"/>
              </a:spcAft>
            </a:pPr>
            <a:r>
              <a:rPr sz="3400" b="1">
                <a:solidFill>
                  <a:srgbClr val="1F5C99"/>
                </a:solidFill>
                <a:latin typeface="Arial"/>
              </a:rPr>
              <a:t>0%</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Se abstém nas 47 perguntas com resposta: o prompt proíbe responder de memória. Mede obediência.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Contexto longo nos modelos maiores custa milhares de tokens de saída e dezenas de segundos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13 / 15</a:t>
            </a:r>
          </a:p>
        </p:txBody>
      </p:sp>
      <p:sp>
        <p:nvSpPr>
          <p:cNvPr id="5" name="Rectangle 4"/>
          <p:cNvSpPr/>
          <p:nvPr/>
        </p:nvSpPr>
        <p:spPr>
          <a:xfrm>
            <a:off x="640080" y="1554480"/>
            <a:ext cx="3840480" cy="21031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91640"/>
            <a:ext cx="3566160" cy="1828800"/>
          </a:xfrm>
          <a:prstGeom prst="rect">
            <a:avLst/>
          </a:prstGeom>
          <a:noFill/>
        </p:spPr>
        <p:txBody>
          <a:bodyPr wrap="square" anchor="t" lIns="45720" rIns="45720">
            <a:spAutoFit/>
          </a:bodyPr>
          <a:lstStyle/>
          <a:p>
            <a:pPr algn="l">
              <a:spcAft>
                <a:spcPts val="600"/>
              </a:spcAft>
            </a:pPr>
            <a:r>
              <a:rPr sz="4000" b="1">
                <a:solidFill>
                  <a:srgbClr val="1F5C99"/>
                </a:solidFill>
                <a:latin typeface="Arial"/>
              </a:rPr>
              <a:t>37 s e 81 s</a:t>
            </a:r>
          </a:p>
          <a:p>
            <a:pPr algn="l">
              <a:spcAft>
                <a:spcPts val="600"/>
              </a:spcAft>
            </a:pPr>
            <a:r>
              <a:rPr sz="1800" b="0">
                <a:solidFill>
                  <a:srgbClr val="222222"/>
                </a:solidFill>
                <a:latin typeface="Arial"/>
              </a:rPr>
              <a:t>latência por pergunta</a:t>
            </a:r>
          </a:p>
          <a:p>
            <a:pPr algn="l">
              <a:spcAft>
                <a:spcPts val="600"/>
              </a:spcAft>
            </a:pPr>
            <a:r>
              <a:rPr sz="1400" b="0">
                <a:solidFill>
                  <a:srgbClr val="666666"/>
                </a:solidFill>
                <a:latin typeface="Arial"/>
              </a:rPr>
              <a:t>Contexto longo, modelos maiores (Sonnet e Kimi)</a:t>
            </a:r>
          </a:p>
        </p:txBody>
      </p:sp>
      <p:sp>
        <p:nvSpPr>
          <p:cNvPr id="7" name="Rectangle 6"/>
          <p:cNvSpPr/>
          <p:nvPr/>
        </p:nvSpPr>
        <p:spPr>
          <a:xfrm>
            <a:off x="640080" y="3840480"/>
            <a:ext cx="3840480" cy="21031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977639"/>
            <a:ext cx="3566160" cy="1828800"/>
          </a:xfrm>
          <a:prstGeom prst="rect">
            <a:avLst/>
          </a:prstGeom>
          <a:noFill/>
        </p:spPr>
        <p:txBody>
          <a:bodyPr wrap="square" anchor="t" lIns="45720" rIns="45720">
            <a:spAutoFit/>
          </a:bodyPr>
          <a:lstStyle/>
          <a:p>
            <a:pPr algn="l">
              <a:spcAft>
                <a:spcPts val="600"/>
              </a:spcAft>
            </a:pPr>
            <a:r>
              <a:rPr sz="4000" b="1">
                <a:solidFill>
                  <a:srgbClr val="1F5C99"/>
                </a:solidFill>
                <a:latin typeface="Arial"/>
              </a:rPr>
              <a:t>4,4 e 12,2 mil</a:t>
            </a:r>
          </a:p>
          <a:p>
            <a:pPr algn="l">
              <a:spcAft>
                <a:spcPts val="600"/>
              </a:spcAft>
            </a:pPr>
            <a:r>
              <a:rPr sz="1800" b="0">
                <a:solidFill>
                  <a:srgbClr val="222222"/>
                </a:solidFill>
                <a:latin typeface="Arial"/>
              </a:rPr>
              <a:t>tokens de saída por pergunta</a:t>
            </a:r>
          </a:p>
          <a:p>
            <a:pPr algn="l">
              <a:spcAft>
                <a:spcPts val="600"/>
              </a:spcAft>
            </a:pPr>
            <a:r>
              <a:rPr sz="1400" b="0">
                <a:solidFill>
                  <a:srgbClr val="666666"/>
                </a:solidFill>
                <a:latin typeface="Arial"/>
              </a:rPr>
              <a:t>Contexto longo, modelos maiores (Sonnet e Kimi)</a:t>
            </a:r>
          </a:p>
        </p:txBody>
      </p:sp>
      <p:graphicFrame>
        <p:nvGraphicFramePr>
          <p:cNvPr id="9" name="Chart 8"/>
          <p:cNvGraphicFramePr>
            <a:graphicFrameLocks noGrp="1"/>
          </p:cNvGraphicFramePr>
          <p:nvPr/>
        </p:nvGraphicFramePr>
        <p:xfrm>
          <a:off x="4754880" y="1417320"/>
          <a:ext cx="7040880" cy="4846320"/>
        </p:xfrm>
        <a:graphic>
          <a:graphicData uri="http://schemas.openxmlformats.org/drawingml/2006/chart">
            <c:chart xmlns:c="http://schemas.openxmlformats.org/drawingml/2006/chart" r:id="rId3"/>
          </a:graphicData>
        </a:graphic>
      </p:graphicFrame>
      <p:sp>
        <p:nvSpPr>
          <p:cNvPr id="10" name="TextBox 9"/>
          <p:cNvSpPr txBox="1"/>
          <p:nvPr/>
        </p:nvSpPr>
        <p:spPr>
          <a:xfrm>
            <a:off x="640080" y="5989320"/>
            <a:ext cx="3840480" cy="365760"/>
          </a:xfrm>
          <a:prstGeom prst="rect">
            <a:avLst/>
          </a:prstGeom>
          <a:noFill/>
        </p:spPr>
        <p:txBody>
          <a:bodyPr wrap="square" anchor="t" lIns="45720" rIns="45720">
            <a:spAutoFit/>
          </a:bodyPr>
          <a:lstStyle/>
          <a:p>
            <a:pPr algn="l">
              <a:spcAft>
                <a:spcPts val="600"/>
              </a:spcAft>
            </a:pPr>
            <a:r>
              <a:rPr sz="1400" b="0">
                <a:solidFill>
                  <a:srgbClr val="666666"/>
                </a:solidFill>
                <a:latin typeface="Arial"/>
              </a:rPr>
              <a:t>Custo só das três que mais acertaram.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Ferramentas mantiveram o acerto alto, com limites claros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14 / 15</a:t>
            </a:r>
          </a:p>
        </p:txBody>
      </p:sp>
      <p:sp>
        <p:nvSpPr>
          <p:cNvPr id="5" name="TextBox 4"/>
          <p:cNvSpPr txBox="1"/>
          <p:nvPr/>
        </p:nvSpPr>
        <p:spPr>
          <a:xfrm>
            <a:off x="640080" y="1463040"/>
            <a:ext cx="5394960" cy="457200"/>
          </a:xfrm>
          <a:prstGeom prst="rect">
            <a:avLst/>
          </a:prstGeom>
          <a:noFill/>
        </p:spPr>
        <p:txBody>
          <a:bodyPr wrap="square" anchor="t" lIns="45720" rIns="45720">
            <a:spAutoFit/>
          </a:bodyPr>
          <a:lstStyle/>
          <a:p>
            <a:pPr algn="l">
              <a:spcAft>
                <a:spcPts val="600"/>
              </a:spcAft>
            </a:pPr>
            <a:r>
              <a:rPr sz="2200" b="1">
                <a:solidFill>
                  <a:srgbClr val="1F5C99"/>
                </a:solidFill>
                <a:latin typeface="Arial"/>
              </a:rPr>
              <a:t>Conclusão</a:t>
            </a:r>
          </a:p>
        </p:txBody>
      </p:sp>
      <p:sp>
        <p:nvSpPr>
          <p:cNvPr id="6" name="TextBox 5"/>
          <p:cNvSpPr txBox="1"/>
          <p:nvPr/>
        </p:nvSpPr>
        <p:spPr>
          <a:xfrm>
            <a:off x="640080" y="2011680"/>
            <a:ext cx="5394960" cy="4206240"/>
          </a:xfrm>
          <a:prstGeom prst="rect">
            <a:avLst/>
          </a:prstGeom>
          <a:noFill/>
        </p:spPr>
        <p:txBody>
          <a:bodyPr wrap="square">
            <a:spAutoFit/>
          </a:bodyPr>
          <a:lstStyle/>
          <a:p>
            <a:pPr>
              <a:spcAft>
                <a:spcPts val="1200"/>
              </a:spcAft>
            </a:pPr>
            <a:r>
              <a:rPr sz="1800" b="1">
                <a:solidFill>
                  <a:srgbClr val="1F5C99"/>
                </a:solidFill>
                <a:latin typeface="Arial"/>
              </a:rPr>
              <a:t>• </a:t>
            </a:r>
            <a:r>
              <a:rPr sz="1800" b="1">
                <a:solidFill>
                  <a:srgbClr val="222222"/>
                </a:solidFill>
                <a:latin typeface="Arial"/>
              </a:rPr>
              <a:t>Ferramentas sobre o grafo: </a:t>
            </a:r>
            <a:r>
              <a:rPr sz="1800" b="0">
                <a:solidFill>
                  <a:srgbClr val="222222"/>
                </a:solidFill>
                <a:latin typeface="Arial"/>
              </a:rPr>
              <a:t>83% a 89% em todos os modelos.</a:t>
            </a:r>
          </a:p>
          <a:p>
            <a:pPr>
              <a:spcAft>
                <a:spcPts val="1200"/>
              </a:spcAft>
            </a:pPr>
            <a:r>
              <a:rPr sz="1800" b="1">
                <a:solidFill>
                  <a:srgbClr val="1F5C99"/>
                </a:solidFill>
                <a:latin typeface="Arial"/>
              </a:rPr>
              <a:t>• </a:t>
            </a:r>
            <a:r>
              <a:rPr sz="1800" b="1">
                <a:solidFill>
                  <a:srgbClr val="222222"/>
                </a:solidFill>
                <a:latin typeface="Arial"/>
              </a:rPr>
              <a:t>Consulta: </a:t>
            </a:r>
            <a:r>
              <a:rPr sz="1800" b="0">
                <a:solidFill>
                  <a:srgbClr val="222222"/>
                </a:solidFill>
                <a:latin typeface="Arial"/>
              </a:rPr>
              <a:t>57% a 70% nos menores; 89% a 94% nos maiores.</a:t>
            </a:r>
          </a:p>
          <a:p>
            <a:pPr>
              <a:spcAft>
                <a:spcPts val="1200"/>
              </a:spcAft>
            </a:pPr>
            <a:r>
              <a:rPr sz="1800" b="1">
                <a:solidFill>
                  <a:srgbClr val="1F5C99"/>
                </a:solidFill>
                <a:latin typeface="Arial"/>
              </a:rPr>
              <a:t>• </a:t>
            </a:r>
            <a:r>
              <a:rPr sz="1800" b="1">
                <a:solidFill>
                  <a:srgbClr val="222222"/>
                </a:solidFill>
                <a:latin typeface="Arial"/>
              </a:rPr>
              <a:t>Contexto longo: </a:t>
            </a:r>
            <a:r>
              <a:rPr sz="1800" b="0">
                <a:solidFill>
                  <a:srgbClr val="222222"/>
                </a:solidFill>
                <a:latin typeface="Arial"/>
              </a:rPr>
              <a:t>40% a 45% nos menores; 72% a 85% nos maiores, com mais tokens de saída e tempo.</a:t>
            </a:r>
          </a:p>
          <a:p>
            <a:pPr>
              <a:spcAft>
                <a:spcPts val="1200"/>
              </a:spcAft>
            </a:pPr>
            <a:r>
              <a:rPr sz="1800" b="1">
                <a:solidFill>
                  <a:srgbClr val="1F5C99"/>
                </a:solidFill>
                <a:latin typeface="Arial"/>
              </a:rPr>
              <a:t>• </a:t>
            </a:r>
            <a:r>
              <a:rPr sz="1800" b="1">
                <a:solidFill>
                  <a:srgbClr val="222222"/>
                </a:solidFill>
                <a:latin typeface="Arial"/>
              </a:rPr>
              <a:t>Busca vetorial e Estatísticas resumidas: </a:t>
            </a:r>
            <a:r>
              <a:rPr sz="1800" b="0">
                <a:solidFill>
                  <a:srgbClr val="222222"/>
                </a:solidFill>
                <a:latin typeface="Arial"/>
              </a:rPr>
              <a:t>9% a 17% e 0% a 9%.</a:t>
            </a:r>
          </a:p>
        </p:txBody>
      </p:sp>
      <p:sp>
        <p:nvSpPr>
          <p:cNvPr id="7" name="TextBox 6"/>
          <p:cNvSpPr txBox="1"/>
          <p:nvPr/>
        </p:nvSpPr>
        <p:spPr>
          <a:xfrm>
            <a:off x="6400800" y="1463040"/>
            <a:ext cx="5120640" cy="457200"/>
          </a:xfrm>
          <a:prstGeom prst="rect">
            <a:avLst/>
          </a:prstGeom>
          <a:noFill/>
        </p:spPr>
        <p:txBody>
          <a:bodyPr wrap="square" anchor="t" lIns="45720" rIns="45720">
            <a:spAutoFit/>
          </a:bodyPr>
          <a:lstStyle/>
          <a:p>
            <a:pPr algn="l">
              <a:spcAft>
                <a:spcPts val="600"/>
              </a:spcAft>
            </a:pPr>
            <a:r>
              <a:rPr sz="2200" b="1">
                <a:solidFill>
                  <a:srgbClr val="1F5C99"/>
                </a:solidFill>
                <a:latin typeface="Arial"/>
              </a:rPr>
              <a:t>Limitações</a:t>
            </a:r>
          </a:p>
        </p:txBody>
      </p:sp>
      <p:sp>
        <p:nvSpPr>
          <p:cNvPr id="8" name="TextBox 7"/>
          <p:cNvSpPr txBox="1"/>
          <p:nvPr/>
        </p:nvSpPr>
        <p:spPr>
          <a:xfrm>
            <a:off x="6400800" y="2011680"/>
            <a:ext cx="5120640" cy="4206240"/>
          </a:xfrm>
          <a:prstGeom prst="rect">
            <a:avLst/>
          </a:prstGeom>
          <a:noFill/>
        </p:spPr>
        <p:txBody>
          <a:bodyPr wrap="square">
            <a:spAutoFit/>
          </a:bodyPr>
          <a:lstStyle/>
          <a:p>
            <a:pPr>
              <a:spcAft>
                <a:spcPts val="1200"/>
              </a:spcAft>
            </a:pPr>
            <a:r>
              <a:rPr sz="1800" b="1">
                <a:solidFill>
                  <a:srgbClr val="1F5C99"/>
                </a:solidFill>
                <a:latin typeface="Arial"/>
              </a:rPr>
              <a:t>• </a:t>
            </a:r>
            <a:r>
              <a:rPr sz="1800" b="1">
                <a:solidFill>
                  <a:srgbClr val="222222"/>
                </a:solidFill>
                <a:latin typeface="Arial"/>
              </a:rPr>
              <a:t>Uma partida e 1 repetição </a:t>
            </a:r>
            <a:r>
              <a:rPr sz="1800" b="0">
                <a:solidFill>
                  <a:srgbClr val="222222"/>
                </a:solidFill>
                <a:latin typeface="Arial"/>
              </a:rPr>
              <a:t>por pergunta; 47 perguntas com resposta e intervalos largos.</a:t>
            </a:r>
          </a:p>
          <a:p>
            <a:pPr>
              <a:spcAft>
                <a:spcPts val="1200"/>
              </a:spcAft>
            </a:pPr>
            <a:r>
              <a:rPr sz="1800" b="1">
                <a:solidFill>
                  <a:srgbClr val="1F5C99"/>
                </a:solidFill>
                <a:latin typeface="Arial"/>
              </a:rPr>
              <a:t>• </a:t>
            </a:r>
            <a:r>
              <a:rPr sz="1800" b="1">
                <a:solidFill>
                  <a:srgbClr val="222222"/>
                </a:solidFill>
                <a:latin typeface="Arial"/>
              </a:rPr>
              <a:t>Tamanho e raciocínio </a:t>
            </a:r>
            <a:r>
              <a:rPr sz="1800" b="0">
                <a:solidFill>
                  <a:srgbClr val="222222"/>
                </a:solidFill>
                <a:latin typeface="Arial"/>
              </a:rPr>
              <a:t>vieram juntos nos modelos maiores.</a:t>
            </a:r>
          </a:p>
          <a:p>
            <a:pPr>
              <a:spcAft>
                <a:spcPts val="1200"/>
              </a:spcAft>
            </a:pPr>
            <a:r>
              <a:rPr sz="1800" b="1">
                <a:solidFill>
                  <a:srgbClr val="1F5C99"/>
                </a:solidFill>
                <a:latin typeface="Arial"/>
              </a:rPr>
              <a:t>• </a:t>
            </a:r>
            <a:r>
              <a:rPr sz="1800" b="1">
                <a:solidFill>
                  <a:srgbClr val="222222"/>
                </a:solidFill>
                <a:latin typeface="Arial"/>
              </a:rPr>
              <a:t>Ferramentas e perguntas dos mesmos autores: </a:t>
            </a:r>
            <a:r>
              <a:rPr sz="1800" b="0">
                <a:solidFill>
                  <a:srgbClr val="222222"/>
                </a:solidFill>
                <a:latin typeface="Arial"/>
              </a:rPr>
              <a:t>o acerto vale dentro da cobertura das ferramentas.</a:t>
            </a:r>
          </a:p>
          <a:p>
            <a:pPr>
              <a:spcAft>
                <a:spcPts val="1200"/>
              </a:spcAft>
            </a:pPr>
            <a:r>
              <a:rPr sz="1800" b="1">
                <a:solidFill>
                  <a:srgbClr val="1F5C99"/>
                </a:solidFill>
                <a:latin typeface="Arial"/>
              </a:rPr>
              <a:t>• </a:t>
            </a:r>
            <a:r>
              <a:rPr sz="1800" b="1">
                <a:solidFill>
                  <a:srgbClr val="222222"/>
                </a:solidFill>
                <a:latin typeface="Arial"/>
              </a:rPr>
              <a:t>Grafo ou banco relacional? </a:t>
            </a:r>
            <a:r>
              <a:rPr sz="1800" b="0">
                <a:solidFill>
                  <a:srgbClr val="222222"/>
                </a:solidFill>
                <a:latin typeface="Arial"/>
              </a:rPr>
              <a:t>Hipótese não testada: a diferença apareceria nas perguntas de relações.</a:t>
            </a:r>
          </a:p>
          <a:p>
            <a:pPr>
              <a:spcAft>
                <a:spcPts val="1200"/>
              </a:spcAft>
            </a:pPr>
            <a:r>
              <a:rPr sz="1800" b="1">
                <a:solidFill>
                  <a:srgbClr val="1F5C99"/>
                </a:solidFill>
                <a:latin typeface="Arial"/>
              </a:rPr>
              <a:t>• </a:t>
            </a:r>
            <a:r>
              <a:rPr sz="1800" b="1">
                <a:solidFill>
                  <a:srgbClr val="222222"/>
                </a:solidFill>
                <a:latin typeface="Arial"/>
              </a:rPr>
              <a:t>Agentes </a:t>
            </a:r>
            <a:r>
              <a:rPr sz="1800" b="0">
                <a:solidFill>
                  <a:srgbClr val="222222"/>
                </a:solidFill>
                <a:latin typeface="Arial"/>
              </a:rPr>
              <a:t>supõem chamada de ferramenta confiável.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Próximos passos: mais evidência, efeitos separados e outros domínios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15 / 15</a:t>
            </a:r>
          </a:p>
        </p:txBody>
      </p:sp>
      <p:sp>
        <p:nvSpPr>
          <p:cNvPr id="5" name="Rectangle 4"/>
          <p:cNvSpPr/>
          <p:nvPr/>
        </p:nvSpPr>
        <p:spPr>
          <a:xfrm>
            <a:off x="640080" y="1508760"/>
            <a:ext cx="3474720" cy="3520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572768"/>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Mais evidência</a:t>
            </a:r>
          </a:p>
        </p:txBody>
      </p:sp>
      <p:sp>
        <p:nvSpPr>
          <p:cNvPr id="7" name="TextBox 6"/>
          <p:cNvSpPr txBox="1"/>
          <p:nvPr/>
        </p:nvSpPr>
        <p:spPr>
          <a:xfrm>
            <a:off x="777240" y="2103120"/>
            <a:ext cx="3200400" cy="2880360"/>
          </a:xfrm>
          <a:prstGeom prst="rect">
            <a:avLst/>
          </a:prstGeom>
          <a:noFill/>
        </p:spPr>
        <p:txBody>
          <a:bodyPr wrap="square">
            <a:spAutoFit/>
          </a:bodyPr>
          <a:lstStyle/>
          <a:p>
            <a:pPr>
              <a:spcAft>
                <a:spcPts val="1000"/>
              </a:spcAft>
            </a:pPr>
            <a:r>
              <a:rPr sz="1600" b="1">
                <a:solidFill>
                  <a:srgbClr val="1F5C99"/>
                </a:solidFill>
                <a:latin typeface="Arial"/>
              </a:rPr>
              <a:t>• </a:t>
            </a:r>
            <a:r>
              <a:rPr sz="1600" b="0">
                <a:solidFill>
                  <a:srgbClr val="222222"/>
                </a:solidFill>
                <a:latin typeface="Arial"/>
              </a:rPr>
              <a:t>Repetir as execuções: medir a variação entre rodadas e testar as diferenças entre abordagens.</a:t>
            </a:r>
          </a:p>
          <a:p>
            <a:pPr>
              <a:spcAft>
                <a:spcPts val="1000"/>
              </a:spcAft>
            </a:pPr>
            <a:r>
              <a:rPr sz="1600" b="1">
                <a:solidFill>
                  <a:srgbClr val="1F5C99"/>
                </a:solidFill>
                <a:latin typeface="Arial"/>
              </a:rPr>
              <a:t>• </a:t>
            </a:r>
            <a:r>
              <a:rPr sz="1600" b="0">
                <a:solidFill>
                  <a:srgbClr val="222222"/>
                </a:solidFill>
                <a:latin typeface="Arial"/>
              </a:rPr>
              <a:t>Estender as perguntas a várias partidas.</a:t>
            </a:r>
          </a:p>
        </p:txBody>
      </p:sp>
      <p:sp>
        <p:nvSpPr>
          <p:cNvPr id="8" name="Rectangle 7"/>
          <p:cNvSpPr/>
          <p:nvPr/>
        </p:nvSpPr>
        <p:spPr>
          <a:xfrm>
            <a:off x="4343400" y="1508760"/>
            <a:ext cx="3474720" cy="3520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572768"/>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Separar os efeitos</a:t>
            </a:r>
          </a:p>
        </p:txBody>
      </p:sp>
      <p:sp>
        <p:nvSpPr>
          <p:cNvPr id="10" name="TextBox 9"/>
          <p:cNvSpPr txBox="1"/>
          <p:nvPr/>
        </p:nvSpPr>
        <p:spPr>
          <a:xfrm>
            <a:off x="4480560" y="2103120"/>
            <a:ext cx="3200400" cy="2880360"/>
          </a:xfrm>
          <a:prstGeom prst="rect">
            <a:avLst/>
          </a:prstGeom>
          <a:noFill/>
        </p:spPr>
        <p:txBody>
          <a:bodyPr wrap="square">
            <a:spAutoFit/>
          </a:bodyPr>
          <a:lstStyle/>
          <a:p>
            <a:pPr>
              <a:spcAft>
                <a:spcPts val="1000"/>
              </a:spcAft>
            </a:pPr>
            <a:r>
              <a:rPr sz="1600" b="1">
                <a:solidFill>
                  <a:srgbClr val="1F5C99"/>
                </a:solidFill>
                <a:latin typeface="Arial"/>
              </a:rPr>
              <a:t>• </a:t>
            </a:r>
            <a:r>
              <a:rPr sz="1600" b="0">
                <a:solidFill>
                  <a:srgbClr val="222222"/>
                </a:solidFill>
                <a:latin typeface="Arial"/>
              </a:rPr>
              <a:t>Modelos maiores sem raciocínio estendido: tamanho ou raciocínio?</a:t>
            </a:r>
          </a:p>
          <a:p>
            <a:pPr>
              <a:spcAft>
                <a:spcPts val="1000"/>
              </a:spcAft>
            </a:pPr>
            <a:r>
              <a:rPr sz="1600" b="1">
                <a:solidFill>
                  <a:srgbClr val="1F5C99"/>
                </a:solidFill>
                <a:latin typeface="Arial"/>
              </a:rPr>
              <a:t>• </a:t>
            </a:r>
            <a:r>
              <a:rPr sz="1600" b="0">
                <a:solidFill>
                  <a:srgbClr val="222222"/>
                </a:solidFill>
                <a:latin typeface="Arial"/>
              </a:rPr>
              <a:t>As mesmas ferramentas sobre um banco relacional (SQL), sem o grafo: ferramentas ou grafo?</a:t>
            </a:r>
          </a:p>
          <a:p>
            <a:pPr>
              <a:spcAft>
                <a:spcPts val="1000"/>
              </a:spcAft>
            </a:pPr>
            <a:r>
              <a:rPr sz="1600" b="1">
                <a:solidFill>
                  <a:srgbClr val="1F5C99"/>
                </a:solidFill>
                <a:latin typeface="Arial"/>
              </a:rPr>
              <a:t>• </a:t>
            </a:r>
            <a:r>
              <a:rPr sz="1600" b="0">
                <a:solidFill>
                  <a:srgbClr val="222222"/>
                </a:solidFill>
                <a:latin typeface="Arial"/>
              </a:rPr>
              <a:t>Busca vetorial com os eventos vizinhos em cada trecho.</a:t>
            </a:r>
          </a:p>
        </p:txBody>
      </p:sp>
      <p:sp>
        <p:nvSpPr>
          <p:cNvPr id="11" name="Rectangle 10"/>
          <p:cNvSpPr/>
          <p:nvPr/>
        </p:nvSpPr>
        <p:spPr>
          <a:xfrm>
            <a:off x="8046720" y="1508760"/>
            <a:ext cx="3474720" cy="352044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80" y="1572768"/>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Outros domínios</a:t>
            </a:r>
          </a:p>
        </p:txBody>
      </p:sp>
      <p:sp>
        <p:nvSpPr>
          <p:cNvPr id="13" name="TextBox 12"/>
          <p:cNvSpPr txBox="1"/>
          <p:nvPr/>
        </p:nvSpPr>
        <p:spPr>
          <a:xfrm>
            <a:off x="8183880" y="2103120"/>
            <a:ext cx="3200400" cy="2880360"/>
          </a:xfrm>
          <a:prstGeom prst="rect">
            <a:avLst/>
          </a:prstGeom>
          <a:noFill/>
        </p:spPr>
        <p:txBody>
          <a:bodyPr wrap="square">
            <a:spAutoFit/>
          </a:bodyPr>
          <a:lstStyle/>
          <a:p>
            <a:pPr>
              <a:spcAft>
                <a:spcPts val="1000"/>
              </a:spcAft>
            </a:pPr>
            <a:r>
              <a:rPr sz="1600" b="1">
                <a:solidFill>
                  <a:srgbClr val="1F5C99"/>
                </a:solidFill>
                <a:latin typeface="Arial"/>
              </a:rPr>
              <a:t>• </a:t>
            </a:r>
            <a:r>
              <a:rPr sz="1600" b="0">
                <a:solidFill>
                  <a:srgbClr val="222222"/>
                </a:solidFill>
                <a:latin typeface="Arial"/>
              </a:rPr>
              <a:t>Outros registros de eventos, como os de processos industriais.</a:t>
            </a:r>
          </a:p>
          <a:p>
            <a:pPr>
              <a:spcAft>
                <a:spcPts val="1000"/>
              </a:spcAft>
            </a:pPr>
            <a:r>
              <a:rPr sz="1600" b="1">
                <a:solidFill>
                  <a:srgbClr val="1F5C99"/>
                </a:solidFill>
                <a:latin typeface="Arial"/>
              </a:rPr>
              <a:t>• </a:t>
            </a:r>
            <a:r>
              <a:rPr sz="1600" b="0">
                <a:solidFill>
                  <a:srgbClr val="222222"/>
                </a:solidFill>
                <a:latin typeface="Arial"/>
              </a:rPr>
              <a:t>Com a preparação dos dados, o grafo e as ferramentas feitos para as perguntas do domínio.</a:t>
            </a:r>
          </a:p>
        </p:txBody>
      </p:sp>
      <p:sp>
        <p:nvSpPr>
          <p:cNvPr id="14" name="Rectangle 13"/>
          <p:cNvSpPr/>
          <p:nvPr/>
        </p:nvSpPr>
        <p:spPr>
          <a:xfrm>
            <a:off x="640080" y="5212080"/>
            <a:ext cx="10881360" cy="1097280"/>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5212080"/>
            <a:ext cx="109728" cy="1097280"/>
          </a:xfrm>
          <a:prstGeom prst="rect">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257800"/>
            <a:ext cx="2926080" cy="1005840"/>
          </a:xfrm>
          <a:prstGeom prst="rect">
            <a:avLst/>
          </a:prstGeom>
          <a:noFill/>
        </p:spPr>
        <p:txBody>
          <a:bodyPr wrap="square" anchor="ctr" lIns="45720" rIns="45720">
            <a:spAutoFit/>
          </a:bodyPr>
          <a:lstStyle/>
          <a:p>
            <a:pPr algn="l">
              <a:spcAft>
                <a:spcPts val="600"/>
              </a:spcAft>
            </a:pPr>
            <a:r>
              <a:rPr sz="3600" b="1">
                <a:solidFill>
                  <a:srgbClr val="FFFFFF"/>
                </a:solidFill>
                <a:latin typeface="Arial"/>
              </a:rPr>
              <a:t>Perguntas</a:t>
            </a:r>
          </a:p>
        </p:txBody>
      </p:sp>
      <p:sp>
        <p:nvSpPr>
          <p:cNvPr id="17" name="TextBox 16"/>
          <p:cNvSpPr txBox="1"/>
          <p:nvPr/>
        </p:nvSpPr>
        <p:spPr>
          <a:xfrm>
            <a:off x="3931920" y="5303520"/>
            <a:ext cx="7498079" cy="914400"/>
          </a:xfrm>
          <a:prstGeom prst="rect">
            <a:avLst/>
          </a:prstGeom>
          <a:noFill/>
        </p:spPr>
        <p:txBody>
          <a:bodyPr wrap="square" anchor="ctr" lIns="45720" rIns="45720">
            <a:spAutoFit/>
          </a:bodyPr>
          <a:lstStyle/>
          <a:p>
            <a:pPr algn="l">
              <a:spcAft>
                <a:spcPts val="200"/>
              </a:spcAft>
            </a:pPr>
            <a:r>
              <a:rPr sz="1500" b="0">
                <a:solidFill>
                  <a:srgbClr val="BBBBBB"/>
                </a:solidFill>
                <a:latin typeface="Arial"/>
              </a:rPr>
              <a:t>Código, perguntas e gabarito:</a:t>
            </a:r>
          </a:p>
          <a:p>
            <a:pPr algn="l">
              <a:spcAft>
                <a:spcPts val="200"/>
              </a:spcAft>
            </a:pPr>
            <a:r>
              <a:rPr sz="1800" b="0">
                <a:solidFill>
                  <a:srgbClr val="FFFFFF"/>
                </a:solidFill>
                <a:latin typeface="Arial"/>
              </a:rPr>
              <a:t>github.com/joaowinderfeldbussolotto/match-events-qa-benchmark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