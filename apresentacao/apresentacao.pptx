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Sem dados</c:v>
                </c:pt>
              </c:strCache>
            </c:strRef>
          </c:tx>
          <c:spPr>
            <a:solidFill>
              <a:srgbClr val="DADAD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Estatísticas resumidas</c:v>
                </c:pt>
              </c:strCache>
            </c:strRef>
          </c:tx>
          <c:spPr>
            <a:solidFill>
              <a:srgbClr val="C0C0C0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4</c:v>
                </c:pt>
                <c:pt idx="2">
                  <c:v>9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Busca vetorial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9</c:v>
                </c:pt>
                <c:pt idx="2">
                  <c:v>15</c:v>
                </c:pt>
                <c:pt idx="3">
                  <c:v>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Contexto longo</c:v>
                </c:pt>
              </c:strCache>
            </c:strRef>
          </c:tx>
          <c:spPr>
            <a:solidFill>
              <a:srgbClr val="8C8C8C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45</c:v>
                </c:pt>
                <c:pt idx="1">
                  <c:v>40</c:v>
                </c:pt>
                <c:pt idx="2">
                  <c:v>72</c:v>
                </c:pt>
                <c:pt idx="3">
                  <c:v>85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Consulta escrita pelo modelo</c:v>
                </c:pt>
              </c:strCache>
            </c:strRef>
          </c:tx>
          <c:spPr>
            <a:solidFill>
              <a:srgbClr val="5E5E5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70</c:v>
                </c:pt>
                <c:pt idx="1">
                  <c:v>57</c:v>
                </c:pt>
                <c:pt idx="2">
                  <c:v>89</c:v>
                </c:pt>
                <c:pt idx="3">
                  <c:v>94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Ferramentas sobre o grafo</c:v>
                </c:pt>
              </c:strCache>
            </c:strRef>
          </c:tx>
          <c:spPr>
            <a:solidFill>
              <a:srgbClr val="1F5C9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87</c:v>
                </c:pt>
                <c:pt idx="1">
                  <c:v>83</c:v>
                </c:pt>
                <c:pt idx="2">
                  <c:v>89</c:v>
                </c:pt>
                <c:pt idx="3">
                  <c:v>89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0D0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0D0D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300" b="0"/>
                  <a:t>Acerto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068027336"/>
        <c:crosses val="autoZero"/>
        <c:majorUnit val="25.0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Contexto longo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33</c:v>
                </c:pt>
                <c:pt idx="2">
                  <c:v>69</c:v>
                </c:pt>
                <c:pt idx="3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Consulta escrita pelo modelo</c:v>
                </c:pt>
              </c:strCache>
            </c:strRef>
          </c:tx>
          <c:spPr>
            <a:solidFill>
              <a:srgbClr val="5E5E5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69</c:v>
                </c:pt>
                <c:pt idx="1">
                  <c:v>53</c:v>
                </c:pt>
                <c:pt idx="2">
                  <c:v>86</c:v>
                </c:pt>
                <c:pt idx="3">
                  <c:v>92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Ferramentas sobre o grafo</c:v>
                </c:pt>
              </c:strCache>
            </c:strRef>
          </c:tx>
          <c:spPr>
            <a:solidFill>
              <a:srgbClr val="1F5C9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Haiku 5.5 (menor)</c:v>
                </c:pt>
                <c:pt idx="1">
                  <c:v>Qwen3.8-flash (menor)</c:v>
                </c:pt>
                <c:pt idx="2">
                  <c:v>Sonnet 4.6 (maior)</c:v>
                </c:pt>
                <c:pt idx="3">
                  <c:v>Kimi K3 (maior)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86</c:v>
                </c:pt>
                <c:pt idx="2">
                  <c:v>86</c:v>
                </c:pt>
                <c:pt idx="3">
                  <c:v>89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0D0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0D0D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300" b="0"/>
                  <a:t>Acerto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068027336"/>
        <c:crosses val="autoZero"/>
        <c:majorUnit val="25.0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Apresentação dos autores e do título. Em uma frase: o trabalho compara seis maneiras de dar a um modelo de linguagem acesso aos dados de uma partida e mede qual delas acerta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Contexto de futebol: a final da Copa de 2022, Argentina contra França, decidida nos pênaltis. Os dados de eventos registram cada ação, com jogador, momento e posição no campo. As três perguntas do slide são do conjunto do trabalho. Nenhuma tem a resposta em um único evento: é preciso juntar vários. O modelo precisa receber os dados da partida, e há mais de uma forma de fazer isso. É isso que o trabalho compara.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Três perguntas de pesquisa: qual abordagem acerta mais, como o acerto muda de um modelo para outro e quanto cada uma custa em tokens e tempo. O aprendizado em contexto é usado em sentido amplo: o modelo não é treinado de novo e o que entra no contexto são os dados. Duas contribuições: o conjunto de perguntas com gabarito calculado por código fora do grafo e a comparação sob as mesmas perguntas, o mesmo prompt e a mesma saída.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[1:15] Os dados são os eventos abertos da StatsBomb, convertidos para o formato SPADL e enriquecidos com colunas de contexto (zona, fase de posse, placar). A disputa de pênaltis fica fora. Das 52 perguntas, 47 têm resposta nos dados e 5 são de controle: a resposta certa é a ausência de dados, como a distância percorrida por um jogador. As perguntas de busca e contagem são diretas. Os outros três grupos são encadeados: dependem de ligar eventos entre si. O gabarito é calculado por código sem passar pelo grafo.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[1:45] Ordem de complexidade do que existe entre a pergunta e o modelo. Sem dados: só a pergunta, linha de base. Contexto longo: a tabela inteira de 2.585 ações no prompt. Estatísticas resumidas: a súmula, com totais por jogador e por time. Busca vetorial: as 30 linhas mais parecidas com a pergunta, como em geração aumentada por recuperação. Consulta escrita pelo modelo: o modelo recebe o esquema do grafo e escreve a consulta Cypher. Ferramentas sobre o grafo: 8 ferramentas com a consulta já escrita; o modelo só escolhe qual chamar e com quais argumentos. Todas usam o mesmo prompt de sistema e a mesma saída estruturada.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[1:15] As duas abordagens com agente consultam o mesmo grafo e têm o mesmo limite de 12 chamadas por pergunta. Na Consulta escrita pelo modelo, ele escreve a consulta Cypher, com os filtros de time, tipo de ação e terço do campo. Nas Ferramentas, a consulta já está no código e o modelo só preenche argumentos. Duas diferenças a declarar: a Consulta não tem a biblioteca de algoritmos de grafos nem os nós de padrões prontos; e as ferramentas foram ajustadas olhando erros, enquanto a Consulta é o primeiro contato.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Quatro modelos, dois menores e dois maiores, agrupados pela faixa de preço por token, já que nem todo fabricante divulga o número de parâmetros. Em cada grupo há um modelo de código fechado e um de pesos abertos. Os menores rodaram sem raciocínio estendido e com temperatura zero; os maiores, com raciocínio estendido ligado. São 52 perguntas em 6 abordagens: 312 execuções por modelo, com 1 repetição por pergunta. Acerto com intervalo de Wilson de 95%. Ponto de honestidade: como é uma repetição, as diferenças são lidas como indícios.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[2:15] Acerto nas 47 perguntas com resposta. A barra azul é Ferramentas sobre o grafo: 83% a 89% em todos os modelos. Consulta escrita pelo modelo: 57% a 70% nos menores e 89% a 94% nos maiores. Contexto longo: 40% a 45% nos menores e 72% a 85% nos maiores. As outras três ficam baixas: Busca vetorial 9% a 17%, Estatísticas resumidas 0% a 9%, e Sem dados 0%, porque se abstém. Nos maiores, Consulta empata com Ferramentas no Sonnet e fica à frente no Kimi; os intervalos se sobrepõem.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[1:45] Recorte das 36 perguntas encadeadas (relações na rede de passes, jogadas e antes e depois de uma substituição). Nos modelos menores, Contexto longo e Consulta caem justamente aqui, e Ferramentas se mantêm: a consulta já escrita e o cálculo no código tiram do modelo o trabalho de juntar eventos espalhados. Nos maiores, com raciocínio estendido, as três se aproximam. Ressalva: tamanho e raciocínio vieram juntos, então não dá para separar o efeito de um do outro. A interpretação é compatível com a literatura de contexto longo (informação no meio do contexto, raciocínio composicional) e com a dificuldade de LLMs em gerar Cypher.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[1:15] Busca vetorial (9% a 17%): traz as 30 linhas mais parecidas com a pergunta, de 2.585. Parecer com a pergunta não é servir para respondê-la; contar exige todas as linhas de um tipo e ligar eventos exige as linhas vizinhas. Erra por abstenção e por resposta errada, conforme o modelo. Estatísticas resumidas (0% a 9%): a súmula tem só totais da partida inteira, sem recorte de tempo ou de campo e sem quem passou para quem; como o prompt pede para indicar ausência de dados, os modelos se abstêm. Sem dados: 0 de 47 com resposta, por obediência ao prompt, que proíbe responder de memória; o 0% mede obediência, não ignorância. Nas perguntas de controle, Sem dados acerta as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Mediana por execução das três abordagens que leem os dados. O Contexto longo leva a tabela inteira em cada pergunta, de 82 a 111 mil tokens de entrada. Nos maiores, produz de 4.430 a 12.158 tokens de saída, quase todos de raciocínio, e leva de 37 a 81 segundos. Cuidado ao comparar: Ferramentas não usa cache de prompt e Consulta usa, então a latência mistura as duas condições; no Contexto longo, a maior parte da entrada veio do cache, o que o favorece. Sem preço em dólar, porque os preços mudam.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[1:15] Cinco limitações, ditas pelo próprio artigo. Uma partida e 1 repetição por pergunta, com 47 perguntas com resposta: os intervalos são largos. Tamanho e raciocínio estendido vieram juntos nos maiores. As ferramentas e as perguntas foram escritas pelos mesmos autores, e as ferramentas foram ajustadas olhando erros do Haiku: o acerto de Ferramentas vale para perguntas dentro da cobertura delas. A comparação com a Consulta é, portanto, o teto do ganho de engenharia. As abordagens com agente supõem modelo que chame ferramentas de forma confiável. E o ganho pode vir das ferramentas, do grafo ou dos algoritmos de grafo; separar isso é trabalho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Três mensagens. Primeira: Ferramentas sobre o grafo foi a única que manteve o acerto alto nos 4 modelos, 83% a 89%. Segunda: Consulta e Contexto longo dependem do modelo; nos maiores, com raciocínio estendido, a Consulta chegou ao mesmo nível e o Contexto longo se aproximou, este com mais tokens de saída e tempo. Terceira: Busca vetorial e Estatísticas resumidas ficaram baixas em todos. Em uma frase: a forma de levar os dados ao modelo pesa tanto quanto 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Fecho. Parte dos dados industriais tem a forma dos dados de futebol: registros de eventos com agente, momento e local, ligados entre si, como as paradas, os alertas e as movimentações de uma linha de produção ou de uma frota. Como o resultado do futebol mostra que a forma de levar os dados ao contexto pesa tanto quanto o modelo, testar as seis abordagens nesses dados é o passo natural para uma pós em IA aplicada à indústria. O que não transfere de graça: a preparação dos dados, o grafo e as ferramentas dependem das perguntas que se quer responder, então exige implementação própria para o domínio. A tabela de correspondência é uma proposta de analogia, não um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Slides de apoio não foram incluídos para respeitar o limite de 15. As respostas às perguntas prováveis estão em apresentacao/perguntas-banca.md.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28800"/>
            <a:ext cx="109728" cy="237744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0584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Aprendizado em contexto com dados de eventos de futebol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DDDDDD"/>
                </a:solidFill>
                <a:latin typeface="Arial"/>
              </a:rPr>
              <a:t>uma comparação de seis abordagens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48056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Daniel Alfredo Quiteque e João Victor Winderfeld Bussolotto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BBBBB"/>
                </a:solidFill>
                <a:latin typeface="Arial"/>
              </a:rPr>
              <a:t>Pós-graduação em Inteligência Artificial Aplicada, UniSENAI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BBBBB"/>
                </a:solidFill>
                <a:latin typeface="Arial"/>
              </a:rPr>
              <a:t>AV2,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Perguntas de análise de futebol exigem ligar eventos entre si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Dados de eventos: cada ação da partida com jogador, momento e posição no campo.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34640"/>
            <a:ext cx="512064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75488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22222"/>
                </a:solidFill>
                <a:latin typeface="Arial"/>
              </a:rPr>
              <a:t>Final da Copa do Mundo de 2022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Argentina e França, decidida nos pênaltis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4.407 eventos no JSON bruto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2.585 ações depois da preparação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6304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Arial"/>
              </a:rPr>
              <a:t>Exemplos de pergunta do conjunto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03120"/>
            <a:ext cx="5303520" cy="12344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148839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5C99"/>
                </a:solidFill>
                <a:latin typeface="Arial"/>
              </a:rPr>
              <a:t>Quem passou para quem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Qual dupla da França mais trocou passes entre si na final?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474720"/>
            <a:ext cx="5303520" cy="12344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520439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5C99"/>
                </a:solidFill>
                <a:latin typeface="Arial"/>
              </a:rPr>
              <a:t>Ordem das ações em uma jogada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Qual jogador participou de mais jogadas da Argentina que terminaram em finalização?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846320"/>
            <a:ext cx="5303520" cy="12344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892040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5C99"/>
                </a:solidFill>
                <a:latin typeface="Arial"/>
              </a:rPr>
              <a:t>Antes e depois de uma substituição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Depois que Dembélé foi substituído no primeiro tempo, qual companheiro mais passou a bola para Mbappé?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Qual forma de levar os dados ao modelo funciona melhor?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Perguntas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• </a:t>
            </a:r>
            <a:r>
              <a:rPr sz="2200" b="0">
                <a:solidFill>
                  <a:srgbClr val="222222"/>
                </a:solidFill>
                <a:latin typeface="Arial"/>
              </a:rPr>
              <a:t>Qual abordagem acerta mais?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• </a:t>
            </a:r>
            <a:r>
              <a:rPr sz="2200" b="0">
                <a:solidFill>
                  <a:srgbClr val="222222"/>
                </a:solidFill>
                <a:latin typeface="Arial"/>
              </a:rPr>
              <a:t>Como o acerto muda de um modelo para outro?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• </a:t>
            </a:r>
            <a:r>
              <a:rPr sz="2200" b="0">
                <a:solidFill>
                  <a:srgbClr val="222222"/>
                </a:solidFill>
                <a:latin typeface="Arial"/>
              </a:rPr>
              <a:t>Quanto cada abordagem custa em tokens e em tempo?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Contribuições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9"/>
                </a:solidFill>
                <a:latin typeface="Arial"/>
              </a:rPr>
              <a:t>• </a:t>
            </a:r>
            <a:r>
              <a:rPr sz="2000" b="0">
                <a:solidFill>
                  <a:srgbClr val="222222"/>
                </a:solidFill>
                <a:latin typeface="Arial"/>
              </a:rPr>
              <a:t>Conjunto de 52 perguntas sobre a final, com gabarito calculado por código, fora do grafo.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9"/>
                </a:solidFill>
                <a:latin typeface="Arial"/>
              </a:rPr>
              <a:t>• </a:t>
            </a:r>
            <a:r>
              <a:rPr sz="2000" b="0">
                <a:solidFill>
                  <a:srgbClr val="222222"/>
                </a:solidFill>
                <a:latin typeface="Arial"/>
              </a:rPr>
              <a:t>Comparação de 6 abordagens de aprendizado em contexto, com as mesmas perguntas, o mesmo prompt e a mesma saída, em 4 modelos.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9"/>
                </a:solidFill>
                <a:latin typeface="Arial"/>
              </a:rPr>
              <a:t>• </a:t>
            </a:r>
            <a:r>
              <a:rPr sz="2000" b="0">
                <a:solidFill>
                  <a:srgbClr val="222222"/>
                </a:solidFill>
                <a:latin typeface="Arial"/>
              </a:rPr>
              <a:t>Código, perguntas e gabarito públicos.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52 perguntas em cinco grupos, com gabarito calculado por código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4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881360" cy="3931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60"/>
                <a:gridCol w="640080"/>
                <a:gridCol w="7132320"/>
              </a:tblGrid>
              <a:tr h="6553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Exemplo (resposta esperada)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</a:rPr>
                        <a:t>Busca e contagem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Quem recebeu o primeiro cartão amarelo da final? (jogador)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</a:rPr>
                        <a:t>Relações na rede de passes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Qual dupla da França mais trocou passes entre si? (conjunto de jogadores)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</a:rPr>
                        <a:t>Jogadas e sequências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Qual jogador participou de mais jogadas da Argentina que terminaram em finalização? (jogador)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</a:rPr>
                        <a:t>Antes e depois de uma substituição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Depois que Dembélé saiu, qual companheiro mais passou a bola para Mbappé? (jogador)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</a:rPr>
                        <a:t>Controle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</a:rPr>
                        <a:t>Qual foi a distância total percorrida por Rodrigo De Paul? (ausência de dados)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6692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Dados: eventos abertos da StatsBomb, convertidos para SPADL. 4.407 eventos viram 2.585 ações. 47 perguntas com resposta e 5 de controle.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Seis abordagens, da ausência de dados à consulta ao grafo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5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88136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840480"/>
                <a:gridCol w="7040880"/>
              </a:tblGrid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Abordagem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O que o modelo recebe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222222"/>
                          </a:solidFill>
                          <a:latin typeface="Arial"/>
                        </a:rPr>
                        <a:t>Sem dados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222222"/>
                          </a:solidFill>
                          <a:latin typeface="Arial"/>
                        </a:rPr>
                        <a:t>só a pergunta (linha de 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222222"/>
                          </a:solidFill>
                          <a:latin typeface="Arial"/>
                        </a:rPr>
                        <a:t>Contexto longo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222222"/>
                          </a:solidFill>
                          <a:latin typeface="Arial"/>
                        </a:rPr>
                        <a:t>a tabela com as 2.585 ações, inteira, no prompt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222222"/>
                          </a:solidFill>
                          <a:latin typeface="Arial"/>
                        </a:rPr>
                        <a:t>Estatísticas resumidas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222222"/>
                          </a:solidFill>
                          <a:latin typeface="Arial"/>
                        </a:rPr>
                        <a:t>a súmula: totais por jogador e por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222222"/>
                          </a:solidFill>
                          <a:latin typeface="Arial"/>
                        </a:rPr>
                        <a:t>Busca vetorial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222222"/>
                          </a:solidFill>
                          <a:latin typeface="Arial"/>
                        </a:rPr>
                        <a:t>as 30 linhas mais parecidas com a pergunta (embeddings)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222222"/>
                          </a:solidFill>
                          <a:latin typeface="Arial"/>
                        </a:rPr>
                        <a:t>Consulta escrita pelo modelo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222222"/>
                          </a:solidFill>
                          <a:latin typeface="Arial"/>
                        </a:rPr>
                        <a:t>o esquema do grafo e o resultado da consulta que o modelo escreveu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222222"/>
                          </a:solidFill>
                          <a:latin typeface="Arial"/>
                        </a:rPr>
                        <a:t>Ferramentas sobre o grafo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222222"/>
                          </a:solidFill>
                          <a:latin typeface="Arial"/>
                        </a:rPr>
                        <a:t>o resultado de 8 ferramentas com consulta fixa, que o modelo chama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Mesmo grafo, mesmo limite de chamadas: muda quem escreve a consulta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199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Consulta escrita pelo modelo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</a:rPr>
              <a:t>Pergunta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3317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666666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1031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</a:rPr>
              <a:t>Modelo (agente)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3317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666666"/>
                </a:solidFill>
                <a:latin typeface="Arial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</a:rPr>
              <a:t>O modelo escreve a consulta Cypher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23317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666666"/>
                </a:solidFill>
                <a:latin typeface="Arial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1031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</a:rPr>
              <a:t>Grafo Neo4j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C99"/>
                </a:solidFill>
                <a:latin typeface="Arial"/>
              </a:rPr>
              <a:t>Ferramentas sobre o grafo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</a:rPr>
              <a:t>Pergunta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41605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666666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0" y="39319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</a:rPr>
              <a:t>Modelo (agente)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41605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666666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2331720" cy="914400"/>
          </a:xfrm>
          <a:prstGeom prst="rect">
            <a:avLst/>
          </a:prstGeom>
          <a:solidFill>
            <a:srgbClr val="E6EEF6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</a:rPr>
              <a:t>Ferramenta com consulta fixa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1605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666666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931920"/>
            <a:ext cx="2331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</a:rPr>
              <a:t>Grafo Neo4j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Arial"/>
              </a:rPr>
              <a:t>Limite de 12 chamadas por pergunta nas duas. A Consulta não tem a biblioteca de algoritmos (GDS) nem os nós de padrões prontos.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Arial"/>
              </a:rPr>
              <a:t>As Ferramentas foram ajustadas olhando erros; a Consulta é o primeiro contato.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4 modelos em duas faixas, 312 execuções por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7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30352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937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5C99"/>
                </a:solidFill>
                <a:latin typeface="Arial"/>
              </a:rPr>
              <a:t>Modelos menores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Claude Haiku 5.5 e Qwen3.8-flash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66666"/>
                </a:solidFill>
                <a:latin typeface="Arial"/>
              </a:rPr>
              <a:t>sem raciocínio estendido, temperatura zero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5C99"/>
                </a:solidFill>
                <a:latin typeface="Arial"/>
              </a:rPr>
              <a:t>Modelos maiores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Claude Sonnet 4.6 e Kimi K3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66666"/>
                </a:solidFill>
                <a:latin typeface="Arial"/>
              </a:rPr>
              <a:t>com raciocínio estendido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1F5C99"/>
                </a:solidFill>
                <a:latin typeface="Arial"/>
              </a:rPr>
              <a:t>• </a:t>
            </a:r>
            <a:r>
              <a:rPr sz="1900" b="0">
                <a:solidFill>
                  <a:srgbClr val="222222"/>
                </a:solidFill>
                <a:latin typeface="Arial"/>
              </a:rPr>
              <a:t>52 perguntas × 6 abordagens = 312 execuções por modelo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F5C99"/>
                </a:solidFill>
                <a:latin typeface="Arial"/>
              </a:rPr>
              <a:t>• </a:t>
            </a:r>
            <a:r>
              <a:rPr sz="1900" b="0">
                <a:solidFill>
                  <a:srgbClr val="222222"/>
                </a:solidFill>
                <a:latin typeface="Arial"/>
              </a:rPr>
              <a:t>1 repetição por pergunta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F5C99"/>
                </a:solidFill>
                <a:latin typeface="Arial"/>
              </a:rPr>
              <a:t>• </a:t>
            </a:r>
            <a:r>
              <a:rPr sz="1900" b="0">
                <a:solidFill>
                  <a:srgbClr val="222222"/>
                </a:solidFill>
                <a:latin typeface="Arial"/>
              </a:rPr>
              <a:t>Acerto com intervalo de Wilson de 95%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F5C99"/>
                </a:solidFill>
                <a:latin typeface="Arial"/>
              </a:rPr>
              <a:t>• </a:t>
            </a:r>
            <a:r>
              <a:rPr sz="1900" b="0">
                <a:solidFill>
                  <a:srgbClr val="222222"/>
                </a:solidFill>
                <a:latin typeface="Arial"/>
              </a:rPr>
              <a:t>Diferenças lidas como indícios, não como demonstração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Ferramentas sobre o grafo: 83% a 89% de acerto nos 4 modelos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Acerto nas 47 perguntas com resposta, uma repetição por pergunta.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Nas perguntas encadeadas, Consulta e Contexto longo dependem do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Acerto nas 36 perguntas encadeadas com resposta (soma dos grupos Relações, Jogadas e Momento).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0" y="1554480"/>
            <a:ext cx="3383280" cy="4389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45920"/>
            <a:ext cx="31089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F5C99"/>
                </a:solidFill>
                <a:latin typeface="Arial"/>
              </a:rPr>
              <a:t>Leitura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Ferramentas: a consulta já vem escrita e o cálculo fica no código.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Consulta: o modelo escreve o Cypher; o acerto acompanha essa capacidade.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Contexto longo: o modelo acha e combina as linhas certas na tabela inteira.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Busca vetorial, Estatísticas resumidas e Sem dados ficam baixas por motivos diferentes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10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474720" cy="4206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20040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22222"/>
                </a:solidFill>
                <a:latin typeface="Arial"/>
              </a:rPr>
              <a:t>Busca vetorial</a:t>
            </a:r>
          </a:p>
          <a:p>
            <a:pPr algn="l">
              <a:spcAft>
                <a:spcPts val="1000"/>
              </a:spcAft>
            </a:pPr>
            <a:r>
              <a:rPr sz="3400" b="1">
                <a:solidFill>
                  <a:srgbClr val="1F5C99"/>
                </a:solidFill>
                <a:latin typeface="Arial"/>
              </a:rPr>
              <a:t>9% a 17%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acerto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Traz as 30 linhas mais parecidas com a pergunta, de 2.585. Contar exige todas as linhas de um tipo e ligar eventos exige as vizinhas.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737360"/>
            <a:ext cx="3474720" cy="4206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320040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22222"/>
                </a:solidFill>
                <a:latin typeface="Arial"/>
              </a:rPr>
              <a:t>Estatísticas resumidas</a:t>
            </a:r>
          </a:p>
          <a:p>
            <a:pPr algn="l">
              <a:spcAft>
                <a:spcPts val="1000"/>
              </a:spcAft>
            </a:pPr>
            <a:r>
              <a:rPr sz="3400" b="1">
                <a:solidFill>
                  <a:srgbClr val="1F5C99"/>
                </a:solidFill>
                <a:latin typeface="Arial"/>
              </a:rPr>
              <a:t>0% a 9%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acerto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A súmula tem totais da partida inteira, sem recorte de tempo ou de campo e sem quem passou para quem. Os modelos se abstêm.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737360"/>
            <a:ext cx="3474720" cy="4206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828800"/>
            <a:ext cx="320040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22222"/>
                </a:solidFill>
                <a:latin typeface="Arial"/>
              </a:rPr>
              <a:t>Sem dados</a:t>
            </a:r>
          </a:p>
          <a:p>
            <a:pPr algn="l">
              <a:spcAft>
                <a:spcPts val="1000"/>
              </a:spcAft>
            </a:pPr>
            <a:r>
              <a:rPr sz="3400" b="1">
                <a:solidFill>
                  <a:srgbClr val="1F5C99"/>
                </a:solidFill>
                <a:latin typeface="Arial"/>
              </a:rPr>
              <a:t>0%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acerto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Se abstém nas 47 perguntas com resposta: o prompt proíbe responder de memória. Mede obediência.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Contexto longo nos modelos maiores custa milhares de tokens de saída e dezenas de segundos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Mediana por execução. Os tokens de entrada incluem os lidos do cache do prompt.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97680"/>
                <a:gridCol w="1645920"/>
                <a:gridCol w="1737360"/>
                <a:gridCol w="1554480"/>
                <a:gridCol w="1645920"/>
              </a:tblGrid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Abordagem / medida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 5.5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Qwen3.8-flash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 4.6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Kimi K3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Contexto, saída (mil tokens)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Consulta, saída (mil tokens)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Ferramentas, saída (mil tokens)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0,9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Contexto, latência (s)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Consulta, latência (s)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Ferramentas, latência (s)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Contexto, entrada (mil tokens)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Consulta, entrada (mil tokens)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</a:rPr>
                        <a:t>Ferramentas, entrada (mil tokens)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anchor="ctr">
                    <a:solidFill>
                      <a:srgbClr val="E6EE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Os resultados valem para uma partida, uma repetição e perguntas dentro da cobertura das ferramentas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300" b="1">
                <a:solidFill>
                  <a:srgbClr val="1F5C99"/>
                </a:solidFill>
                <a:latin typeface="Arial"/>
              </a:rPr>
              <a:t>• </a:t>
            </a:r>
            <a:r>
              <a:rPr sz="2300" b="1">
                <a:solidFill>
                  <a:srgbClr val="222222"/>
                </a:solidFill>
                <a:latin typeface="Arial"/>
              </a:rPr>
              <a:t>Uma partida e uma repetição </a:t>
            </a:r>
            <a:r>
              <a:rPr sz="2300" b="0">
                <a:solidFill>
                  <a:srgbClr val="222222"/>
                </a:solidFill>
                <a:latin typeface="Arial"/>
              </a:rPr>
              <a:t>por pergunta; 47 perguntas com resposta e intervalos largos.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1F5C99"/>
                </a:solidFill>
                <a:latin typeface="Arial"/>
              </a:rPr>
              <a:t>• </a:t>
            </a:r>
            <a:r>
              <a:rPr sz="2300" b="1">
                <a:solidFill>
                  <a:srgbClr val="222222"/>
                </a:solidFill>
                <a:latin typeface="Arial"/>
              </a:rPr>
              <a:t>Tamanho e raciocínio vieram juntos </a:t>
            </a:r>
            <a:r>
              <a:rPr sz="2300" b="0">
                <a:solidFill>
                  <a:srgbClr val="222222"/>
                </a:solidFill>
                <a:latin typeface="Arial"/>
              </a:rPr>
              <a:t>nos modelos maiores; não dá para separar os dois efeitos.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1F5C99"/>
                </a:solidFill>
                <a:latin typeface="Arial"/>
              </a:rPr>
              <a:t>• </a:t>
            </a:r>
            <a:r>
              <a:rPr sz="2300" b="1">
                <a:solidFill>
                  <a:srgbClr val="222222"/>
                </a:solidFill>
                <a:latin typeface="Arial"/>
              </a:rPr>
              <a:t>Ferramentas e perguntas dos mesmos autores. </a:t>
            </a:r>
            <a:r>
              <a:rPr sz="2300" b="0">
                <a:solidFill>
                  <a:srgbClr val="222222"/>
                </a:solidFill>
                <a:latin typeface="Arial"/>
              </a:rPr>
              <a:t>O acerto de Ferramentas vale dentro da cobertura delas, e elas foram ajustadas olhando erros.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1F5C99"/>
                </a:solidFill>
                <a:latin typeface="Arial"/>
              </a:rPr>
              <a:t>• </a:t>
            </a:r>
            <a:r>
              <a:rPr sz="2300" b="1">
                <a:solidFill>
                  <a:srgbClr val="222222"/>
                </a:solidFill>
                <a:latin typeface="Arial"/>
              </a:rPr>
              <a:t>Ferramentas, grafo ou algoritmos de grafo? </a:t>
            </a:r>
            <a:r>
              <a:rPr sz="2300" b="0">
                <a:solidFill>
                  <a:srgbClr val="222222"/>
                </a:solidFill>
                <a:latin typeface="Arial"/>
              </a:rPr>
              <a:t>Separar os três é trabalho futuro.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1F5C99"/>
                </a:solidFill>
                <a:latin typeface="Arial"/>
              </a:rPr>
              <a:t>• </a:t>
            </a:r>
            <a:r>
              <a:rPr sz="2300" b="1">
                <a:solidFill>
                  <a:srgbClr val="222222"/>
                </a:solidFill>
                <a:latin typeface="Arial"/>
              </a:rPr>
              <a:t>Agentes supõem chamada de ferramenta confiável, </a:t>
            </a:r>
            <a:r>
              <a:rPr sz="2300" b="0">
                <a:solidFill>
                  <a:srgbClr val="222222"/>
                </a:solidFill>
                <a:latin typeface="Arial"/>
              </a:rPr>
              <a:t>e esse suporte varia entre modelos e provedores.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Só as Ferramentas sobre o grafo mantiveram o acerto alto em todos os modelos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13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685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Ferramentas sobre o grafo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4592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C99"/>
                </a:solidFill>
                <a:latin typeface="Arial"/>
              </a:rPr>
              <a:t>83% a 89% em todos os modelos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881360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Consulta escrita pelo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2316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57% a 70% nos menores; 89% a 94% nos maiores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10881360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Contexto longo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0040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40% a 45% nos menores; 72% a 85% nos maiores, com mais tokens de saída e 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86200"/>
            <a:ext cx="10881360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77639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Busca vetorial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39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9% a 17%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754879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Estatísticas resumidas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54879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0% a 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40679"/>
            <a:ext cx="10881360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532119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Arial"/>
              </a:rPr>
              <a:t>Sem dados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532119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0 de 47: se abstém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5760"/>
            <a:ext cx="10881360" cy="1005840"/>
          </a:xfrm>
        </p:spPr>
        <p:txBody>
          <a:bodyPr wrap="square" anchor="t"/>
          <a:lstStyle/>
          <a:p>
            <a:pPr algn="l"/>
            <a:r>
              <a:rPr sz="3000" b="1">
                <a:solidFill>
                  <a:srgbClr val="222222"/>
                </a:solidFill>
                <a:latin typeface="Arial"/>
              </a:rPr>
              <a:t>Próximo passo: testar as mesmas abordagens em dados industriais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256032" cy="8229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14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6766560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023360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No futebol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Em dados industriais (proposta)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22222"/>
                          </a:solidFill>
                          <a:latin typeface="Arial"/>
                        </a:rPr>
                        <a:t>Jogador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Arial"/>
                        </a:rPr>
                        <a:t>máquina, operador ou veículo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22222"/>
                          </a:solidFill>
                          <a:latin typeface="Arial"/>
                        </a:rPr>
                        <a:t>Minuto da partida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Arial"/>
                        </a:rPr>
                        <a:t>carimbo de tempo do registro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22222"/>
                          </a:solidFill>
                          <a:latin typeface="Arial"/>
                        </a:rPr>
                        <a:t>Zona do campo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Arial"/>
                        </a:rPr>
                        <a:t>posto, linha ou rota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22222"/>
                          </a:solidFill>
                          <a:latin typeface="Arial"/>
                        </a:rPr>
                        <a:t>Passe entre dois jogadores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Arial"/>
                        </a:rPr>
                        <a:t>evento que liga dois agentes (parada, alerta, movimentação)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22222"/>
                          </a:solidFill>
                          <a:latin typeface="Arial"/>
                        </a:rPr>
                        <a:t>Jogada: sequência de ações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Arial"/>
                        </a:rPr>
                        <a:t>sequência de eventos até uma parada ou falha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80960" y="1554480"/>
            <a:ext cx="3840480" cy="384048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5661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5C99"/>
                </a:solidFill>
                <a:latin typeface="Arial"/>
              </a:rPr>
              <a:t>O que testar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As 6 abordagens, nos mesmos moldes.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Exige preparação dos dados, grafo e ferramentas próprios do domínio.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A forma de levar os dados ao modelo pode pesar tanto quanto pesou no futebol.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Arial"/>
              </a:rPr>
              <a:t>Também: várias partidas, repetições, modelos maiores sem raciocínio estendido, ferramentas sobre tabela e busca vetorial com eventos vizinhos.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109728" cy="146304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Perguntas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0584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BBBBB"/>
                </a:solidFill>
                <a:latin typeface="Arial"/>
              </a:rPr>
              <a:t>Código, perguntas e gabarito: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github.com/joaowinderfeldbussolotto/football-tactics-knowledge-graph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