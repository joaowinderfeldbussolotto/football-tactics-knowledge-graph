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Sem dados</c:v>
                </c:pt>
              </c:strCache>
            </c:strRef>
          </c:tx>
          <c:spPr>
            <a:solidFill>
              <a:srgbClr val="DADADA"/>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0</c:v>
                </c:pt>
                <c:pt idx="1">
                  <c:v>0</c:v>
                </c:pt>
                <c:pt idx="2">
                  <c:v>0</c:v>
                </c:pt>
                <c:pt idx="3">
                  <c:v>0</c:v>
                </c:pt>
              </c:numCache>
            </c:numRef>
          </c:val>
        </c:ser>
        <c:ser>
          <c:idx val="1"/>
          <c:order val="1"/>
          <c:tx>
            <c:strRef>
              <c:f>Sheet1!$C$1</c:f>
              <c:strCache>
                <c:ptCount val="1"/>
                <c:pt idx="0">
                  <c:v>Estatísticas resumidas</c:v>
                </c:pt>
              </c:strCache>
            </c:strRef>
          </c:tx>
          <c:spPr>
            <a:solidFill>
              <a:srgbClr val="C0C0C0"/>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0</c:v>
                </c:pt>
                <c:pt idx="1">
                  <c:v>4</c:v>
                </c:pt>
                <c:pt idx="2">
                  <c:v>9</c:v>
                </c:pt>
                <c:pt idx="3">
                  <c:v>6</c:v>
                </c:pt>
              </c:numCache>
            </c:numRef>
          </c:val>
        </c:ser>
        <c:ser>
          <c:idx val="2"/>
          <c:order val="2"/>
          <c:tx>
            <c:strRef>
              <c:f>Sheet1!$D$1</c:f>
              <c:strCache>
                <c:ptCount val="1"/>
                <c:pt idx="0">
                  <c:v>Busca vetorial</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11</c:v>
                </c:pt>
                <c:pt idx="1">
                  <c:v>9</c:v>
                </c:pt>
                <c:pt idx="2">
                  <c:v>15</c:v>
                </c:pt>
                <c:pt idx="3">
                  <c:v>17</c:v>
                </c:pt>
              </c:numCache>
            </c:numRef>
          </c:val>
        </c:ser>
        <c:ser>
          <c:idx val="3"/>
          <c:order val="3"/>
          <c:tx>
            <c:strRef>
              <c:f>Sheet1!$E$1</c:f>
              <c:strCache>
                <c:ptCount val="1"/>
                <c:pt idx="0">
                  <c:v>Contexto longo</c:v>
                </c:pt>
              </c:strCache>
            </c:strRef>
          </c:tx>
          <c:spPr>
            <a:solidFill>
              <a:srgbClr val="8C8C8C"/>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Sheet1!$E$2:$E$5</c:f>
              <c:numCache>
                <c:formatCode>General</c:formatCode>
                <c:ptCount val="4"/>
                <c:pt idx="0">
                  <c:v>45</c:v>
                </c:pt>
                <c:pt idx="1">
                  <c:v>40</c:v>
                </c:pt>
                <c:pt idx="2">
                  <c:v>72</c:v>
                </c:pt>
                <c:pt idx="3">
                  <c:v>85</c:v>
                </c:pt>
              </c:numCache>
            </c:numRef>
          </c:val>
        </c:ser>
        <c:ser>
          <c:idx val="4"/>
          <c:order val="4"/>
          <c:tx>
            <c:strRef>
              <c:f>Sheet1!$F$1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Sheet1!$F$2:$F$5</c:f>
              <c:numCache>
                <c:formatCode>General</c:formatCode>
                <c:ptCount val="4"/>
                <c:pt idx="0">
                  <c:v>70</c:v>
                </c:pt>
                <c:pt idx="1">
                  <c:v>57</c:v>
                </c:pt>
                <c:pt idx="2">
                  <c:v>89</c:v>
                </c:pt>
                <c:pt idx="3">
                  <c:v>94</c:v>
                </c:pt>
              </c:numCache>
            </c:numRef>
          </c:val>
        </c:ser>
        <c:ser>
          <c:idx val="5"/>
          <c:order val="5"/>
          <c:tx>
            <c:strRef>
              <c:f>Sheet1!$G$1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Sheet1!$G$2:$G$5</c:f>
              <c:numCache>
                <c:formatCode>General</c:formatCode>
                <c:ptCount val="4"/>
                <c:pt idx="0">
                  <c:v>87</c:v>
                </c:pt>
                <c:pt idx="1">
                  <c:v>83</c:v>
                </c:pt>
                <c:pt idx="2">
                  <c:v>89</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o conjunto de perguntas com gabarito por código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A abordagem Estatísticas resumidas lê só a súmula; Consulta e Ferramentas leem o grafo.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sem passar pelo grafo,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Ordem de complexidade do que existe entre a pergunta e o modelo.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a consulta já escrita;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já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de data/benchmark/final_results.jsonl;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A barra azul é Ferramentas sobre o grafo: 83% a 89% em todos os modelos. Consulta escrita pelo modelo: 57% a 70% nos menores e 89% a 94% nos maiores. Contexto longo: 40% a 45% nos menores e 72% a 85% nos maiores. As outras três ficam baixas: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intervalo de Wilson de 95%;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já escrita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que leem os dados.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ganho pode vir das ferramentas, do grafo ou dos algoritmos de grafo, e separar isso é trabalho futuro;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uma tabela,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Perguntas de futebol exigem ligar eventos: qual forma de dar os dados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210312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50791"/>
            <a:ext cx="4846320" cy="169164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52 perguntas sobre a final, com gabarito calculado por código, fora do grafo.</a:t>
            </a:r>
          </a:p>
          <a:p>
            <a:pPr algn="l">
              <a:spcAft>
                <a:spcPts val="500"/>
              </a:spcAft>
            </a:pPr>
            <a:r>
              <a:rPr sz="1500" b="0">
                <a:solidFill>
                  <a:srgbClr val="222222"/>
                </a:solidFill>
                <a:latin typeface="Arial"/>
              </a:rPr>
              <a:t>Comparação de 6 abordagens com as mesmas perguntas, o mesmo prompt e a mesma saída, em 4 modelos.</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52160"/>
            <a:ext cx="10881360"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07040" cy="457200"/>
          </a:xfrm>
          <a:prstGeom prst="rect">
            <a:avLst/>
          </a:prstGeom>
          <a:noFill/>
        </p:spPr>
        <p:txBody>
          <a:bodyPr wrap="square" anchor="ctr" lIns="45720" rIns="45720">
            <a:spAutoFit/>
          </a:bodyPr>
          <a:lstStyle/>
          <a:p>
            <a:pPr algn="l">
              <a:spcAft>
                <a:spcPts val="600"/>
              </a:spcAft>
            </a:pPr>
            <a:r>
              <a:rPr sz="12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26517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108960"/>
          </a:xfrm>
          <a:prstGeom prst="rect">
            <a:avLst/>
          </a:prstGeom>
          <a:noFill/>
        </p:spPr>
        <p:txBody>
          <a:bodyPr wrap="square">
            <a:spAutoFit/>
          </a:bodyPr>
          <a:lstStyle/>
          <a:p>
            <a:r>
              <a:rPr sz="1200">
                <a:solidFill>
                  <a:srgbClr val="E8E8E8"/>
                </a:solidFill>
                <a:latin typeface="Courier New"/>
              </a:rPr>
              <a:t>{ "type": "Pass", "minute": 35, "second": 20,</a:t>
            </a:r>
          </a:p>
          <a:p>
            <a:r>
              <a:rPr sz="1200">
                <a:solidFill>
                  <a:srgbClr val="E8E8E8"/>
                </a:solidFill>
                <a:latin typeface="Courier New"/>
              </a:rPr>
              <a:t>  "player": "Alexis Mac Allister",</a:t>
            </a:r>
          </a:p>
          <a:p>
            <a:r>
              <a:rPr sz="1200">
                <a:solidFill>
                  <a:srgbClr val="E8E8E8"/>
                </a:solidFill>
                <a:latin typeface="Courier New"/>
              </a:rPr>
              <a:t>  "pass": { "recipient": "Ángel Fabián Di María",</a:t>
            </a:r>
          </a:p>
          <a:p>
            <a:r>
              <a:rPr sz="1200">
                <a:solidFill>
                  <a:srgbClr val="E8E8E8"/>
                </a:solidFill>
                <a:latin typeface="Courier New"/>
              </a:rPr>
              <a:t>            "goal_assist": true } }</a:t>
            </a:r>
          </a:p>
          <a:p>
            <a:r>
              <a:rPr sz="1200">
                <a:solidFill>
                  <a:srgbClr val="E8E8E8"/>
                </a:solidFill>
                <a:latin typeface="Courier New"/>
              </a:rPr>
              <a:t> </a:t>
            </a:r>
          </a:p>
          <a:p>
            <a:r>
              <a:rPr sz="1200">
                <a:solidFill>
                  <a:srgbClr val="E8E8E8"/>
                </a:solidFill>
                <a:latin typeface="Courier New"/>
              </a:rPr>
              <a:t>{ "type": "Shot", "minute": 35, "second": 22,</a:t>
            </a:r>
          </a:p>
          <a:p>
            <a:r>
              <a:rPr sz="1200">
                <a:solidFill>
                  <a:srgbClr val="E8E8E8"/>
                </a:solidFill>
                <a:latin typeface="Courier New"/>
              </a:rPr>
              <a:t>  "team": "Argentina",</a:t>
            </a:r>
          </a:p>
          <a:p>
            <a:r>
              <a:rPr sz="1200">
                <a:solidFill>
                  <a:srgbClr val="E8E8E8"/>
                </a:solidFill>
                <a:latin typeface="Courier New"/>
              </a:rPr>
              <a:t>  "player": "Ángel Fabián Di María",</a:t>
            </a:r>
          </a:p>
          <a:p>
            <a:r>
              <a:rPr sz="1200">
                <a:solidFill>
                  <a:srgbClr val="E8E8E8"/>
                </a:solidFill>
                <a:latin typeface="Courier New"/>
              </a:rPr>
              <a:t>  "shot": { "outcome": "Goal",</a:t>
            </a:r>
          </a:p>
          <a:p>
            <a:r>
              <a:rPr sz="12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9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9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9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9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377440"/>
          <a:ext cx="10881359" cy="3840480"/>
        </p:xfrm>
        <a:graphic>
          <a:graphicData uri="http://schemas.openxmlformats.org/drawingml/2006/table">
            <a:tbl>
              <a:tblPr firstRow="0" bandRow="0">
                <a:tableStyleId>{5C22544A-7EE6-4342-B048-85BDC9FD1C3A}</a:tableStyleId>
              </a:tblPr>
              <a:tblGrid>
                <a:gridCol w="2834640"/>
                <a:gridCol w="4297680"/>
                <a:gridCol w="3749039"/>
              </a:tblGrid>
              <a:tr h="480060">
                <a:tc>
                  <a:txBody>
                    <a:bodyPr wrap="square"/>
                    <a:lstStyle/>
                    <a:p>
                      <a:pPr algn="l"/>
                      <a:r>
                        <a:rPr sz="1400" b="1">
                          <a:solidFill>
                            <a:srgbClr val="FFFFFF"/>
                          </a:solidFill>
                          <a:latin typeface="Arial"/>
                        </a:rPr>
                        <a:t>Transformação</a:t>
                      </a:r>
                    </a:p>
                  </a:txBody>
                  <a:tcPr anchor="ctr">
                    <a:solidFill>
                      <a:srgbClr val="222222"/>
                    </a:solidFill>
                  </a:tcPr>
                </a:tc>
                <a:tc>
                  <a:txBody>
                    <a:bodyPr wrap="square"/>
                    <a:lstStyle/>
                    <a:p>
                      <a:pPr algn="l"/>
                      <a:r>
                        <a:rPr sz="1400" b="1">
                          <a:solidFill>
                            <a:srgbClr val="FFFFFF"/>
                          </a:solidFill>
                          <a:latin typeface="Arial"/>
                        </a:rPr>
                        <a:t>O que faz</a:t>
                      </a:r>
                    </a:p>
                  </a:txBody>
                  <a:tcPr anchor="ctr">
                    <a:solidFill>
                      <a:srgbClr val="222222"/>
                    </a:solidFill>
                  </a:tcPr>
                </a:tc>
                <a:tc>
                  <a:txBody>
                    <a:bodyPr wrap="square"/>
                    <a:lstStyle/>
                    <a:p>
                      <a:pPr algn="l"/>
                      <a:r>
                        <a:rPr sz="1400" b="1">
                          <a:solidFill>
                            <a:srgbClr val="FFFFFF"/>
                          </a:solidFill>
                          <a:latin typeface="Arial"/>
                        </a:rPr>
                        <a:t>Motivo</a:t>
                      </a:r>
                    </a:p>
                  </a:txBody>
                  <a:tcPr anchor="ctr">
                    <a:solidFill>
                      <a:srgbClr val="222222"/>
                    </a:solidFill>
                  </a:tcPr>
                </a:tc>
              </a:tr>
              <a:tr h="480060">
                <a:tc>
                  <a:txBody>
                    <a:bodyPr wrap="square"/>
                    <a:lstStyle/>
                    <a:p>
                      <a:pPr algn="l"/>
                      <a:r>
                        <a:rPr sz="1400" b="1">
                          <a:solidFill>
                            <a:srgbClr val="222222"/>
                          </a:solidFill>
                          <a:latin typeface="Arial"/>
                        </a:rPr>
                        <a:t>Direção de ataque</a:t>
                      </a:r>
                    </a:p>
                  </a:txBody>
                  <a:tcPr anchor="ctr">
                    <a:solidFill>
                      <a:srgbClr val="FFFFFF"/>
                    </a:solidFill>
                  </a:tcPr>
                </a:tc>
                <a:tc>
                  <a:txBody>
                    <a:bodyPr wrap="square"/>
                    <a:lstStyle/>
                    <a:p>
                      <a:pPr algn="l"/>
                      <a:r>
                        <a:rPr sz="1400" b="0">
                          <a:solidFill>
                            <a:srgbClr val="222222"/>
                          </a:solidFill>
                          <a:latin typeface="Arial"/>
                        </a:rPr>
                        <a:t>toda ação ataca da esquerda para a direita</a:t>
                      </a:r>
                    </a:p>
                  </a:txBody>
                  <a:tcPr anchor="ctr">
                    <a:solidFill>
                      <a:srgbClr val="FFFFFF"/>
                    </a:solidFill>
                  </a:tcPr>
                </a:tc>
                <a:tc>
                  <a:txBody>
                    <a:bodyPr wrap="square"/>
                    <a:lstStyle/>
                    <a:p>
                      <a:pPr algn="l"/>
                      <a:r>
                        <a:rPr sz="1400" b="0">
                          <a:solidFill>
                            <a:srgbClr val="222222"/>
                          </a:solidFill>
                          <a:latin typeface="Arial"/>
                        </a:rPr>
                        <a:t>mesmo sentido do campo para os dois times</a:t>
                      </a:r>
                    </a:p>
                  </a:txBody>
                  <a:tcPr anchor="ctr">
                    <a:solidFill>
                      <a:srgbClr val="FFFFFF"/>
                    </a:solidFill>
                  </a:tcPr>
                </a:tc>
              </a:tr>
              <a:tr h="480060">
                <a:tc>
                  <a:txBody>
                    <a:bodyPr wrap="square"/>
                    <a:lstStyle/>
                    <a:p>
                      <a:pPr algn="l"/>
                      <a:r>
                        <a:rPr sz="1400" b="1">
                          <a:solidFill>
                            <a:srgbClr val="222222"/>
                          </a:solidFill>
                          <a:latin typeface="Arial"/>
                        </a:rPr>
                        <a:t>Zona, terço e corredor</a:t>
                      </a:r>
                    </a:p>
                  </a:txBody>
                  <a:tcPr anchor="ctr">
                    <a:solidFill>
                      <a:srgbClr val="F2F2F2"/>
                    </a:solidFill>
                  </a:tcPr>
                </a:tc>
                <a:tc>
                  <a:txBody>
                    <a:bodyPr wrap="square"/>
                    <a:lstStyle/>
                    <a:p>
                      <a:pPr algn="l"/>
                      <a:r>
                        <a:rPr sz="1400" b="0">
                          <a:solidFill>
                            <a:srgbClr val="222222"/>
                          </a:solidFill>
                          <a:latin typeface="Arial"/>
                        </a:rPr>
                        <a:t>situa o início e o fim de cada ação</a:t>
                      </a:r>
                    </a:p>
                  </a:txBody>
                  <a:tcPr anchor="ctr">
                    <a:solidFill>
                      <a:srgbClr val="F2F2F2"/>
                    </a:solidFill>
                  </a:tcPr>
                </a:tc>
                <a:tc>
                  <a:txBody>
                    <a:bodyPr wrap="square"/>
                    <a:lstStyle/>
                    <a:p>
                      <a:pPr algn="l"/>
                      <a:r>
                        <a:rPr sz="1400" b="0">
                          <a:solidFill>
                            <a:srgbClr val="222222"/>
                          </a:solidFill>
                          <a:latin typeface="Arial"/>
                        </a:rPr>
                        <a:t>localizar a ação no campo</a:t>
                      </a:r>
                    </a:p>
                  </a:txBody>
                  <a:tcPr anchor="ctr">
                    <a:solidFill>
                      <a:srgbClr val="F2F2F2"/>
                    </a:solidFill>
                  </a:tcPr>
                </a:tc>
              </a:tr>
              <a:tr h="480060">
                <a:tc>
                  <a:txBody>
                    <a:bodyPr wrap="square"/>
                    <a:lstStyle/>
                    <a:p>
                      <a:pPr algn="l"/>
                      <a:r>
                        <a:rPr sz="1400" b="1">
                          <a:solidFill>
                            <a:srgbClr val="222222"/>
                          </a:solidFill>
                          <a:latin typeface="Arial"/>
                        </a:rPr>
                        <a:t>Recebedor do passe</a:t>
                      </a:r>
                    </a:p>
                  </a:txBody>
                  <a:tcPr anchor="ctr">
                    <a:solidFill>
                      <a:srgbClr val="FFFFFF"/>
                    </a:solidFill>
                  </a:tcPr>
                </a:tc>
                <a:tc>
                  <a:txBody>
                    <a:bodyPr wrap="square"/>
                    <a:lstStyle/>
                    <a:p>
                      <a:pPr algn="l"/>
                      <a:r>
                        <a:rPr sz="1400" b="0">
                          <a:solidFill>
                            <a:srgbClr val="222222"/>
                          </a:solidFill>
                          <a:latin typeface="Arial"/>
                        </a:rPr>
                        <a:t>jogador do mesmo time que age em seguida</a:t>
                      </a:r>
                    </a:p>
                  </a:txBody>
                  <a:tcPr anchor="ctr">
                    <a:solidFill>
                      <a:srgbClr val="FFFFFF"/>
                    </a:solidFill>
                  </a:tcPr>
                </a:tc>
                <a:tc>
                  <a:txBody>
                    <a:bodyPr wrap="square"/>
                    <a:lstStyle/>
                    <a:p>
                      <a:pPr algn="l"/>
                      <a:r>
                        <a:rPr sz="1400" b="0">
                          <a:solidFill>
                            <a:srgbClr val="222222"/>
                          </a:solidFill>
                          <a:latin typeface="Arial"/>
                        </a:rPr>
                        <a:t>saber quem passou para quem</a:t>
                      </a:r>
                    </a:p>
                  </a:txBody>
                  <a:tcPr anchor="ctr">
                    <a:solidFill>
                      <a:srgbClr val="FFFFFF"/>
                    </a:solidFill>
                  </a:tcPr>
                </a:tc>
              </a:tr>
              <a:tr h="480060">
                <a:tc>
                  <a:txBody>
                    <a:bodyPr wrap="square"/>
                    <a:lstStyle/>
                    <a:p>
                      <a:pPr algn="l"/>
                      <a:r>
                        <a:rPr sz="1400" b="1">
                          <a:solidFill>
                            <a:srgbClr val="222222"/>
                          </a:solidFill>
                          <a:latin typeface="Arial"/>
                        </a:rPr>
                        <a:t>Fase de posse</a:t>
                      </a:r>
                    </a:p>
                  </a:txBody>
                  <a:tcPr anchor="ctr">
                    <a:solidFill>
                      <a:srgbClr val="F2F2F2"/>
                    </a:solidFill>
                  </a:tcPr>
                </a:tc>
                <a:tc>
                  <a:txBody>
                    <a:bodyPr wrap="square"/>
                    <a:lstStyle/>
                    <a:p>
                      <a:pPr algn="l"/>
                      <a:r>
                        <a:rPr sz="1400" b="0">
                          <a:solidFill>
                            <a:srgbClr val="222222"/>
                          </a:solidFill>
                          <a:latin typeface="Arial"/>
                        </a:rPr>
                        <a:t>agrupa as ações seguidas do mesmo time</a:t>
                      </a:r>
                    </a:p>
                  </a:txBody>
                  <a:tcPr anchor="ctr">
                    <a:solidFill>
                      <a:srgbClr val="F2F2F2"/>
                    </a:solidFill>
                  </a:tcPr>
                </a:tc>
                <a:tc>
                  <a:txBody>
                    <a:bodyPr wrap="square"/>
                    <a:lstStyle/>
                    <a:p>
                      <a:pPr algn="l"/>
                      <a:r>
                        <a:rPr sz="1400" b="0">
                          <a:solidFill>
                            <a:srgbClr val="222222"/>
                          </a:solidFill>
                          <a:latin typeface="Arial"/>
                        </a:rPr>
                        <a:t>identificar as jogadas</a:t>
                      </a:r>
                    </a:p>
                  </a:txBody>
                  <a:tcPr anchor="ctr">
                    <a:solidFill>
                      <a:srgbClr val="F2F2F2"/>
                    </a:solidFill>
                  </a:tcPr>
                </a:tc>
              </a:tr>
              <a:tr h="480060">
                <a:tc>
                  <a:txBody>
                    <a:bodyPr wrap="square"/>
                    <a:lstStyle/>
                    <a:p>
                      <a:pPr algn="l"/>
                      <a:r>
                        <a:rPr sz="1400" b="1">
                          <a:solidFill>
                            <a:srgbClr val="222222"/>
                          </a:solidFill>
                          <a:latin typeface="Arial"/>
                        </a:rPr>
                        <a:t>Placar, minuto e período</a:t>
                      </a:r>
                    </a:p>
                  </a:txBody>
                  <a:tcPr anchor="ctr">
                    <a:solidFill>
                      <a:srgbClr val="FFFFFF"/>
                    </a:solidFill>
                  </a:tcPr>
                </a:tc>
                <a:tc>
                  <a:txBody>
                    <a:bodyPr wrap="square"/>
                    <a:lstStyle/>
                    <a:p>
                      <a:pPr algn="l"/>
                      <a:r>
                        <a:rPr sz="1400" b="0">
                          <a:solidFill>
                            <a:srgbClr val="222222"/>
                          </a:solidFill>
                          <a:latin typeface="Arial"/>
                        </a:rPr>
                        <a:t>placar antes de cada ação; minuto da transmissão</a:t>
                      </a:r>
                    </a:p>
                  </a:txBody>
                  <a:tcPr anchor="ctr">
                    <a:solidFill>
                      <a:srgbClr val="FFFFFF"/>
                    </a:solidFill>
                  </a:tcPr>
                </a:tc>
                <a:tc>
                  <a:txBody>
                    <a:bodyPr wrap="square"/>
                    <a:lstStyle/>
                    <a:p>
                      <a:pPr algn="l"/>
                      <a:r>
                        <a:rPr sz="1400" b="0">
                          <a:solidFill>
                            <a:srgbClr val="222222"/>
                          </a:solidFill>
                          <a:latin typeface="Arial"/>
                        </a:rPr>
                        <a:t>situar a ação antes ou depois de um momento</a:t>
                      </a:r>
                    </a:p>
                  </a:txBody>
                  <a:tcPr anchor="ctr">
                    <a:solidFill>
                      <a:srgbClr val="FFFFFF"/>
                    </a:solidFill>
                  </a:tcPr>
                </a:tc>
              </a:tr>
              <a:tr h="480060">
                <a:tc>
                  <a:txBody>
                    <a:bodyPr wrap="square"/>
                    <a:lstStyle/>
                    <a:p>
                      <a:pPr algn="l"/>
                      <a:r>
                        <a:rPr sz="1400" b="1">
                          <a:solidFill>
                            <a:srgbClr val="222222"/>
                          </a:solidFill>
                          <a:latin typeface="Arial"/>
                        </a:rPr>
                        <a:t>Dados recuperados do JSON</a:t>
                      </a:r>
                    </a:p>
                  </a:txBody>
                  <a:tcPr anchor="ctr">
                    <a:solidFill>
                      <a:srgbClr val="F2F2F2"/>
                    </a:solidFill>
                  </a:tcPr>
                </a:tc>
                <a:tc>
                  <a:txBody>
                    <a:bodyPr wrap="square"/>
                    <a:lstStyle/>
                    <a:p>
                      <a:pPr algn="l"/>
                      <a:r>
                        <a:rPr sz="1400" b="0">
                          <a:solidFill>
                            <a:srgbClr val="222222"/>
                          </a:solidFill>
                          <a:latin typeface="Arial"/>
                        </a:rPr>
                        <a:t>desfecho da finalização e cartão sem falta</a:t>
                      </a:r>
                    </a:p>
                  </a:txBody>
                  <a:tcPr anchor="ctr">
                    <a:solidFill>
                      <a:srgbClr val="F2F2F2"/>
                    </a:solidFill>
                  </a:tcPr>
                </a:tc>
                <a:tc>
                  <a:txBody>
                    <a:bodyPr wrap="square"/>
                    <a:lstStyle/>
                    <a:p>
                      <a:pPr algn="l"/>
                      <a:r>
                        <a:rPr sz="1400" b="0">
                          <a:solidFill>
                            <a:srgbClr val="222222"/>
                          </a:solidFill>
                          <a:latin typeface="Arial"/>
                        </a:rPr>
                        <a:t>o SPADL perde essas informações</a:t>
                      </a:r>
                    </a:p>
                  </a:txBody>
                  <a:tcPr anchor="ctr">
                    <a:solidFill>
                      <a:srgbClr val="F2F2F2"/>
                    </a:solidFill>
                  </a:tcPr>
                </a:tc>
              </a:tr>
              <a:tr h="480060">
                <a:tc>
                  <a:txBody>
                    <a:bodyPr wrap="square"/>
                    <a:lstStyle/>
                    <a:p>
                      <a:pPr algn="l"/>
                      <a:r>
                        <a:rPr sz="1400" b="1">
                          <a:solidFill>
                            <a:srgbClr val="222222"/>
                          </a:solidFill>
                          <a:latin typeface="Arial"/>
                        </a:rPr>
                        <a:t>Rótulos em português</a:t>
                      </a:r>
                    </a:p>
                  </a:txBody>
                  <a:tcPr anchor="ctr">
                    <a:solidFill>
                      <a:srgbClr val="FFFFFF"/>
                    </a:solidFill>
                  </a:tcPr>
                </a:tc>
                <a:tc>
                  <a:txBody>
                    <a:bodyPr wrap="square"/>
                    <a:lstStyle/>
                    <a:p>
                      <a:pPr algn="l"/>
                      <a:r>
                        <a:rPr sz="1400" b="0">
                          <a:solidFill>
                            <a:srgbClr val="222222"/>
                          </a:solidFill>
                          <a:latin typeface="Arial"/>
                        </a:rPr>
                        <a:t>passe, condução, drible</a:t>
                      </a:r>
                    </a:p>
                  </a:txBody>
                  <a:tcPr anchor="ctr">
                    <a:solidFill>
                      <a:srgbClr val="FFFFFF"/>
                    </a:solidFill>
                  </a:tcPr>
                </a:tc>
                <a:tc>
                  <a:txBody>
                    <a:bodyPr wrap="square"/>
                    <a:lstStyle/>
                    <a:p>
                      <a:pPr algn="l"/>
                      <a:r>
                        <a:rPr sz="1400" b="0">
                          <a:solidFill>
                            <a:srgbClr val="222222"/>
                          </a:solidFill>
                          <a:latin typeface="Arial"/>
                        </a:rPr>
                        <a:t>o SPADL chama a condução de dribble</a:t>
                      </a:r>
                    </a:p>
                  </a:txBody>
                  <a:tcPr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MEMBRO_DE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3484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80160" y="429768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PARTICIPOU_DE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20624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TEM_ESTATISTICA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0" y="429768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ATUOU_EM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2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2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200" b="0">
                <a:solidFill>
                  <a:srgbClr val="666666"/>
                </a:solidFill>
                <a:latin typeface="Arial"/>
              </a:rPr>
              <a:t>por 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2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200" b="0">
                <a:solidFill>
                  <a:srgbClr val="666666"/>
                </a:solidFill>
                <a:latin typeface="Arial"/>
              </a:rPr>
              <a:t>Entre jogadores: PASSOU_PARA, DEU_ASSISTENCIA, PRESSIONOU</a:t>
            </a:r>
          </a:p>
          <a:p>
            <a:pPr algn="ctr">
              <a:spcAft>
                <a:spcPts val="200"/>
              </a:spcAft>
            </a:pPr>
            <a:r>
              <a:rPr sz="1200" b="0">
                <a:solidFill>
                  <a:srgbClr val="666666"/>
                </a:solidFill>
                <a:latin typeface="Arial"/>
              </a:rPr>
              <a:t>Entre zonas: PROGREDIU_PARA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A súmula é calculada: </a:t>
            </a:r>
            <a:r>
              <a:rPr sz="1600" b="0">
                <a:solidFill>
                  <a:srgbClr val="222222"/>
                </a:solidFill>
                <a:latin typeface="Arial"/>
              </a:rPr>
              <a:t>o próprio banco conta os totais por jogador e por time.</a:t>
            </a:r>
          </a:p>
          <a:p>
            <a:pPr>
              <a:spcAft>
                <a:spcPts val="900"/>
              </a:spcAft>
            </a:pPr>
            <a:r>
              <a:rPr sz="1600" b="1">
                <a:solidFill>
                  <a:srgbClr val="1F5C99"/>
                </a:solidFill>
                <a:latin typeface="Arial"/>
              </a:rPr>
              <a:t>• </a:t>
            </a:r>
            <a:r>
              <a:rPr sz="1600" b="1">
                <a:solidFill>
                  <a:srgbClr val="222222"/>
                </a:solidFill>
                <a:latin typeface="Arial"/>
              </a:rPr>
              <a:t>Nenhuma etapa usa modelo de linguagem; </a:t>
            </a:r>
            <a:r>
              <a:rPr sz="1600" b="0">
                <a:solidFill>
                  <a:srgbClr val="222222"/>
                </a:solidFill>
                <a:latin typeface="Arial"/>
              </a:rPr>
              <a:t>só o benchmark chama modelos.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fora do grafo,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da ausência de dados à consulta ao grafo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fixa,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 o modelo escreve a consulta ou escolhe a ferramenta</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chama run_cypher com a consulta que escreveu:</a:t>
            </a:r>
          </a:p>
        </p:txBody>
      </p:sp>
      <p:sp>
        <p:nvSpPr>
          <p:cNvPr id="11" name="Rectangle 10"/>
          <p:cNvSpPr/>
          <p:nvPr/>
        </p:nvSpPr>
        <p:spPr>
          <a:xfrm>
            <a:off x="77724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1691639"/>
          </a:xfrm>
          <a:prstGeom prst="rect">
            <a:avLst/>
          </a:prstGeom>
          <a:noFill/>
        </p:spPr>
        <p:txBody>
          <a:bodyPr wrap="square">
            <a:spAutoFit/>
          </a:bodyPr>
          <a:lstStyle/>
          <a:p>
            <a:r>
              <a:rPr sz="1100">
                <a:solidFill>
                  <a:srgbClr val="E8E8E8"/>
                </a:solidFill>
                <a:latin typeface="Courier New"/>
              </a:rPr>
              <a:t>MATCH (j:Jogador)-[r:REALIZOU]-&gt;</a:t>
            </a:r>
          </a:p>
          <a:p>
            <a:r>
              <a:rPr sz="1100">
                <a:solidFill>
                  <a:srgbClr val="E8E8E8"/>
                </a:solidFill>
                <a:latin typeface="Courier New"/>
              </a:rPr>
              <a:t>  (p:Partida [...])</a:t>
            </a:r>
          </a:p>
          <a:p>
            <a:r>
              <a:rPr sz="1100">
                <a:solidFill>
                  <a:srgbClr val="E8E8E8"/>
                </a:solidFill>
                <a:latin typeface="Courier New"/>
              </a:rPr>
              <a:t>WHERE j.time = 'Argentina'</a:t>
            </a:r>
          </a:p>
          <a:p>
            <a:r>
              <a:rPr sz="1100">
                <a:solidFill>
                  <a:srgbClr val="E8E8E8"/>
                </a:solidFill>
                <a:latin typeface="Courier New"/>
              </a:rPr>
              <a:t>  AND r.acao = 'passe'</a:t>
            </a:r>
          </a:p>
          <a:p>
            <a:r>
              <a:rPr sz="1100">
                <a:solidFill>
                  <a:srgbClr val="E8E8E8"/>
                </a:solidFill>
                <a:latin typeface="Courier New"/>
              </a:rPr>
              <a:t>  AND r.sucesso = true</a:t>
            </a:r>
          </a:p>
          <a:p>
            <a:r>
              <a:rPr sz="1100">
                <a:solidFill>
                  <a:srgbClr val="E8E8E8"/>
                </a:solidFill>
                <a:latin typeface="Courier New"/>
              </a:rPr>
              <a:t>  AND r.terco = 'ataque' [...]</a:t>
            </a:r>
          </a:p>
          <a:p>
            <a:r>
              <a:rPr sz="1100">
                <a:solidFill>
                  <a:srgbClr val="E8E8E8"/>
                </a:solidFill>
                <a:latin typeface="Courier New"/>
              </a:rPr>
              <a:t>RETURN j.nome AS jogador,</a:t>
            </a:r>
          </a:p>
          <a:p>
            <a:r>
              <a:rPr sz="1100">
                <a:solidFill>
                  <a:srgbClr val="E8E8E8"/>
                </a:solidFill>
                <a:latin typeface="Courier New"/>
              </a:rPr>
              <a:t>  count(r) AS passes_certos_terco_final</a:t>
            </a:r>
          </a:p>
          <a:p>
            <a:r>
              <a:rPr sz="1100">
                <a:solidFill>
                  <a:srgbClr val="E8E8E8"/>
                </a:solidFill>
                <a:latin typeface="Courier New"/>
              </a:rPr>
              <a:t>ORDER BY passes_certos_terco_final DESC</a:t>
            </a:r>
          </a:p>
          <a:p>
            <a:r>
              <a:rPr sz="1100">
                <a:solidFill>
                  <a:srgbClr val="E8E8E8"/>
                </a:solidFill>
                <a:latin typeface="Courier New"/>
              </a:rPr>
              <a:t>LIMIT 10</a:t>
            </a:r>
          </a:p>
        </p:txBody>
      </p:sp>
      <p:sp>
        <p:nvSpPr>
          <p:cNvPr id="13" name="TextBox 12"/>
          <p:cNvSpPr txBox="1"/>
          <p:nvPr/>
        </p:nvSpPr>
        <p:spPr>
          <a:xfrm>
            <a:off x="77724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essa consulta no grafo e devolve:</a:t>
            </a:r>
          </a:p>
        </p:txBody>
      </p:sp>
      <p:sp>
        <p:nvSpPr>
          <p:cNvPr id="14" name="Rectangle 13"/>
          <p:cNvSpPr/>
          <p:nvPr/>
        </p:nvSpPr>
        <p:spPr>
          <a:xfrm>
            <a:off x="77724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16" name="TextBox 15"/>
          <p:cNvSpPr txBox="1"/>
          <p:nvPr/>
        </p:nvSpPr>
        <p:spPr>
          <a:xfrm>
            <a:off x="77724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escolhe query_actions e preenche os argumentos:</a:t>
            </a:r>
          </a:p>
        </p:txBody>
      </p:sp>
      <p:sp>
        <p:nvSpPr>
          <p:cNvPr id="20" name="Rectangle 19"/>
          <p:cNvSpPr/>
          <p:nvPr/>
        </p:nvSpPr>
        <p:spPr>
          <a:xfrm>
            <a:off x="630936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1691639"/>
          </a:xfrm>
          <a:prstGeom prst="rect">
            <a:avLst/>
          </a:prstGeom>
          <a:noFill/>
        </p:spPr>
        <p:txBody>
          <a:bodyPr wrap="square">
            <a:spAutoFit/>
          </a:bodyPr>
          <a:lstStyle/>
          <a:p>
            <a:r>
              <a:rPr sz="1100">
                <a:solidFill>
                  <a:srgbClr val="E8E8E8"/>
                </a:solidFill>
                <a:latin typeface="Courier New"/>
              </a:rPr>
              <a:t>filters: {team: "Argentina",</a:t>
            </a:r>
          </a:p>
          <a:p>
            <a:r>
              <a:rPr sz="1100">
                <a:solidFill>
                  <a:srgbClr val="E8E8E8"/>
                </a:solidFill>
                <a:latin typeface="Courier New"/>
              </a:rPr>
              <a:t>  action: ["passe"], success: true,</a:t>
            </a:r>
          </a:p>
          <a:p>
            <a:r>
              <a:rPr sz="1100">
                <a:solidFill>
                  <a:srgbClr val="E8E8E8"/>
                </a:solidFill>
                <a:latin typeface="Courier New"/>
              </a:rPr>
              <a:t>  third: "attacking"},</a:t>
            </a:r>
          </a:p>
          <a:p>
            <a:r>
              <a:rPr sz="1100">
                <a:solidFill>
                  <a:srgbClr val="E8E8E8"/>
                </a:solidFill>
                <a:latin typeface="Courier New"/>
              </a:rPr>
              <a:t>group_by: ["player"], metric: "count",</a:t>
            </a:r>
          </a:p>
          <a:p>
            <a:r>
              <a:rPr sz="1100">
                <a:solidFill>
                  <a:srgbClr val="E8E8E8"/>
                </a:solidFill>
                <a:latin typeface="Courier New"/>
              </a:rPr>
              <a:t>top: 5</a:t>
            </a:r>
          </a:p>
        </p:txBody>
      </p:sp>
      <p:sp>
        <p:nvSpPr>
          <p:cNvPr id="22" name="TextBox 21"/>
          <p:cNvSpPr txBox="1"/>
          <p:nvPr/>
        </p:nvSpPr>
        <p:spPr>
          <a:xfrm>
            <a:off x="630936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a consulta fixa do código e devolve:</a:t>
            </a:r>
          </a:p>
        </p:txBody>
      </p:sp>
      <p:sp>
        <p:nvSpPr>
          <p:cNvPr id="23" name="Rectangle 22"/>
          <p:cNvSpPr/>
          <p:nvPr/>
        </p:nvSpPr>
        <p:spPr>
          <a:xfrm>
            <a:off x="630936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25" name="TextBox 24"/>
          <p:cNvSpPr txBox="1"/>
          <p:nvPr/>
        </p:nvSpPr>
        <p:spPr>
          <a:xfrm>
            <a:off x="630936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47 perguntas com resposta, uma repetição por pergunta.</a:t>
            </a:r>
          </a:p>
        </p:txBody>
      </p:sp>
      <p:sp>
        <p:nvSpPr>
          <p:cNvPr id="6" name="TextBox 5"/>
          <p:cNvSpPr txBox="1"/>
          <p:nvPr/>
        </p:nvSpPr>
        <p:spPr>
          <a:xfrm>
            <a:off x="640080" y="1325880"/>
            <a:ext cx="10881360" cy="822960"/>
          </a:xfrm>
          <a:prstGeom prst="rect">
            <a:avLst/>
          </a:prstGeom>
          <a:noFill/>
        </p:spPr>
        <p:txBody>
          <a:bodyPr wrap="square" anchor="t" lIns="45720" rIns="45720">
            <a:spAutoFit/>
          </a:bodyPr>
          <a:lstStyle/>
          <a:p>
            <a:pPr algn="l">
              <a:spcAft>
                <a:spcPts val="200"/>
              </a:spcAft>
            </a:pPr>
            <a:r>
              <a:rPr sz="13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300" b="0">
                <a:solidFill>
                  <a:srgbClr val="666666"/>
                </a:solidFill>
                <a:latin typeface="Arial"/>
              </a:rPr>
              <a:t>52 perguntas × 6 abordagens = 312 execuções por modelo, 1 repetição por pergunta. Intervalo de Wilson de 95%; diferenças lidas como indícios.</a:t>
            </a:r>
          </a:p>
        </p:txBody>
      </p:sp>
      <p:graphicFrame>
        <p:nvGraphicFramePr>
          <p:cNvPr id="7" name="Chart 6"/>
          <p:cNvGraphicFramePr>
            <a:graphicFrameLocks noGrp="1"/>
          </p:cNvGraphicFramePr>
          <p:nvPr/>
        </p:nvGraphicFramePr>
        <p:xfrm>
          <a:off x="457200" y="2103120"/>
          <a:ext cx="11247120" cy="4251960"/>
        </p:xfrm>
        <a:graphic>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1000"/>
              </a:spcAft>
            </a:pPr>
            <a:r>
              <a:rPr sz="1800" b="1">
                <a:solidFill>
                  <a:srgbClr val="1F5C99"/>
                </a:solidFill>
                <a:latin typeface="Arial"/>
              </a:rPr>
              <a:t>Leitura</a:t>
            </a:r>
          </a:p>
          <a:p>
            <a:pPr algn="l">
              <a:spcAft>
                <a:spcPts val="1000"/>
              </a:spcAft>
            </a:pPr>
            <a:r>
              <a:rPr sz="1500" b="0">
                <a:solidFill>
                  <a:srgbClr val="222222"/>
                </a:solidFill>
                <a:latin typeface="Arial"/>
              </a:rPr>
              <a:t>Ferramentas: a consulta já vem escrita e o cálculo fica no código.</a:t>
            </a:r>
          </a:p>
          <a:p>
            <a:pPr algn="l">
              <a:spcAft>
                <a:spcPts val="1000"/>
              </a:spcAft>
            </a:pPr>
            <a:r>
              <a:rPr sz="1500" b="0">
                <a:solidFill>
                  <a:srgbClr val="222222"/>
                </a:solidFill>
                <a:latin typeface="Arial"/>
              </a:rPr>
              <a:t>Consulta: o modelo escreve o Cypher; o acerto acompanha essa capacidade.</a:t>
            </a:r>
          </a:p>
          <a:p>
            <a:pPr algn="l">
              <a:spcAft>
                <a:spcPts val="1000"/>
              </a:spcAft>
            </a:pPr>
            <a:r>
              <a:rPr sz="1500" b="0">
                <a:solidFill>
                  <a:srgbClr val="222222"/>
                </a:solidFill>
                <a:latin typeface="Arial"/>
              </a:rPr>
              <a:t>Contexto longo: o modelo acha e combina as linhas certas na tabela inteira.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3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3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Ferramentas, grafo ou algoritmos de grafo? </a:t>
            </a:r>
            <a:r>
              <a:rPr sz="1800" b="0">
                <a:solidFill>
                  <a:srgbClr val="222222"/>
                </a:solidFill>
                <a:latin typeface="Arial"/>
              </a:rPr>
              <a:t>Separar é trabalho futuro.</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Rectangle 4"/>
          <p:cNvSpPr/>
          <p:nvPr/>
        </p:nvSpPr>
        <p:spPr>
          <a:xfrm>
            <a:off x="64008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Repetir as execuções: medir a variação entre rodadas e testar as diferenças entre abordagens.</a:t>
            </a:r>
          </a:p>
          <a:p>
            <a:pPr>
              <a:spcAft>
                <a:spcPts val="1400"/>
              </a:spcAft>
            </a:pPr>
            <a:r>
              <a:rPr sz="1800" b="1">
                <a:solidFill>
                  <a:srgbClr val="1F5C99"/>
                </a:solidFill>
                <a:latin typeface="Arial"/>
              </a:rPr>
              <a:t>• </a:t>
            </a:r>
            <a:r>
              <a:rPr sz="1800" b="0">
                <a:solidFill>
                  <a:srgbClr val="222222"/>
                </a:solidFill>
                <a:latin typeface="Arial"/>
              </a:rPr>
              <a:t>Estender as perguntas a várias partidas.</a:t>
            </a:r>
          </a:p>
        </p:txBody>
      </p:sp>
      <p:sp>
        <p:nvSpPr>
          <p:cNvPr id="8" name="Rectangle 7"/>
          <p:cNvSpPr/>
          <p:nvPr/>
        </p:nvSpPr>
        <p:spPr>
          <a:xfrm>
            <a:off x="434340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Modelos maiores sem raciocínio estendido: tamanho ou raciocínio?</a:t>
            </a:r>
          </a:p>
          <a:p>
            <a:pPr>
              <a:spcAft>
                <a:spcPts val="1400"/>
              </a:spcAft>
            </a:pPr>
            <a:r>
              <a:rPr sz="1800" b="1">
                <a:solidFill>
                  <a:srgbClr val="1F5C99"/>
                </a:solidFill>
                <a:latin typeface="Arial"/>
              </a:rPr>
              <a:t>• </a:t>
            </a:r>
            <a:r>
              <a:rPr sz="1800" b="0">
                <a:solidFill>
                  <a:srgbClr val="222222"/>
                </a:solidFill>
                <a:latin typeface="Arial"/>
              </a:rPr>
              <a:t>As mesmas ferramentas sobre uma tabela, sem o grafo: ferramentas ou grafo?</a:t>
            </a:r>
          </a:p>
          <a:p>
            <a:pPr>
              <a:spcAft>
                <a:spcPts val="1400"/>
              </a:spcAft>
            </a:pPr>
            <a:r>
              <a:rPr sz="1800" b="1">
                <a:solidFill>
                  <a:srgbClr val="1F5C99"/>
                </a:solidFill>
                <a:latin typeface="Arial"/>
              </a:rPr>
              <a:t>• </a:t>
            </a:r>
            <a:r>
              <a:rPr sz="1800" b="0">
                <a:solidFill>
                  <a:srgbClr val="222222"/>
                </a:solidFill>
                <a:latin typeface="Arial"/>
              </a:rPr>
              <a:t>Busca vetorial com os eventos vizinhos em cada trecho.</a:t>
            </a:r>
          </a:p>
        </p:txBody>
      </p:sp>
      <p:sp>
        <p:nvSpPr>
          <p:cNvPr id="11" name="Rectangle 10"/>
          <p:cNvSpPr/>
          <p:nvPr/>
        </p:nvSpPr>
        <p:spPr>
          <a:xfrm>
            <a:off x="8046720" y="1554480"/>
            <a:ext cx="3474720" cy="4206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Dados industriais: registros de eventos com agente, momento e local, como paradas, alertas e movimentações.</a:t>
            </a:r>
          </a:p>
          <a:p>
            <a:pPr>
              <a:spcAft>
                <a:spcPts val="1400"/>
              </a:spcAft>
            </a:pPr>
            <a:r>
              <a:rPr sz="1800" b="1">
                <a:solidFill>
                  <a:srgbClr val="1F5C99"/>
                </a:solidFill>
                <a:latin typeface="Arial"/>
              </a:rPr>
              <a:t>• </a:t>
            </a:r>
            <a:r>
              <a:rPr sz="1800" b="0">
                <a:solidFill>
                  <a:srgbClr val="222222"/>
                </a:solidFill>
                <a:latin typeface="Arial"/>
              </a:rPr>
              <a:t>Exige preparação dos dados, grafo e ferramentas próprios do domínio.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github.com/joaowinderfeldbussolotto/football-tactics-knowledge-graph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