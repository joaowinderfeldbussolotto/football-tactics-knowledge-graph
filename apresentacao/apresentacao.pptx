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400" b="1">
                    <a:solidFill>
                      <a:srgbClr val="222222"/>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14</c:v>
                </c:pt>
                <c:pt idx="1">
                  <c:v>15</c:v>
                </c:pt>
                <c:pt idx="2">
                  <c:v>11</c:v>
                </c:pt>
                <c:pt idx="3">
                  <c:v>8</c:v>
                </c:pt>
              </c:numLit>
            </c:plus>
            <c:minus>
              <c:numLit>
                <c:formatCode>General</c:formatCode>
                <c:ptCount val="4"/>
                <c:pt idx="0">
                  <c:v>14</c:v>
                </c:pt>
                <c:pt idx="1">
                  <c:v>12</c:v>
                </c:pt>
                <c:pt idx="2">
                  <c:v>14</c:v>
                </c:pt>
                <c:pt idx="3">
                  <c:v>13</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45</c:v>
                </c:pt>
                <c:pt idx="1">
                  <c:v>40</c:v>
                </c:pt>
                <c:pt idx="2">
                  <c:v>72</c:v>
                </c:pt>
                <c:pt idx="3">
                  <c:v>85</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11</c:v>
                </c:pt>
                <c:pt idx="1">
                  <c:v>13</c:v>
                </c:pt>
                <c:pt idx="2">
                  <c:v>6</c:v>
                </c:pt>
                <c:pt idx="3">
                  <c:v>4</c:v>
                </c:pt>
              </c:numLit>
            </c:plus>
            <c:minus>
              <c:numLit>
                <c:formatCode>General</c:formatCode>
                <c:ptCount val="4"/>
                <c:pt idx="0">
                  <c:v>14</c:v>
                </c:pt>
                <c:pt idx="1">
                  <c:v>14</c:v>
                </c:pt>
                <c:pt idx="2">
                  <c:v>12</c:v>
                </c:pt>
                <c:pt idx="3">
                  <c:v>11</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70</c:v>
                </c:pt>
                <c:pt idx="1">
                  <c:v>57</c:v>
                </c:pt>
                <c:pt idx="2">
                  <c:v>89</c:v>
                </c:pt>
                <c:pt idx="3">
                  <c:v>94</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7</c:v>
                </c:pt>
                <c:pt idx="1">
                  <c:v>8</c:v>
                </c:pt>
                <c:pt idx="2">
                  <c:v>6</c:v>
                </c:pt>
                <c:pt idx="3">
                  <c:v>6</c:v>
                </c:pt>
              </c:numLit>
            </c:plus>
            <c:minus>
              <c:numLit>
                <c:formatCode>General</c:formatCode>
                <c:ptCount val="4"/>
                <c:pt idx="0">
                  <c:v>12</c:v>
                </c:pt>
                <c:pt idx="1">
                  <c:v>13</c:v>
                </c:pt>
                <c:pt idx="2">
                  <c:v>12</c:v>
                </c:pt>
                <c:pt idx="3">
                  <c:v>12</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87</c:v>
                </c:pt>
                <c:pt idx="1">
                  <c:v>83</c:v>
                </c:pt>
                <c:pt idx="2">
                  <c:v>89</c:v>
                </c:pt>
                <c:pt idx="3">
                  <c:v>89</c:v>
                </c:pt>
              </c:numCache>
            </c:numRef>
          </c:val>
        </c:ser>
        <c:gapWidth val="7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Acerto (%)</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33</c:v>
                </c:pt>
                <c:pt idx="1">
                  <c:v>33</c:v>
                </c:pt>
                <c:pt idx="2">
                  <c:v>69</c:v>
                </c:pt>
                <c:pt idx="3">
                  <c:v>81</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69</c:v>
                </c:pt>
                <c:pt idx="1">
                  <c:v>53</c:v>
                </c:pt>
                <c:pt idx="2">
                  <c:v>86</c:v>
                </c:pt>
                <c:pt idx="3">
                  <c:v>92</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92</c:v>
                </c:pt>
                <c:pt idx="1">
                  <c:v>86</c:v>
                </c:pt>
                <c:pt idx="2">
                  <c:v>86</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Sheet1!$B$2:$B$3</c:f>
              <c:numCache>
                <c:formatCode>General</c:formatCode>
                <c:ptCount val="2"/>
                <c:pt idx="0">
                  <c:v>37.0</c:v>
                </c:pt>
                <c:pt idx="1">
                  <c:v>81.0</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Sheet1!$C$2:$C$3</c:f>
              <c:numCache>
                <c:formatCode>General</c:formatCode>
                <c:ptCount val="2"/>
                <c:pt idx="0">
                  <c:v>13.0</c:v>
                </c:pt>
                <c:pt idx="1">
                  <c:v>24.0</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Sheet1!$D$2:$D$3</c:f>
              <c:numCache>
                <c:formatCode>General</c:formatCode>
                <c:ptCount val="2"/>
                <c:pt idx="0">
                  <c:v>10.0</c:v>
                </c:pt>
                <c:pt idx="1">
                  <c:v>15.0</c:v>
                </c:pt>
              </c:numCache>
            </c:numRef>
          </c:val>
        </c:ser>
        <c:gapWidth val="8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Latência mediana (s)</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Apresentação dos autores e do título. Em uma frase: o trabalho compara seis maneiras de dar a um modelo de linguagem acesso aos dados de uma partida e mede qual delas acerta mais.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Contexto de futebol: a final da Copa de 2022, Argentina contra França, decidida nos pênaltis. Os dados de eventos registram cada ação, com jogador, momento e posição no campo. As três perguntas do slide são do conjunto do trabalho e nenhuma tem a resposta em um único evento: é preciso juntar vários. O modelo precisa receber os dados da partida, e há mais de uma forma de fazer isso. Perguntas de pesquisa: qual abordagem acerta mais, como o acerto muda de um modelo para outro e quanto cada uma custa em tokens e tempo. O aprendizado em contexto é usado em sentido amplo: o modelo não é treinado de novo e o que entra no contexto são os dados. Contribuições: o conjunto de perguntas com gabarito por código e a comparação sob as mesmas perguntas, o mesmo prompt e a mesma saída. Trabalhos relacionados: no esporte, SoccerRAG, SPORTSQL e Tzikas et al. avaliam cada um uma única forma de recuperação; fora do esporte, Li et al. e LOFT comparam formas de recuperação sem dados de futebol. Não foram encontrados trabalhos que comparem formas de recuperação em perguntas encadeadas sobre eventos de futebol, com conferência por código contra um gabarito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dados são os eventos abertos da StatsBomb: dois arquivos, a lista de eventos da partida, em ordem, e as escalações, com nome completo e apelido de cada jogador. São 4.407 eventos no JSON bruto. O exemplo é o gol de Di María e o passe de Mac Allister que o precede, resumidos aos campos principais (valores de docs/02 e da Figura 1 do artigo, não recalculados nesta sessão). Três coisas que importam depois: cada tipo de evento tem campos próprios, então o JSON é rico e irregular; a mesma informação pode estar em lugares diferentes, como o cartão amarelo, que vem dentro da falta ou, sem falta, em um evento de comportamento; e o nome é o de registro, não o apelido, e o minuto é decorrido, então o gol aos 35 aparece como 36 na transmissão.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eventos da partida, sem a disputa de pênaltis, foram convertidos com a biblioteca socceraction para o formato SPADL, que guarda só as ações com bola, em um vocabulário fechado e com os mesmos campos em todas. Os 4.407 eventos viram 2.585 ações. Sobre essa tabela foram acrescentadas colunas de contexto: direção de ataque, zona em uma grade de 96 zonas, fase de posse (537 fases na final), recebedor do passe, placar e minuto. A figura mostra a grade de 12 por 8 zonas e o passe de Mac Allister para Di María, da zona 74 para a 92, como na Figura 1 do artigo (zonas copiadas dela, não recalculadas). É essa tabela que o Contexto longo entrega ao modelo. O SPADL perde o desfecho da finalização e o cartão sem falta, que foram recuperados do JSON; os rótulos das ações foram traduzidos para o português.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tabela de ações foi carregada em um grafo Neo4j. Cada ação vira uma aresta do jogador para a partida, com as colunas da linha como propriedades; cada passe certo com recebedor vira uma aresta entre dois jogadores. O grafo tem 34 jogadores, 537 fases de posse e 96 zonas. As arestas não acrescentam informação à tabela, só a reorganizam em ligações; já a súmula, com totais por jogador e por time, é calculada: o próprio banco conta os totais a partir das arestas. A abordagem Estatísticas resumidas lê só a súmula; Consulta e Ferramentas leem o grafo.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Das 52 perguntas, 47 têm resposta nos dados e 5 são de controle: a resposta certa é a ausência de dados, como a distância percorrida por um jogador. As perguntas de busca e contagem são diretas: a resposta sai de um evento ou de uma soma. Os outros três grupos são encadeados: dependem de ligar eventos entre si. As perguntas foram escritas manualmente e o gabarito de cada uma foi calculado por código, sem passar pelo grafo, a partir do JSON bruto e da tabela de ações. A conferência com o gabarito é determinística: a mesma resposta recebe sempre o mesmo veredito.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Ordem de complexidade do que existe entre a pergunta e o modelo. Sem dados: só a pergunta, linha de base. Contexto longo: a tabela inteira de 2.585 ações no prompt. Estatísticas resumidas: a súmula, com totais por jogador e por time. Busca vetorial: as 30 linhas mais parecidas com a pergunta, como em geração aumentada por recuperação. Consulta escrita pelo modelo: o modelo recebe o esquema do grafo e escreve a consulta Cypher. Ferramentas sobre o grafo: 8 ferramentas com a consulta já escrita; o modelo só escolhe qual chamar e com quais argumentos. As duas últimas consultam o mesmo grafo e têm o mesmo limite de 12 chamadas por pergunta: muda quem escreve a consulta. Duas diferenças a declarar: a Consulta não tem a biblioteca de algoritmos de grafos nem os nós de padrões prontos, e as ferramentas foram ajustadas olhando erros, enquanto a Consulta é o primeiro contato. Todas usam o mesmo prompt de sistema e a mesma saída estruturada.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Registro real de uma execução em cada abordagem com agente, pergunta a01, Claude Haiku 5.5. Na Consulta escrita pelo modelo, ele chama run_cypher com a consulta Cypher que escreveu, inclusive os filtros de time, ação, sucesso e terço do campo; a ferramenta executa a consulta no grafo e devolve o resultado. Nas Ferramentas sobre o grafo, o modelo escolhe query_actions e preenche os argumentos; a consulta já está no código e a ferramenta a executa com esses filtros. As duas consultam o mesmo grafo, com o mesmo limite de 12 chamadas por pergunta; muda quem escreve a consulta. Nesta pergunta, uma chamada bastou nas duas. As 8 ferramentas: listar jogadores, contar ações, listar ações, contar posses, rede de passes, métrica da rede, ligações da rede e sequências de passes. Diferenças a declarar: a Consulta não tem a biblioteca de algoritmos de grafos nem os nós de padrões prontos, e as ferramentas foram ajustadas olhando erros, enquanto a Consulta é o primeiro contato. A consulta, os argumentos e a resposta vêm de data/benchmark/final_results.jsonl; os valores devolvidos pela ferramenta (24 e 18) estão só no trace e foram copiados da figura do artigo.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Acerto nas 47 perguntas com resposta, das três abordagens que leem os dados, com o intervalo de Wilson de 95%. A barra azul é Ferramentas sobre o grafo: 83% a 89% em todos os modelos. Consulta escrita pelo modelo: 57% a 70% nos menores e 89% a 94% nos maiores. Contexto longo: 40% a 45% nos menores e 72% a 85% nos maiores. As outras três ficam baixas e estão no slide 11: Busca vetorial 9% a 17%, Estatísticas resumidas 0% a 9% e Sem dados 0%, porque se abstém. Nos maiores, Consulta empata com Ferramentas no Sonnet e fica à frente no Kimi; os intervalos se sobrepõem. Setup: quatro modelos, dois menores (Haiku e Qwen, sem raciocínio estendido, temperatura zero) e dois maiores (Sonnet e Kimi, com raciocínio estendido), agrupados pela faixa de preço por token; 52 perguntas em 6 abordagens, 312 execuções por modelo, 1 repetição por pergunta; diferenças lidas como indícios.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Recorte das 36 perguntas encadeadas (relações na rede de passes, jogadas e antes e depois de uma substituição). Nos modelos menores, Contexto longo e Consulta caem justamente aqui, e Ferramentas se mantêm: a consulta já escrita e o cálculo no código tiram do modelo o trabalho de juntar eventos espalhados. Nos maiores, com raciocínio estendido, as três se aproximam. Ressalva: tamanho e raciocínio vieram juntos, então não dá para separar o efeito de um do outro. A interpretação é compatível com a literatura de contexto longo (informação no meio do contexto, raciocínio composicional) e com a dificuldade de LLMs em gerar Cypher.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Busca vetorial (9% a 17%): traz as 30 linhas mais parecidas com a pergunta, de 2.585. Parecer com a pergunta não é servir para respondê-la; contar exige todas as linhas de um tipo e ligar eventos exige as linhas vizinhas. Erra por abstenção e por resposta errada, conforme o modelo. Estatísticas resumidas (0% a 9%): a súmula tem só totais da partida inteira, sem recorte de tempo ou de campo e sem quem passou para quem; como o prompt pede para indicar ausência de dados, os modelos se abstêm. Sem dados: 0 de 47 com resposta, por obediência ao prompt, que proíbe responder de memória; o 0% mede obediência, não ignorância. Nas perguntas de controle, Sem dados acerta as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Mediana por execução das três abordagens que leem os dados. O Contexto longo leva a tabela inteira em cada pergunta, de 82 a 111 mil tokens de entrada. Nos maiores, produz de 4.430 a 12.158 tokens de saída, quase todos de raciocínio, e leva de 37 a 81 segundos. Cuidado ao comparar: Ferramentas não usa cache de prompt e Consulta usa, então a latência mistura as duas condições; no Contexto longo, a maior parte da entrada veio do cache, o que o favorece. Sem preço em dólar, porque os preços mudam.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Conclusão: Ferramentas sobre o grafo foi a única abordagem que manteve o acerto alto nos 4 modelos, 83% a 89%. Consulta e Contexto longo dependem do modelo; nos maiores, com raciocínio estendido, a Consulta chegou ao mesmo nível e o Contexto longo se aproximou, este com mais tokens de saída e tempo. Busca vetorial e Estatísticas resumidas ficaram baixas em todos. Limitações, ditas pelo próprio artigo: uma partida e 1 repetição por pergunta, com 47 perguntas com resposta, então os intervalos são largos; tamanho e raciocínio estendido vieram juntos nos maiores; as ferramentas e as perguntas foram escritas pelos mesmos autores e as ferramentas foram ajustadas olhando erros, então o acerto vale dentro da cobertura delas; o ganho pode vir das ferramentas, do grafo ou dos algoritmos de grafo, e separar isso é trabalho futuro; e as abordagens com agente supõem chamada de ferramenta confiável.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Fecho. Três frentes, todas ligadas às limitações. Primeira, mais evidência: repetir as execuções mede a variação entre rodadas e permite testar as diferenças entre abordagens, e estender as perguntas a várias partidas tira a dependência de uma só. Segunda, separar efeitos: avaliar modelos maiores sem raciocínio estendido separa o efeito do tamanho do efeito do raciocínio; aplicar as mesmas ferramentas a uma tabela, sem o grafo, separa o efeito das ferramentas do efeito do grafo; e testar uma busca vetorial em que cada trecho traga também os eventos vizinhos, como em Tzikas et al., responde à lacuna da Busca vetorial. Terceira, outros domínios, entre eles os dados industriais: parte deles tem a forma dos dados de futebol, registros de eventos com agente, momento e local, ligados entre si, como as paradas, os alertas e as movimentações de uma linha de produção ou de uma frota. Testar as mesmas abordagens ali é um próximo passo natural para uma pós em IA aplicada à indústria, mas exige implementação própria: a preparação dos dados, o grafo e as ferramentas dependem das perguntas que se quer responder.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Slides de apoio não foram incluídos para respeitar o limite de 15. As respostas às perguntas prováveis estão em apresentacao/perguntas-banca.md.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828800"/>
            <a:ext cx="109728" cy="23774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058400" cy="2194560"/>
          </a:xfrm>
          <a:prstGeom prst="rect">
            <a:avLst/>
          </a:prstGeom>
          <a:noFill/>
        </p:spPr>
        <p:txBody>
          <a:bodyPr wrap="square" anchor="t" lIns="45720" rIns="45720">
            <a:spAutoFit/>
          </a:bodyPr>
          <a:lstStyle/>
          <a:p>
            <a:pPr algn="l">
              <a:spcAft>
                <a:spcPts val="1000"/>
              </a:spcAft>
            </a:pPr>
            <a:r>
              <a:rPr sz="4000" b="1">
                <a:solidFill>
                  <a:srgbClr val="FFFFFF"/>
                </a:solidFill>
                <a:latin typeface="Arial"/>
              </a:rPr>
              <a:t>Aprendizado em contexto com dados de eventos de futebol</a:t>
            </a:r>
          </a:p>
          <a:p>
            <a:pPr algn="l">
              <a:spcAft>
                <a:spcPts val="1000"/>
              </a:spcAft>
            </a:pPr>
            <a:r>
              <a:rPr sz="2800" b="0">
                <a:solidFill>
                  <a:srgbClr val="DDDDDD"/>
                </a:solidFill>
                <a:latin typeface="Arial"/>
              </a:rPr>
              <a:t>uma comparação de seis abordagens</a:t>
            </a:r>
          </a:p>
        </p:txBody>
      </p:sp>
      <p:sp>
        <p:nvSpPr>
          <p:cNvPr id="5" name="TextBox 4"/>
          <p:cNvSpPr txBox="1"/>
          <p:nvPr/>
        </p:nvSpPr>
        <p:spPr>
          <a:xfrm>
            <a:off x="1005840" y="4480560"/>
            <a:ext cx="10058400" cy="1280160"/>
          </a:xfrm>
          <a:prstGeom prst="rect">
            <a:avLst/>
          </a:prstGeom>
          <a:noFill/>
        </p:spPr>
        <p:txBody>
          <a:bodyPr wrap="square" anchor="t" lIns="45720" rIns="45720">
            <a:spAutoFit/>
          </a:bodyPr>
          <a:lstStyle/>
          <a:p>
            <a:pPr algn="l">
              <a:spcAft>
                <a:spcPts val="400"/>
              </a:spcAft>
            </a:pPr>
            <a:r>
              <a:rPr sz="2000" b="0">
                <a:solidFill>
                  <a:srgbClr val="FFFFFF"/>
                </a:solidFill>
                <a:latin typeface="Arial"/>
              </a:rPr>
              <a:t>Daniel Alfredo Quiteque e João Victor Winderfeld Bussolotto</a:t>
            </a:r>
          </a:p>
          <a:p>
            <a:pPr algn="l">
              <a:spcAft>
                <a:spcPts val="400"/>
              </a:spcAft>
            </a:pPr>
            <a:r>
              <a:rPr sz="1600" b="0">
                <a:solidFill>
                  <a:srgbClr val="BBBBBB"/>
                </a:solidFill>
                <a:latin typeface="Arial"/>
              </a:rPr>
              <a:t>Pós-graduação em Inteligência Artificial Aplicada, UniSENAI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Qual forma de dar os dados de uma partida ao modelo funciona melhor?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2 / 15</a:t>
            </a:r>
          </a:p>
        </p:txBody>
      </p:sp>
      <p:sp>
        <p:nvSpPr>
          <p:cNvPr id="5" name="TextBox 4"/>
          <p:cNvSpPr txBox="1"/>
          <p:nvPr/>
        </p:nvSpPr>
        <p:spPr>
          <a:xfrm>
            <a:off x="640080" y="1600200"/>
            <a:ext cx="512064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Perguntas de pesquisa</a:t>
            </a:r>
          </a:p>
        </p:txBody>
      </p:sp>
      <p:sp>
        <p:nvSpPr>
          <p:cNvPr id="6" name="TextBox 5"/>
          <p:cNvSpPr txBox="1"/>
          <p:nvPr/>
        </p:nvSpPr>
        <p:spPr>
          <a:xfrm>
            <a:off x="640080" y="2103120"/>
            <a:ext cx="5120640" cy="1920240"/>
          </a:xfrm>
          <a:prstGeom prst="rect">
            <a:avLst/>
          </a:prstGeom>
          <a:noFill/>
        </p:spPr>
        <p:txBody>
          <a:bodyPr wrap="square">
            <a:spAutoFit/>
          </a:bodyPr>
          <a:lstStyle/>
          <a:p>
            <a:pPr>
              <a:spcAft>
                <a:spcPts val="800"/>
              </a:spcAft>
            </a:pPr>
            <a:r>
              <a:rPr sz="1800" b="1">
                <a:solidFill>
                  <a:srgbClr val="1F5C99"/>
                </a:solidFill>
                <a:latin typeface="Arial"/>
              </a:rPr>
              <a:t>• </a:t>
            </a:r>
            <a:r>
              <a:rPr sz="1800" b="0">
                <a:solidFill>
                  <a:srgbClr val="222222"/>
                </a:solidFill>
                <a:latin typeface="Arial"/>
              </a:rPr>
              <a:t>Qual abordagem acerta mais?</a:t>
            </a:r>
          </a:p>
          <a:p>
            <a:pPr>
              <a:spcAft>
                <a:spcPts val="800"/>
              </a:spcAft>
            </a:pPr>
            <a:r>
              <a:rPr sz="1800" b="1">
                <a:solidFill>
                  <a:srgbClr val="1F5C99"/>
                </a:solidFill>
                <a:latin typeface="Arial"/>
              </a:rPr>
              <a:t>• </a:t>
            </a:r>
            <a:r>
              <a:rPr sz="1800" b="0">
                <a:solidFill>
                  <a:srgbClr val="222222"/>
                </a:solidFill>
                <a:latin typeface="Arial"/>
              </a:rPr>
              <a:t>Como o acerto muda de um modelo para outro?</a:t>
            </a:r>
          </a:p>
          <a:p>
            <a:pPr>
              <a:spcAft>
                <a:spcPts val="800"/>
              </a:spcAft>
            </a:pPr>
            <a:r>
              <a:rPr sz="1800" b="1">
                <a:solidFill>
                  <a:srgbClr val="1F5C99"/>
                </a:solidFill>
                <a:latin typeface="Arial"/>
              </a:rPr>
              <a:t>• </a:t>
            </a:r>
            <a:r>
              <a:rPr sz="1800" b="0">
                <a:solidFill>
                  <a:srgbClr val="222222"/>
                </a:solidFill>
                <a:latin typeface="Arial"/>
              </a:rPr>
              <a:t>Quanto cada abordagem custa em tokens e em tempo?</a:t>
            </a:r>
          </a:p>
        </p:txBody>
      </p:sp>
      <p:sp>
        <p:nvSpPr>
          <p:cNvPr id="7" name="Rectangle 6"/>
          <p:cNvSpPr/>
          <p:nvPr/>
        </p:nvSpPr>
        <p:spPr>
          <a:xfrm>
            <a:off x="640080" y="4114800"/>
            <a:ext cx="5120640" cy="1600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142232"/>
            <a:ext cx="4846320" cy="1554480"/>
          </a:xfrm>
          <a:prstGeom prst="rect">
            <a:avLst/>
          </a:prstGeom>
          <a:noFill/>
        </p:spPr>
        <p:txBody>
          <a:bodyPr wrap="square" anchor="t" lIns="45720" rIns="45720">
            <a:spAutoFit/>
          </a:bodyPr>
          <a:lstStyle/>
          <a:p>
            <a:pPr algn="l">
              <a:spcAft>
                <a:spcPts val="500"/>
              </a:spcAft>
            </a:pPr>
            <a:r>
              <a:rPr sz="1600" b="1">
                <a:solidFill>
                  <a:srgbClr val="1F5C99"/>
                </a:solidFill>
                <a:latin typeface="Arial"/>
              </a:rPr>
              <a:t>Contribuições</a:t>
            </a:r>
          </a:p>
          <a:p>
            <a:pPr algn="l">
              <a:spcAft>
                <a:spcPts val="500"/>
              </a:spcAft>
            </a:pPr>
            <a:r>
              <a:rPr sz="1500" b="0">
                <a:solidFill>
                  <a:srgbClr val="222222"/>
                </a:solidFill>
                <a:latin typeface="Arial"/>
              </a:rPr>
              <a:t>52 perguntas com gabarito calculado por código.</a:t>
            </a:r>
          </a:p>
          <a:p>
            <a:pPr algn="l">
              <a:spcAft>
                <a:spcPts val="500"/>
              </a:spcAft>
            </a:pPr>
            <a:r>
              <a:rPr sz="1500" b="0">
                <a:solidFill>
                  <a:srgbClr val="222222"/>
                </a:solidFill>
                <a:latin typeface="Arial"/>
              </a:rPr>
              <a:t>6 abordagens em 4 modelos, com as mesmas perguntas, prompt e saída.</a:t>
            </a:r>
          </a:p>
        </p:txBody>
      </p:sp>
      <p:sp>
        <p:nvSpPr>
          <p:cNvPr id="9" name="TextBox 8"/>
          <p:cNvSpPr txBox="1"/>
          <p:nvPr/>
        </p:nvSpPr>
        <p:spPr>
          <a:xfrm>
            <a:off x="6217920" y="1600200"/>
            <a:ext cx="5303520" cy="457200"/>
          </a:xfrm>
          <a:prstGeom prst="rect">
            <a:avLst/>
          </a:prstGeom>
          <a:noFill/>
        </p:spPr>
        <p:txBody>
          <a:bodyPr wrap="square" anchor="t" lIns="45720" rIns="45720">
            <a:spAutoFit/>
          </a:bodyPr>
          <a:lstStyle/>
          <a:p>
            <a:pPr algn="l">
              <a:spcAft>
                <a:spcPts val="600"/>
              </a:spcAft>
            </a:pPr>
            <a:r>
              <a:rPr sz="2000" b="1">
                <a:solidFill>
                  <a:srgbClr val="222222"/>
                </a:solidFill>
                <a:latin typeface="Arial"/>
              </a:rPr>
              <a:t>Exemplos de pergunta do conjunto</a:t>
            </a:r>
          </a:p>
        </p:txBody>
      </p:sp>
      <p:sp>
        <p:nvSpPr>
          <p:cNvPr id="10" name="Rectangle 9"/>
          <p:cNvSpPr/>
          <p:nvPr/>
        </p:nvSpPr>
        <p:spPr>
          <a:xfrm>
            <a:off x="6217920" y="210312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13055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Quem passou para quem</a:t>
            </a:r>
          </a:p>
          <a:p>
            <a:pPr algn="l">
              <a:spcAft>
                <a:spcPts val="200"/>
              </a:spcAft>
            </a:pPr>
            <a:r>
              <a:rPr sz="1500" b="0">
                <a:solidFill>
                  <a:srgbClr val="222222"/>
                </a:solidFill>
                <a:latin typeface="Arial"/>
              </a:rPr>
              <a:t>Qual dupla da França mais trocou passes entre si na final?</a:t>
            </a:r>
          </a:p>
        </p:txBody>
      </p:sp>
      <p:sp>
        <p:nvSpPr>
          <p:cNvPr id="12" name="Rectangle 11"/>
          <p:cNvSpPr/>
          <p:nvPr/>
        </p:nvSpPr>
        <p:spPr>
          <a:xfrm>
            <a:off x="6217920" y="333756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336499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Ordem das ações em uma jogada</a:t>
            </a:r>
          </a:p>
          <a:p>
            <a:pPr algn="l">
              <a:spcAft>
                <a:spcPts val="200"/>
              </a:spcAft>
            </a:pPr>
            <a:r>
              <a:rPr sz="1500" b="0">
                <a:solidFill>
                  <a:srgbClr val="222222"/>
                </a:solidFill>
                <a:latin typeface="Arial"/>
              </a:rPr>
              <a:t>Qual jogador participou de mais jogadas da Argentina que terminaram em finalização?</a:t>
            </a:r>
          </a:p>
        </p:txBody>
      </p:sp>
      <p:sp>
        <p:nvSpPr>
          <p:cNvPr id="14" name="Rectangle 13"/>
          <p:cNvSpPr/>
          <p:nvPr/>
        </p:nvSpPr>
        <p:spPr>
          <a:xfrm>
            <a:off x="6217920" y="457200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599432"/>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Antes e depois de uma substituição</a:t>
            </a:r>
          </a:p>
          <a:p>
            <a:pPr algn="l">
              <a:spcAft>
                <a:spcPts val="200"/>
              </a:spcAft>
            </a:pPr>
            <a:r>
              <a:rPr sz="1500" b="0">
                <a:solidFill>
                  <a:srgbClr val="222222"/>
                </a:solidFill>
                <a:latin typeface="Arial"/>
              </a:rPr>
              <a:t>Depois que Dembélé foi substituído no primeiro tempo, qual companheiro mais passou a bola para Mbappé?</a:t>
            </a:r>
          </a:p>
        </p:txBody>
      </p:sp>
      <p:sp>
        <p:nvSpPr>
          <p:cNvPr id="16" name="Rectangle 15"/>
          <p:cNvSpPr/>
          <p:nvPr/>
        </p:nvSpPr>
        <p:spPr>
          <a:xfrm>
            <a:off x="640080" y="5806440"/>
            <a:ext cx="10881360"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24728"/>
            <a:ext cx="10607040" cy="530352"/>
          </a:xfrm>
          <a:prstGeom prst="rect">
            <a:avLst/>
          </a:prstGeom>
          <a:noFill/>
        </p:spPr>
        <p:txBody>
          <a:bodyPr wrap="square" anchor="ctr" lIns="45720" rIns="45720">
            <a:spAutoFit/>
          </a:bodyPr>
          <a:lstStyle/>
          <a:p>
            <a:pPr algn="l">
              <a:spcAft>
                <a:spcPts val="600"/>
              </a:spcAft>
            </a:pPr>
            <a:r>
              <a:rPr sz="1400" b="0">
                <a:solidFill>
                  <a:srgbClr val="222222"/>
                </a:solidFill>
                <a:latin typeface="Arial"/>
              </a:rPr>
              <a:t>Relacionados: no esporte, cada trabalho avalia uma única forma de recuperação (SoccerRAG, SPORTSQL, Tzikas et al.); fora dele, as formas são comparadas sem dados de futebol (Li et al., LOFT).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Os dados: eventos da StatsBomb da final de 2022, em JSON</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3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Exemplo resumido: o passe de Mac Allister e o gol de Di María (docs/02 e Figura 1 do artigo).</a:t>
            </a:r>
          </a:p>
        </p:txBody>
      </p:sp>
      <p:sp>
        <p:nvSpPr>
          <p:cNvPr id="6" name="Rectangle 5"/>
          <p:cNvSpPr/>
          <p:nvPr/>
        </p:nvSpPr>
        <p:spPr>
          <a:xfrm>
            <a:off x="640080" y="1554480"/>
            <a:ext cx="6492240" cy="30175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6217920" cy="3200400"/>
          </a:xfrm>
          <a:prstGeom prst="rect">
            <a:avLst/>
          </a:prstGeom>
          <a:noFill/>
        </p:spPr>
        <p:txBody>
          <a:bodyPr wrap="square">
            <a:spAutoFit/>
          </a:bodyPr>
          <a:lstStyle/>
          <a:p>
            <a:r>
              <a:rPr sz="1400">
                <a:solidFill>
                  <a:srgbClr val="E8E8E8"/>
                </a:solidFill>
                <a:latin typeface="Courier New"/>
              </a:rPr>
              <a:t>{ "type": "Pass", "minute": 35, "second": 20,</a:t>
            </a:r>
          </a:p>
          <a:p>
            <a:r>
              <a:rPr sz="1400">
                <a:solidFill>
                  <a:srgbClr val="E8E8E8"/>
                </a:solidFill>
                <a:latin typeface="Courier New"/>
              </a:rPr>
              <a:t>  "player": "Alexis Mac Allister",</a:t>
            </a:r>
          </a:p>
          <a:p>
            <a:r>
              <a:rPr sz="1400">
                <a:solidFill>
                  <a:srgbClr val="E8E8E8"/>
                </a:solidFill>
                <a:latin typeface="Courier New"/>
              </a:rPr>
              <a:t>  "pass": { "recipient": "Ángel Fabián Di María",</a:t>
            </a:r>
          </a:p>
          <a:p>
            <a:r>
              <a:rPr sz="1400">
                <a:solidFill>
                  <a:srgbClr val="E8E8E8"/>
                </a:solidFill>
                <a:latin typeface="Courier New"/>
              </a:rPr>
              <a:t>            "goal_assist": true } }</a:t>
            </a:r>
          </a:p>
          <a:p>
            <a:r>
              <a:rPr sz="1400">
                <a:solidFill>
                  <a:srgbClr val="E8E8E8"/>
                </a:solidFill>
                <a:latin typeface="Courier New"/>
              </a:rPr>
              <a:t> </a:t>
            </a:r>
          </a:p>
          <a:p>
            <a:r>
              <a:rPr sz="1400">
                <a:solidFill>
                  <a:srgbClr val="E8E8E8"/>
                </a:solidFill>
                <a:latin typeface="Courier New"/>
              </a:rPr>
              <a:t>{ "type": "Shot", "minute": 35, "second": 22,</a:t>
            </a:r>
          </a:p>
          <a:p>
            <a:r>
              <a:rPr sz="1400">
                <a:solidFill>
                  <a:srgbClr val="E8E8E8"/>
                </a:solidFill>
                <a:latin typeface="Courier New"/>
              </a:rPr>
              <a:t>  "team": "Argentina",</a:t>
            </a:r>
          </a:p>
          <a:p>
            <a:r>
              <a:rPr sz="1400">
                <a:solidFill>
                  <a:srgbClr val="E8E8E8"/>
                </a:solidFill>
                <a:latin typeface="Courier New"/>
              </a:rPr>
              <a:t>  "player": "Ángel Fabián Di María",</a:t>
            </a:r>
          </a:p>
          <a:p>
            <a:r>
              <a:rPr sz="1400">
                <a:solidFill>
                  <a:srgbClr val="E8E8E8"/>
                </a:solidFill>
                <a:latin typeface="Courier New"/>
              </a:rPr>
              <a:t>  "shot": { "outcome": "Goal",</a:t>
            </a:r>
          </a:p>
          <a:p>
            <a:r>
              <a:rPr sz="1400">
                <a:solidFill>
                  <a:srgbClr val="E8E8E8"/>
                </a:solidFill>
                <a:latin typeface="Courier New"/>
              </a:rPr>
              <a:t>            "body_part": "Left Foot" } }</a:t>
            </a:r>
          </a:p>
        </p:txBody>
      </p:sp>
      <p:sp>
        <p:nvSpPr>
          <p:cNvPr id="8" name="TextBox 7"/>
          <p:cNvSpPr txBox="1"/>
          <p:nvPr/>
        </p:nvSpPr>
        <p:spPr>
          <a:xfrm>
            <a:off x="7406640" y="1554480"/>
            <a:ext cx="4206240" cy="4572000"/>
          </a:xfrm>
          <a:prstGeom prst="rect">
            <a:avLst/>
          </a:prstGeom>
          <a:noFill/>
        </p:spPr>
        <p:txBody>
          <a:bodyPr wrap="square">
            <a:spAutoFit/>
          </a:bodyPr>
          <a:lstStyle/>
          <a:p>
            <a:pPr>
              <a:spcAft>
                <a:spcPts val="1000"/>
              </a:spcAft>
            </a:pPr>
            <a:r>
              <a:rPr sz="1600" b="1">
                <a:solidFill>
                  <a:srgbClr val="1F5C99"/>
                </a:solidFill>
                <a:latin typeface="Arial"/>
              </a:rPr>
              <a:t>• </a:t>
            </a:r>
            <a:r>
              <a:rPr sz="1600" b="1">
                <a:solidFill>
                  <a:srgbClr val="222222"/>
                </a:solidFill>
                <a:latin typeface="Arial"/>
              </a:rPr>
              <a:t>Fonte: </a:t>
            </a:r>
            <a:r>
              <a:rPr sz="1600" b="0">
                <a:solidFill>
                  <a:srgbClr val="222222"/>
                </a:solidFill>
                <a:latin typeface="Arial"/>
              </a:rPr>
              <a:t>StatsBomb Open Data, lista de eventos e escalações da partida.</a:t>
            </a:r>
          </a:p>
          <a:p>
            <a:pPr>
              <a:spcAft>
                <a:spcPts val="1000"/>
              </a:spcAft>
            </a:pPr>
            <a:r>
              <a:rPr sz="1600" b="1">
                <a:solidFill>
                  <a:srgbClr val="1F5C99"/>
                </a:solidFill>
                <a:latin typeface="Arial"/>
              </a:rPr>
              <a:t>• </a:t>
            </a:r>
            <a:r>
              <a:rPr sz="1600" b="1">
                <a:solidFill>
                  <a:srgbClr val="222222"/>
                </a:solidFill>
                <a:latin typeface="Arial"/>
              </a:rPr>
              <a:t>4.407 eventos, </a:t>
            </a:r>
            <a:r>
              <a:rPr sz="1600" b="0">
                <a:solidFill>
                  <a:srgbClr val="222222"/>
                </a:solidFill>
                <a:latin typeface="Arial"/>
              </a:rPr>
              <a:t>cada um com tipo, tempo, time, jogador e posição.</a:t>
            </a:r>
          </a:p>
          <a:p>
            <a:pPr>
              <a:spcAft>
                <a:spcPts val="1000"/>
              </a:spcAft>
            </a:pPr>
            <a:r>
              <a:rPr sz="1600" b="1">
                <a:solidFill>
                  <a:srgbClr val="1F5C99"/>
                </a:solidFill>
                <a:latin typeface="Arial"/>
              </a:rPr>
              <a:t>• </a:t>
            </a:r>
            <a:r>
              <a:rPr sz="1600" b="1">
                <a:solidFill>
                  <a:srgbClr val="222222"/>
                </a:solidFill>
                <a:latin typeface="Arial"/>
              </a:rPr>
              <a:t>Campos próprios por tipo: </a:t>
            </a:r>
            <a:r>
              <a:rPr sz="1600" b="0">
                <a:solidFill>
                  <a:srgbClr val="222222"/>
                </a:solidFill>
                <a:latin typeface="Arial"/>
              </a:rPr>
              <a:t>o passe traz o recebedor; a finalização, o resultado.</a:t>
            </a:r>
          </a:p>
          <a:p>
            <a:pPr>
              <a:spcAft>
                <a:spcPts val="1000"/>
              </a:spcAft>
            </a:pPr>
            <a:r>
              <a:rPr sz="1600" b="1">
                <a:solidFill>
                  <a:srgbClr val="1F5C99"/>
                </a:solidFill>
                <a:latin typeface="Arial"/>
              </a:rPr>
              <a:t>• </a:t>
            </a:r>
            <a:r>
              <a:rPr sz="1600" b="1">
                <a:solidFill>
                  <a:srgbClr val="222222"/>
                </a:solidFill>
                <a:latin typeface="Arial"/>
              </a:rPr>
              <a:t>Mesma informação em lugares diferentes: </a:t>
            </a:r>
            <a:r>
              <a:rPr sz="1600" b="0">
                <a:solidFill>
                  <a:srgbClr val="222222"/>
                </a:solidFill>
                <a:latin typeface="Arial"/>
              </a:rPr>
              <a:t>o cartão amarelo vem na falta ou em outro evento.</a:t>
            </a:r>
          </a:p>
          <a:p>
            <a:pPr>
              <a:spcAft>
                <a:spcPts val="1000"/>
              </a:spcAft>
            </a:pPr>
            <a:r>
              <a:rPr sz="1600" b="1">
                <a:solidFill>
                  <a:srgbClr val="1F5C99"/>
                </a:solidFill>
                <a:latin typeface="Arial"/>
              </a:rPr>
              <a:t>• </a:t>
            </a:r>
            <a:r>
              <a:rPr sz="1600" b="1">
                <a:solidFill>
                  <a:srgbClr val="222222"/>
                </a:solidFill>
                <a:latin typeface="Arial"/>
              </a:rPr>
              <a:t>Nome de registro e minuto decorrido: </a:t>
            </a:r>
            <a:r>
              <a:rPr sz="1600" b="0">
                <a:solidFill>
                  <a:srgbClr val="222222"/>
                </a:solidFill>
                <a:latin typeface="Arial"/>
              </a:rPr>
              <a:t>o gol aos 35 aparece como 36 na transmissão.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Do JSON à tabela de ações: um vocabulário fechado, com contexto acrescentado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4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Pênaltis fora da tabela. Fonte: Tabela 1 do artigo e docs/09.</a:t>
            </a:r>
          </a:p>
        </p:txBody>
      </p:sp>
      <p:sp>
        <p:nvSpPr>
          <p:cNvPr id="6" name="Rectangle 5"/>
          <p:cNvSpPr/>
          <p:nvPr/>
        </p:nvSpPr>
        <p:spPr>
          <a:xfrm>
            <a:off x="640080" y="1417320"/>
            <a:ext cx="30175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834640" cy="731520"/>
          </a:xfrm>
          <a:prstGeom prst="rect">
            <a:avLst/>
          </a:prstGeom>
          <a:noFill/>
        </p:spPr>
        <p:txBody>
          <a:bodyPr wrap="square" anchor="t" lIns="45720" rIns="45720">
            <a:spAutoFit/>
          </a:bodyPr>
          <a:lstStyle/>
          <a:p>
            <a:pPr algn="l">
              <a:spcAft>
                <a:spcPts val="0"/>
              </a:spcAft>
            </a:pPr>
            <a:r>
              <a:rPr sz="1400" b="1">
                <a:solidFill>
                  <a:srgbClr val="666666"/>
                </a:solidFill>
                <a:latin typeface="Arial"/>
              </a:rPr>
              <a:t>JSON bruto</a:t>
            </a:r>
          </a:p>
          <a:p>
            <a:pPr algn="l">
              <a:spcAft>
                <a:spcPts val="0"/>
              </a:spcAft>
            </a:pPr>
            <a:r>
              <a:rPr sz="2000" b="1">
                <a:solidFill>
                  <a:srgbClr val="222222"/>
                </a:solidFill>
                <a:latin typeface="Arial"/>
              </a:rPr>
              <a:t>4.407 eventos</a:t>
            </a:r>
          </a:p>
        </p:txBody>
      </p:sp>
      <p:sp>
        <p:nvSpPr>
          <p:cNvPr id="8" name="TextBox 7"/>
          <p:cNvSpPr txBox="1"/>
          <p:nvPr/>
        </p:nvSpPr>
        <p:spPr>
          <a:xfrm>
            <a:off x="3657600" y="1508760"/>
            <a:ext cx="731520" cy="640080"/>
          </a:xfrm>
          <a:prstGeom prst="rect">
            <a:avLst/>
          </a:prstGeom>
          <a:noFill/>
        </p:spPr>
        <p:txBody>
          <a:bodyPr wrap="square" anchor="t" lIns="45720" rIns="45720">
            <a:spAutoFit/>
          </a:bodyPr>
          <a:lstStyle/>
          <a:p>
            <a:pPr algn="ctr">
              <a:spcAft>
                <a:spcPts val="600"/>
              </a:spcAft>
            </a:pPr>
            <a:r>
              <a:rPr sz="3000" b="0">
                <a:solidFill>
                  <a:srgbClr val="666666"/>
                </a:solidFill>
                <a:latin typeface="Arial"/>
              </a:rPr>
              <a:t>→</a:t>
            </a:r>
          </a:p>
        </p:txBody>
      </p:sp>
      <p:sp>
        <p:nvSpPr>
          <p:cNvPr id="9" name="Rectangle 8"/>
          <p:cNvSpPr/>
          <p:nvPr/>
        </p:nvSpPr>
        <p:spPr>
          <a:xfrm>
            <a:off x="4389120" y="1417320"/>
            <a:ext cx="3566160" cy="777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44752"/>
            <a:ext cx="3383280" cy="731520"/>
          </a:xfrm>
          <a:prstGeom prst="rect">
            <a:avLst/>
          </a:prstGeom>
          <a:noFill/>
        </p:spPr>
        <p:txBody>
          <a:bodyPr wrap="square" anchor="t" lIns="45720" rIns="45720">
            <a:spAutoFit/>
          </a:bodyPr>
          <a:lstStyle/>
          <a:p>
            <a:pPr algn="l">
              <a:spcAft>
                <a:spcPts val="0"/>
              </a:spcAft>
            </a:pPr>
            <a:r>
              <a:rPr sz="1400" b="1">
                <a:solidFill>
                  <a:srgbClr val="1F5C99"/>
                </a:solidFill>
                <a:latin typeface="Arial"/>
              </a:rPr>
              <a:t>Tabela de ações (SPADL)</a:t>
            </a:r>
          </a:p>
          <a:p>
            <a:pPr algn="l">
              <a:spcAft>
                <a:spcPts val="0"/>
              </a:spcAft>
            </a:pPr>
            <a:r>
              <a:rPr sz="2000" b="1">
                <a:solidFill>
                  <a:srgbClr val="222222"/>
                </a:solidFill>
                <a:latin typeface="Arial"/>
              </a:rPr>
              <a:t>2.585 ações</a:t>
            </a:r>
          </a:p>
        </p:txBody>
      </p:sp>
      <p:sp>
        <p:nvSpPr>
          <p:cNvPr id="11" name="TextBox 10"/>
          <p:cNvSpPr txBox="1"/>
          <p:nvPr/>
        </p:nvSpPr>
        <p:spPr>
          <a:xfrm>
            <a:off x="8229600" y="1463040"/>
            <a:ext cx="3383280" cy="731520"/>
          </a:xfrm>
          <a:prstGeom prst="rect">
            <a:avLst/>
          </a:prstGeom>
          <a:noFill/>
        </p:spPr>
        <p:txBody>
          <a:bodyPr wrap="square" anchor="ctr" lIns="45720" rIns="45720">
            <a:spAutoFit/>
          </a:bodyPr>
          <a:lstStyle/>
          <a:p>
            <a:pPr algn="l">
              <a:spcAft>
                <a:spcPts val="600"/>
              </a:spcAft>
            </a:pPr>
            <a:r>
              <a:rPr sz="1500" b="0">
                <a:solidFill>
                  <a:srgbClr val="666666"/>
                </a:solidFill>
                <a:latin typeface="Arial"/>
              </a:rPr>
              <a:t>96 zonas, 537 fases de posse, 34 jogadores</a:t>
            </a:r>
          </a:p>
        </p:txBody>
      </p:sp>
      <p:graphicFrame>
        <p:nvGraphicFramePr>
          <p:cNvPr id="12" name="Table 11"/>
          <p:cNvGraphicFramePr>
            <a:graphicFrameLocks noGrp="1"/>
          </p:cNvGraphicFramePr>
          <p:nvPr/>
        </p:nvGraphicFramePr>
        <p:xfrm>
          <a:off x="640080" y="2468880"/>
          <a:ext cx="6675120" cy="3291840"/>
        </p:xfrm>
        <a:graphic>
          <a:graphicData uri="http://schemas.openxmlformats.org/drawingml/2006/table">
            <a:tbl>
              <a:tblPr firstRow="0" bandRow="0">
                <a:tableStyleId>{5C22544A-7EE6-4342-B048-85BDC9FD1C3A}</a:tableStyleId>
              </a:tblPr>
              <a:tblGrid>
                <a:gridCol w="2377440"/>
                <a:gridCol w="4297680"/>
              </a:tblGrid>
              <a:tr h="548640">
                <a:tc>
                  <a:txBody>
                    <a:bodyPr wrap="square"/>
                    <a:lstStyle/>
                    <a:p>
                      <a:pPr algn="l"/>
                      <a:r>
                        <a:rPr sz="1600" b="1">
                          <a:solidFill>
                            <a:srgbClr val="FFFFFF"/>
                          </a:solidFill>
                          <a:latin typeface="Arial"/>
                        </a:rPr>
                        <a:t>Transformação</a:t>
                      </a:r>
                    </a:p>
                  </a:txBody>
                  <a:tcPr anchor="ctr">
                    <a:solidFill>
                      <a:srgbClr val="222222"/>
                    </a:solidFill>
                  </a:tcPr>
                </a:tc>
                <a:tc>
                  <a:txBody>
                    <a:bodyPr wrap="square"/>
                    <a:lstStyle/>
                    <a:p>
                      <a:pPr algn="l"/>
                      <a:r>
                        <a:rPr sz="1600" b="1">
                          <a:solidFill>
                            <a:srgbClr val="FFFFFF"/>
                          </a:solidFill>
                          <a:latin typeface="Arial"/>
                        </a:rPr>
                        <a:t>O que faz</a:t>
                      </a:r>
                    </a:p>
                  </a:txBody>
                  <a:tcPr anchor="ctr">
                    <a:solidFill>
                      <a:srgbClr val="222222"/>
                    </a:solidFill>
                  </a:tcPr>
                </a:tc>
              </a:tr>
              <a:tr h="548640">
                <a:tc>
                  <a:txBody>
                    <a:bodyPr wrap="square"/>
                    <a:lstStyle/>
                    <a:p>
                      <a:pPr algn="l"/>
                      <a:r>
                        <a:rPr sz="1600" b="1">
                          <a:solidFill>
                            <a:srgbClr val="222222"/>
                          </a:solidFill>
                          <a:latin typeface="Arial"/>
                        </a:rPr>
                        <a:t>Direção de ataque</a:t>
                      </a:r>
                    </a:p>
                  </a:txBody>
                  <a:tcPr anchor="ctr">
                    <a:solidFill>
                      <a:srgbClr val="FFFFFF"/>
                    </a:solidFill>
                  </a:tcPr>
                </a:tc>
                <a:tc>
                  <a:txBody>
                    <a:bodyPr wrap="square"/>
                    <a:lstStyle/>
                    <a:p>
                      <a:pPr algn="l"/>
                      <a:r>
                        <a:rPr sz="1600" b="0">
                          <a:solidFill>
                            <a:srgbClr val="222222"/>
                          </a:solidFill>
                          <a:latin typeface="Arial"/>
                        </a:rPr>
                        <a:t>toda ação ataca da esquerda para a direita</a:t>
                      </a:r>
                    </a:p>
                  </a:txBody>
                  <a:tcPr anchor="ctr">
                    <a:solidFill>
                      <a:srgbClr val="FFFFFF"/>
                    </a:solidFill>
                  </a:tcPr>
                </a:tc>
              </a:tr>
              <a:tr h="548640">
                <a:tc>
                  <a:txBody>
                    <a:bodyPr wrap="square"/>
                    <a:lstStyle/>
                    <a:p>
                      <a:pPr algn="l"/>
                      <a:r>
                        <a:rPr sz="1600" b="1">
                          <a:solidFill>
                            <a:srgbClr val="222222"/>
                          </a:solidFill>
                          <a:latin typeface="Arial"/>
                        </a:rPr>
                        <a:t>Zona do campo</a:t>
                      </a:r>
                    </a:p>
                  </a:txBody>
                  <a:tcPr anchor="ctr">
                    <a:solidFill>
                      <a:srgbClr val="F2F2F2"/>
                    </a:solidFill>
                  </a:tcPr>
                </a:tc>
                <a:tc>
                  <a:txBody>
                    <a:bodyPr wrap="square"/>
                    <a:lstStyle/>
                    <a:p>
                      <a:pPr algn="l"/>
                      <a:r>
                        <a:rPr sz="1600" b="0">
                          <a:solidFill>
                            <a:srgbClr val="222222"/>
                          </a:solidFill>
                          <a:latin typeface="Arial"/>
                        </a:rPr>
                        <a:t>situa o início e o fim de cada ação</a:t>
                      </a:r>
                    </a:p>
                  </a:txBody>
                  <a:tcPr anchor="ctr">
                    <a:solidFill>
                      <a:srgbClr val="F2F2F2"/>
                    </a:solidFill>
                  </a:tcPr>
                </a:tc>
              </a:tr>
              <a:tr h="548640">
                <a:tc>
                  <a:txBody>
                    <a:bodyPr wrap="square"/>
                    <a:lstStyle/>
                    <a:p>
                      <a:pPr algn="l"/>
                      <a:r>
                        <a:rPr sz="1600" b="1">
                          <a:solidFill>
                            <a:srgbClr val="222222"/>
                          </a:solidFill>
                          <a:latin typeface="Arial"/>
                        </a:rPr>
                        <a:t>Recebedor do passe</a:t>
                      </a:r>
                    </a:p>
                  </a:txBody>
                  <a:tcPr anchor="ctr">
                    <a:solidFill>
                      <a:srgbClr val="FFFFFF"/>
                    </a:solidFill>
                  </a:tcPr>
                </a:tc>
                <a:tc>
                  <a:txBody>
                    <a:bodyPr wrap="square"/>
                    <a:lstStyle/>
                    <a:p>
                      <a:pPr algn="l"/>
                      <a:r>
                        <a:rPr sz="1600" b="0">
                          <a:solidFill>
                            <a:srgbClr val="222222"/>
                          </a:solidFill>
                          <a:latin typeface="Arial"/>
                        </a:rPr>
                        <a:t>jogador do mesmo time que age em seguida</a:t>
                      </a:r>
                    </a:p>
                  </a:txBody>
                  <a:tcPr anchor="ctr">
                    <a:solidFill>
                      <a:srgbClr val="FFFFFF"/>
                    </a:solidFill>
                  </a:tcPr>
                </a:tc>
              </a:tr>
              <a:tr h="548640">
                <a:tc>
                  <a:txBody>
                    <a:bodyPr wrap="square"/>
                    <a:lstStyle/>
                    <a:p>
                      <a:pPr algn="l"/>
                      <a:r>
                        <a:rPr sz="1600" b="1">
                          <a:solidFill>
                            <a:srgbClr val="222222"/>
                          </a:solidFill>
                          <a:latin typeface="Arial"/>
                        </a:rPr>
                        <a:t>Fase de posse</a:t>
                      </a:r>
                    </a:p>
                  </a:txBody>
                  <a:tcPr anchor="ctr">
                    <a:solidFill>
                      <a:srgbClr val="F2F2F2"/>
                    </a:solidFill>
                  </a:tcPr>
                </a:tc>
                <a:tc>
                  <a:txBody>
                    <a:bodyPr wrap="square"/>
                    <a:lstStyle/>
                    <a:p>
                      <a:pPr algn="l"/>
                      <a:r>
                        <a:rPr sz="1600" b="0">
                          <a:solidFill>
                            <a:srgbClr val="222222"/>
                          </a:solidFill>
                          <a:latin typeface="Arial"/>
                        </a:rPr>
                        <a:t>agrupa as ações seguidas do mesmo time</a:t>
                      </a:r>
                    </a:p>
                  </a:txBody>
                  <a:tcPr anchor="ctr">
                    <a:solidFill>
                      <a:srgbClr val="F2F2F2"/>
                    </a:solidFill>
                  </a:tcPr>
                </a:tc>
              </a:tr>
              <a:tr h="548640">
                <a:tc>
                  <a:txBody>
                    <a:bodyPr wrap="square"/>
                    <a:lstStyle/>
                    <a:p>
                      <a:pPr algn="l"/>
                      <a:r>
                        <a:rPr sz="1600" b="1">
                          <a:solidFill>
                            <a:srgbClr val="222222"/>
                          </a:solidFill>
                          <a:latin typeface="Arial"/>
                        </a:rPr>
                        <a:t>Placar e minuto</a:t>
                      </a:r>
                    </a:p>
                  </a:txBody>
                  <a:tcPr anchor="ctr">
                    <a:solidFill>
                      <a:srgbClr val="FFFFFF"/>
                    </a:solidFill>
                  </a:tcPr>
                </a:tc>
                <a:tc>
                  <a:txBody>
                    <a:bodyPr wrap="square"/>
                    <a:lstStyle/>
                    <a:p>
                      <a:pPr algn="l"/>
                      <a:r>
                        <a:rPr sz="1600" b="0">
                          <a:solidFill>
                            <a:srgbClr val="222222"/>
                          </a:solidFill>
                          <a:latin typeface="Arial"/>
                        </a:rPr>
                        <a:t>placar antes de cada ação; minuto da transmissão</a:t>
                      </a:r>
                    </a:p>
                  </a:txBody>
                  <a:tcPr anchor="ctr">
                    <a:solidFill>
                      <a:srgbClr val="FFFFFF"/>
                    </a:solidFill>
                  </a:tcPr>
                </a:tc>
              </a:tr>
            </a:tbl>
          </a:graphicData>
        </a:graphic>
      </p:graphicFrame>
      <p:sp>
        <p:nvSpPr>
          <p:cNvPr id="13" name="TextBox 12"/>
          <p:cNvSpPr txBox="1"/>
          <p:nvPr/>
        </p:nvSpPr>
        <p:spPr>
          <a:xfrm>
            <a:off x="7635240" y="2423160"/>
            <a:ext cx="4023360" cy="365760"/>
          </a:xfrm>
          <a:prstGeom prst="rect">
            <a:avLst/>
          </a:prstGeom>
          <a:noFill/>
        </p:spPr>
        <p:txBody>
          <a:bodyPr wrap="square" anchor="t" lIns="45720" rIns="45720">
            <a:spAutoFit/>
          </a:bodyPr>
          <a:lstStyle/>
          <a:p>
            <a:pPr algn="ctr">
              <a:spcAft>
                <a:spcPts val="600"/>
              </a:spcAft>
            </a:pPr>
            <a:r>
              <a:rPr sz="1400" b="0">
                <a:solidFill>
                  <a:srgbClr val="666666"/>
                </a:solidFill>
                <a:latin typeface="Arial"/>
              </a:rPr>
              <a:t>Ataque: da esquerda para a direita →</a:t>
            </a:r>
          </a:p>
        </p:txBody>
      </p:sp>
      <p:sp>
        <p:nvSpPr>
          <p:cNvPr id="14" name="Rectangle 13"/>
          <p:cNvSpPr/>
          <p:nvPr/>
        </p:nvSpPr>
        <p:spPr>
          <a:xfrm>
            <a:off x="7726679" y="2880360"/>
            <a:ext cx="3840480" cy="2487168"/>
          </a:xfrm>
          <a:prstGeom prst="rect">
            <a:avLst/>
          </a:prstGeom>
          <a:solidFill>
            <a:srgbClr val="FFFFFF"/>
          </a:solidFill>
          <a:ln w="254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0467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3667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0068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268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469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9669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2870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6070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9270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24712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726679" y="319125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726679" y="350215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26679" y="3813048"/>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26679" y="4123944"/>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726679" y="4434840"/>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726679" y="474573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726679" y="505663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0607040" y="3502152"/>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1247120" y="4123944"/>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767059" y="3657600"/>
            <a:ext cx="640081" cy="621792"/>
          </a:xfrm>
          <a:prstGeom prst="line">
            <a:avLst/>
          </a:prstGeom>
          <a:ln w="38100">
            <a:solidFill>
              <a:srgbClr val="1F5C99"/>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635240" y="5413248"/>
            <a:ext cx="4023360" cy="640080"/>
          </a:xfrm>
          <a:prstGeom prst="rect">
            <a:avLst/>
          </a:prstGeom>
          <a:noFill/>
        </p:spPr>
        <p:txBody>
          <a:bodyPr wrap="square" anchor="t" lIns="45720" rIns="45720">
            <a:spAutoFit/>
          </a:bodyPr>
          <a:lstStyle/>
          <a:p>
            <a:pPr algn="ctr">
              <a:spcAft>
                <a:spcPts val="600"/>
              </a:spcAft>
            </a:pPr>
            <a:r>
              <a:rPr sz="1400" b="0">
                <a:solidFill>
                  <a:srgbClr val="222222"/>
                </a:solidFill>
                <a:latin typeface="Arial"/>
              </a:rPr>
              <a:t>Grade de 96 zonas; passe da zona 74 para a 92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Da tabela ao grafo: cada ação vira uma aresta, e a súmula é contada pelo banco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5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Esquema simplificado: Figura 2 do artigo. A camada de padrões táticos não é lida por nenhuma abordagem.</a:t>
            </a:r>
          </a:p>
        </p:txBody>
      </p:sp>
      <p:cxnSp>
        <p:nvCxnSpPr>
          <p:cNvPr id="6" name="Connector 5"/>
          <p:cNvCxnSpPr/>
          <p:nvPr/>
        </p:nvCxnSpPr>
        <p:spPr>
          <a:xfrm flipH="1">
            <a:off x="100584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00200" y="3090672"/>
            <a:ext cx="109728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membro de</a:t>
            </a:r>
          </a:p>
        </p:txBody>
      </p:sp>
      <p:cxnSp>
        <p:nvCxnSpPr>
          <p:cNvPr id="8" name="Connector 7"/>
          <p:cNvCxnSpPr/>
          <p:nvPr/>
        </p:nvCxnSpPr>
        <p:spPr>
          <a:xfrm>
            <a:off x="356616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0" y="3090672"/>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realizou</a:t>
            </a:r>
          </a:p>
        </p:txBody>
      </p:sp>
      <p:cxnSp>
        <p:nvCxnSpPr>
          <p:cNvPr id="10" name="Connector 9"/>
          <p:cNvCxnSpPr/>
          <p:nvPr/>
        </p:nvCxnSpPr>
        <p:spPr>
          <a:xfrm flipH="1">
            <a:off x="100584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97280" y="4206240"/>
            <a:ext cx="137160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participou de</a:t>
            </a:r>
          </a:p>
        </p:txBody>
      </p:sp>
      <p:cxnSp>
        <p:nvCxnSpPr>
          <p:cNvPr id="12" name="Connector 11"/>
          <p:cNvCxnSpPr/>
          <p:nvPr/>
        </p:nvCxnSpPr>
        <p:spPr>
          <a:xfrm>
            <a:off x="3566160" y="3429000"/>
            <a:ext cx="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26080" y="4069080"/>
            <a:ext cx="150876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tem estatística</a:t>
            </a:r>
          </a:p>
        </p:txBody>
      </p:sp>
      <p:cxnSp>
        <p:nvCxnSpPr>
          <p:cNvPr id="14" name="Connector 13"/>
          <p:cNvCxnSpPr/>
          <p:nvPr/>
        </p:nvCxnSpPr>
        <p:spPr>
          <a:xfrm>
            <a:off x="356616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3440" y="4206240"/>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atuou em</a:t>
            </a:r>
          </a:p>
        </p:txBody>
      </p:sp>
      <p:sp>
        <p:nvSpPr>
          <p:cNvPr id="16" name="Rectangle 15"/>
          <p:cNvSpPr/>
          <p:nvPr/>
        </p:nvSpPr>
        <p:spPr>
          <a:xfrm>
            <a:off x="45720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Time</a:t>
            </a:r>
          </a:p>
        </p:txBody>
      </p:sp>
      <p:sp>
        <p:nvSpPr>
          <p:cNvPr id="17" name="Rectangle 16"/>
          <p:cNvSpPr/>
          <p:nvPr/>
        </p:nvSpPr>
        <p:spPr>
          <a:xfrm>
            <a:off x="2743200" y="3017520"/>
            <a:ext cx="1645920" cy="822960"/>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Jogador</a:t>
            </a:r>
          </a:p>
          <a:p>
            <a:pPr algn="ctr"/>
            <a:r>
              <a:rPr sz="1400" b="0">
                <a:solidFill>
                  <a:srgbClr val="666666"/>
                </a:solidFill>
                <a:latin typeface="Arial"/>
              </a:rPr>
              <a:t>34 na final</a:t>
            </a:r>
          </a:p>
        </p:txBody>
      </p:sp>
      <p:sp>
        <p:nvSpPr>
          <p:cNvPr id="18" name="Rectangle 17"/>
          <p:cNvSpPr/>
          <p:nvPr/>
        </p:nvSpPr>
        <p:spPr>
          <a:xfrm>
            <a:off x="557784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Partida</a:t>
            </a:r>
          </a:p>
        </p:txBody>
      </p:sp>
      <p:sp>
        <p:nvSpPr>
          <p:cNvPr id="19" name="Rectangle 18"/>
          <p:cNvSpPr/>
          <p:nvPr/>
        </p:nvSpPr>
        <p:spPr>
          <a:xfrm>
            <a:off x="45720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Fase</a:t>
            </a:r>
          </a:p>
          <a:p>
            <a:pPr algn="ctr"/>
            <a:r>
              <a:rPr sz="1400" b="0">
                <a:solidFill>
                  <a:srgbClr val="666666"/>
                </a:solidFill>
                <a:latin typeface="Arial"/>
              </a:rPr>
              <a:t>537</a:t>
            </a:r>
          </a:p>
        </p:txBody>
      </p:sp>
      <p:sp>
        <p:nvSpPr>
          <p:cNvPr id="20" name="Rectangle 19"/>
          <p:cNvSpPr/>
          <p:nvPr/>
        </p:nvSpPr>
        <p:spPr>
          <a:xfrm>
            <a:off x="2743200" y="4846320"/>
            <a:ext cx="164592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Súmula</a:t>
            </a:r>
          </a:p>
          <a:p>
            <a:pPr algn="ctr"/>
            <a:r>
              <a:rPr sz="1400" b="0">
                <a:solidFill>
                  <a:srgbClr val="666666"/>
                </a:solidFill>
                <a:latin typeface="Arial"/>
              </a:rPr>
              <a:t>jogador e time</a:t>
            </a:r>
          </a:p>
        </p:txBody>
      </p:sp>
      <p:sp>
        <p:nvSpPr>
          <p:cNvPr id="21" name="Rectangle 20"/>
          <p:cNvSpPr/>
          <p:nvPr/>
        </p:nvSpPr>
        <p:spPr>
          <a:xfrm>
            <a:off x="557784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Zona</a:t>
            </a:r>
          </a:p>
          <a:p>
            <a:pPr algn="ctr"/>
            <a:r>
              <a:rPr sz="1400" b="0">
                <a:solidFill>
                  <a:srgbClr val="666666"/>
                </a:solidFill>
                <a:latin typeface="Arial"/>
              </a:rPr>
              <a:t>96</a:t>
            </a:r>
          </a:p>
        </p:txBody>
      </p:sp>
      <p:sp>
        <p:nvSpPr>
          <p:cNvPr id="22" name="TextBox 21"/>
          <p:cNvSpPr txBox="1"/>
          <p:nvPr/>
        </p:nvSpPr>
        <p:spPr>
          <a:xfrm>
            <a:off x="1188720" y="1920240"/>
            <a:ext cx="4754880" cy="822960"/>
          </a:xfrm>
          <a:prstGeom prst="rect">
            <a:avLst/>
          </a:prstGeom>
          <a:noFill/>
        </p:spPr>
        <p:txBody>
          <a:bodyPr wrap="square" anchor="t" lIns="45720" rIns="45720">
            <a:spAutoFit/>
          </a:bodyPr>
          <a:lstStyle/>
          <a:p>
            <a:pPr algn="ctr">
              <a:spcAft>
                <a:spcPts val="200"/>
              </a:spcAft>
            </a:pPr>
            <a:r>
              <a:rPr sz="1400" b="0">
                <a:solidFill>
                  <a:srgbClr val="666666"/>
                </a:solidFill>
                <a:latin typeface="Arial"/>
              </a:rPr>
              <a:t>Entre jogadores: passou para, deu assistência, pressionou</a:t>
            </a:r>
          </a:p>
          <a:p>
            <a:pPr algn="ctr">
              <a:spcAft>
                <a:spcPts val="200"/>
              </a:spcAft>
            </a:pPr>
            <a:r>
              <a:rPr sz="1400" b="0">
                <a:solidFill>
                  <a:srgbClr val="666666"/>
                </a:solidFill>
                <a:latin typeface="Arial"/>
              </a:rPr>
              <a:t>Entre zonas: progrediu para</a:t>
            </a:r>
          </a:p>
        </p:txBody>
      </p:sp>
      <p:sp>
        <p:nvSpPr>
          <p:cNvPr id="23" name="TextBox 22"/>
          <p:cNvSpPr txBox="1"/>
          <p:nvPr/>
        </p:nvSpPr>
        <p:spPr>
          <a:xfrm>
            <a:off x="7132320" y="1554480"/>
            <a:ext cx="448056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Cada ação </a:t>
            </a:r>
            <a:r>
              <a:rPr sz="1600" b="0">
                <a:solidFill>
                  <a:srgbClr val="222222"/>
                </a:solidFill>
                <a:latin typeface="Arial"/>
              </a:rPr>
              <a:t>vira uma aresta do jogador para a partida, com as colunas da linha como propriedades.</a:t>
            </a:r>
          </a:p>
          <a:p>
            <a:pPr>
              <a:spcAft>
                <a:spcPts val="900"/>
              </a:spcAft>
            </a:pPr>
            <a:r>
              <a:rPr sz="1600" b="1">
                <a:solidFill>
                  <a:srgbClr val="1F5C99"/>
                </a:solidFill>
                <a:latin typeface="Arial"/>
              </a:rPr>
              <a:t>• </a:t>
            </a:r>
            <a:r>
              <a:rPr sz="1600" b="1">
                <a:solidFill>
                  <a:srgbClr val="222222"/>
                </a:solidFill>
                <a:latin typeface="Arial"/>
              </a:rPr>
              <a:t>Cada passe certo com recebedor </a:t>
            </a:r>
            <a:r>
              <a:rPr sz="1600" b="0">
                <a:solidFill>
                  <a:srgbClr val="222222"/>
                </a:solidFill>
                <a:latin typeface="Arial"/>
              </a:rPr>
              <a:t>vira uma aresta entre dois jogadores.</a:t>
            </a:r>
          </a:p>
          <a:p>
            <a:pPr>
              <a:spcAft>
                <a:spcPts val="900"/>
              </a:spcAft>
            </a:pPr>
            <a:r>
              <a:rPr sz="1600" b="1">
                <a:solidFill>
                  <a:srgbClr val="1F5C99"/>
                </a:solidFill>
                <a:latin typeface="Arial"/>
              </a:rPr>
              <a:t>• </a:t>
            </a:r>
            <a:r>
              <a:rPr sz="1600" b="1">
                <a:solidFill>
                  <a:srgbClr val="222222"/>
                </a:solidFill>
                <a:latin typeface="Arial"/>
              </a:rPr>
              <a:t>As arestas reorganizam a tabela, </a:t>
            </a:r>
            <a:r>
              <a:rPr sz="1600" b="0">
                <a:solidFill>
                  <a:srgbClr val="222222"/>
                </a:solidFill>
                <a:latin typeface="Arial"/>
              </a:rPr>
              <a:t>não acrescentam informação.</a:t>
            </a:r>
          </a:p>
          <a:p>
            <a:pPr>
              <a:spcAft>
                <a:spcPts val="900"/>
              </a:spcAft>
            </a:pPr>
            <a:r>
              <a:rPr sz="1600" b="1">
                <a:solidFill>
                  <a:srgbClr val="1F5C99"/>
                </a:solidFill>
                <a:latin typeface="Arial"/>
              </a:rPr>
              <a:t>• </a:t>
            </a:r>
            <a:r>
              <a:rPr sz="1600" b="1">
                <a:solidFill>
                  <a:srgbClr val="222222"/>
                </a:solidFill>
                <a:latin typeface="Arial"/>
              </a:rPr>
              <a:t>A súmula é calculada: </a:t>
            </a:r>
            <a:r>
              <a:rPr sz="1600" b="0">
                <a:solidFill>
                  <a:srgbClr val="222222"/>
                </a:solidFill>
                <a:latin typeface="Arial"/>
              </a:rPr>
              <a:t>o próprio banco conta os totais por jogador e por time.</a:t>
            </a:r>
          </a:p>
          <a:p>
            <a:pPr>
              <a:spcAft>
                <a:spcPts val="900"/>
              </a:spcAft>
            </a:pPr>
            <a:r>
              <a:rPr sz="1600" b="1">
                <a:solidFill>
                  <a:srgbClr val="1F5C99"/>
                </a:solidFill>
                <a:latin typeface="Arial"/>
              </a:rPr>
              <a:t>• </a:t>
            </a:r>
            <a:r>
              <a:rPr sz="1600" b="1">
                <a:solidFill>
                  <a:srgbClr val="222222"/>
                </a:solidFill>
                <a:latin typeface="Arial"/>
              </a:rPr>
              <a:t>Nenhuma etapa usa modelo de linguagem; </a:t>
            </a:r>
            <a:r>
              <a:rPr sz="1600" b="0">
                <a:solidFill>
                  <a:srgbClr val="222222"/>
                </a:solidFill>
                <a:latin typeface="Arial"/>
              </a:rPr>
              <a:t>só o benchmark chama modelos.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52 perguntas em cinco grupos, com gabarito calculado por código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6 / 15</a:t>
            </a:r>
          </a:p>
        </p:txBody>
      </p:sp>
      <p:graphicFrame>
        <p:nvGraphicFramePr>
          <p:cNvPr id="5" name="Table 4"/>
          <p:cNvGraphicFramePr>
            <a:graphicFrameLocks noGrp="1"/>
          </p:cNvGraphicFramePr>
          <p:nvPr/>
        </p:nvGraphicFramePr>
        <p:xfrm>
          <a:off x="640080" y="1554480"/>
          <a:ext cx="10881360" cy="3931920"/>
        </p:xfrm>
        <a:graphic>
          <a:graphicData uri="http://schemas.openxmlformats.org/drawingml/2006/table">
            <a:tbl>
              <a:tblPr firstRow="0" bandRow="0">
                <a:tableStyleId>{5C22544A-7EE6-4342-B048-85BDC9FD1C3A}</a:tableStyleId>
              </a:tblPr>
              <a:tblGrid>
                <a:gridCol w="3108960"/>
                <a:gridCol w="640080"/>
                <a:gridCol w="7132320"/>
              </a:tblGrid>
              <a:tr h="655320">
                <a:tc>
                  <a:txBody>
                    <a:bodyPr wrap="square"/>
                    <a:lstStyle/>
                    <a:p>
                      <a:pPr algn="l"/>
                      <a:r>
                        <a:rPr sz="1600" b="1">
                          <a:solidFill>
                            <a:srgbClr val="FFFFFF"/>
                          </a:solidFill>
                          <a:latin typeface="Arial"/>
                        </a:rPr>
                        <a:t>Grupo</a:t>
                      </a:r>
                    </a:p>
                  </a:txBody>
                  <a:tcPr anchor="ctr">
                    <a:solidFill>
                      <a:srgbClr val="222222"/>
                    </a:solidFill>
                  </a:tcPr>
                </a:tc>
                <a:tc>
                  <a:txBody>
                    <a:bodyPr wrap="square"/>
                    <a:lstStyle/>
                    <a:p>
                      <a:pPr algn="l"/>
                      <a:r>
                        <a:rPr sz="1600" b="1">
                          <a:solidFill>
                            <a:srgbClr val="FFFFFF"/>
                          </a:solidFill>
                          <a:latin typeface="Arial"/>
                        </a:rPr>
                        <a:t>n</a:t>
                      </a:r>
                    </a:p>
                  </a:txBody>
                  <a:tcPr anchor="ctr">
                    <a:solidFill>
                      <a:srgbClr val="222222"/>
                    </a:solidFill>
                  </a:tcPr>
                </a:tc>
                <a:tc>
                  <a:txBody>
                    <a:bodyPr wrap="square"/>
                    <a:lstStyle/>
                    <a:p>
                      <a:pPr algn="l"/>
                      <a:r>
                        <a:rPr sz="1600" b="1">
                          <a:solidFill>
                            <a:srgbClr val="FFFFFF"/>
                          </a:solidFill>
                          <a:latin typeface="Arial"/>
                        </a:rPr>
                        <a:t>Exemplo (resposta esperada)</a:t>
                      </a:r>
                    </a:p>
                  </a:txBody>
                  <a:tcPr anchor="ctr">
                    <a:solidFill>
                      <a:srgbClr val="222222"/>
                    </a:solidFill>
                  </a:tcPr>
                </a:tc>
              </a:tr>
              <a:tr h="655320">
                <a:tc>
                  <a:txBody>
                    <a:bodyPr wrap="square"/>
                    <a:lstStyle/>
                    <a:p>
                      <a:pPr algn="l"/>
                      <a:r>
                        <a:rPr sz="1600" b="1">
                          <a:solidFill>
                            <a:srgbClr val="222222"/>
                          </a:solidFill>
                          <a:latin typeface="Arial"/>
                        </a:rPr>
                        <a:t>Busca e contagem</a:t>
                      </a:r>
                    </a:p>
                  </a:txBody>
                  <a:tcPr anchor="ctr">
                    <a:solidFill>
                      <a:srgbClr val="FFFFFF"/>
                    </a:solidFill>
                  </a:tcPr>
                </a:tc>
                <a:tc>
                  <a:txBody>
                    <a:bodyPr wrap="square"/>
                    <a:lstStyle/>
                    <a:p>
                      <a:pPr algn="l"/>
                      <a:r>
                        <a:rPr sz="1600" b="0">
                          <a:solidFill>
                            <a:srgbClr val="222222"/>
                          </a:solidFill>
                          <a:latin typeface="Arial"/>
                        </a:rPr>
                        <a:t>11</a:t>
                      </a:r>
                    </a:p>
                  </a:txBody>
                  <a:tcPr anchor="ctr">
                    <a:solidFill>
                      <a:srgbClr val="FFFFFF"/>
                    </a:solidFill>
                  </a:tcPr>
                </a:tc>
                <a:tc>
                  <a:txBody>
                    <a:bodyPr wrap="square"/>
                    <a:lstStyle/>
                    <a:p>
                      <a:pPr algn="l"/>
                      <a:r>
                        <a:rPr sz="1600" b="0">
                          <a:solidFill>
                            <a:srgbClr val="222222"/>
                          </a:solidFill>
                          <a:latin typeface="Arial"/>
                        </a:rPr>
                        <a:t>Quem recebeu o primeiro cartão amarelo da final? (jogador)</a:t>
                      </a:r>
                    </a:p>
                  </a:txBody>
                  <a:tcPr anchor="ctr">
                    <a:solidFill>
                      <a:srgbClr val="FFFFFF"/>
                    </a:solidFill>
                  </a:tcPr>
                </a:tc>
              </a:tr>
              <a:tr h="655320">
                <a:tc>
                  <a:txBody>
                    <a:bodyPr wrap="square"/>
                    <a:lstStyle/>
                    <a:p>
                      <a:pPr algn="l"/>
                      <a:r>
                        <a:rPr sz="1600" b="1">
                          <a:solidFill>
                            <a:srgbClr val="222222"/>
                          </a:solidFill>
                          <a:latin typeface="Arial"/>
                        </a:rPr>
                        <a:t>Relações na rede de passes</a:t>
                      </a:r>
                    </a:p>
                  </a:txBody>
                  <a:tcPr anchor="ctr">
                    <a:solidFill>
                      <a:srgbClr val="F2F2F2"/>
                    </a:solidFill>
                  </a:tcPr>
                </a:tc>
                <a:tc>
                  <a:txBody>
                    <a:bodyPr wrap="square"/>
                    <a:lstStyle/>
                    <a:p>
                      <a:pPr algn="l"/>
                      <a:r>
                        <a:rPr sz="1600" b="0">
                          <a:solidFill>
                            <a:srgbClr val="222222"/>
                          </a:solidFill>
                          <a:latin typeface="Arial"/>
                        </a:rPr>
                        <a:t>20</a:t>
                      </a:r>
                    </a:p>
                  </a:txBody>
                  <a:tcPr anchor="ctr">
                    <a:solidFill>
                      <a:srgbClr val="F2F2F2"/>
                    </a:solidFill>
                  </a:tcPr>
                </a:tc>
                <a:tc>
                  <a:txBody>
                    <a:bodyPr wrap="square"/>
                    <a:lstStyle/>
                    <a:p>
                      <a:pPr algn="l"/>
                      <a:r>
                        <a:rPr sz="1600" b="0">
                          <a:solidFill>
                            <a:srgbClr val="222222"/>
                          </a:solidFill>
                          <a:latin typeface="Arial"/>
                        </a:rPr>
                        <a:t>Qual dupla da França mais trocou passes entre si? (conjunto de jogadores)</a:t>
                      </a:r>
                    </a:p>
                  </a:txBody>
                  <a:tcPr anchor="ctr">
                    <a:solidFill>
                      <a:srgbClr val="F2F2F2"/>
                    </a:solidFill>
                  </a:tcPr>
                </a:tc>
              </a:tr>
              <a:tr h="655320">
                <a:tc>
                  <a:txBody>
                    <a:bodyPr wrap="square"/>
                    <a:lstStyle/>
                    <a:p>
                      <a:pPr algn="l"/>
                      <a:r>
                        <a:rPr sz="1600" b="1">
                          <a:solidFill>
                            <a:srgbClr val="222222"/>
                          </a:solidFill>
                          <a:latin typeface="Arial"/>
                        </a:rPr>
                        <a:t>Jogadas e sequências</a:t>
                      </a:r>
                    </a:p>
                  </a:txBody>
                  <a:tcPr anchor="ctr">
                    <a:solidFill>
                      <a:srgbClr val="FFFFFF"/>
                    </a:solidFill>
                  </a:tcPr>
                </a:tc>
                <a:tc>
                  <a:txBody>
                    <a:bodyPr wrap="square"/>
                    <a:lstStyle/>
                    <a:p>
                      <a:pPr algn="l"/>
                      <a:r>
                        <a:rPr sz="1600" b="0">
                          <a:solidFill>
                            <a:srgbClr val="222222"/>
                          </a:solidFill>
                          <a:latin typeface="Arial"/>
                        </a:rPr>
                        <a:t>10</a:t>
                      </a:r>
                    </a:p>
                  </a:txBody>
                  <a:tcPr anchor="ctr">
                    <a:solidFill>
                      <a:srgbClr val="FFFFFF"/>
                    </a:solidFill>
                  </a:tcPr>
                </a:tc>
                <a:tc>
                  <a:txBody>
                    <a:bodyPr wrap="square"/>
                    <a:lstStyle/>
                    <a:p>
                      <a:pPr algn="l"/>
                      <a:r>
                        <a:rPr sz="1600" b="0">
                          <a:solidFill>
                            <a:srgbClr val="222222"/>
                          </a:solidFill>
                          <a:latin typeface="Arial"/>
                        </a:rPr>
                        <a:t>Qual jogador participou de mais jogadas da Argentina que terminaram em finalização? (jogador)</a:t>
                      </a:r>
                    </a:p>
                  </a:txBody>
                  <a:tcPr anchor="ctr">
                    <a:solidFill>
                      <a:srgbClr val="FFFFFF"/>
                    </a:solidFill>
                  </a:tcPr>
                </a:tc>
              </a:tr>
              <a:tr h="655320">
                <a:tc>
                  <a:txBody>
                    <a:bodyPr wrap="square"/>
                    <a:lstStyle/>
                    <a:p>
                      <a:pPr algn="l"/>
                      <a:r>
                        <a:rPr sz="1600" b="1">
                          <a:solidFill>
                            <a:srgbClr val="222222"/>
                          </a:solidFill>
                          <a:latin typeface="Arial"/>
                        </a:rPr>
                        <a:t>Antes e depois de uma substituição</a:t>
                      </a:r>
                    </a:p>
                  </a:txBody>
                  <a:tcPr anchor="ctr">
                    <a:solidFill>
                      <a:srgbClr val="F2F2F2"/>
                    </a:solidFill>
                  </a:tcPr>
                </a:tc>
                <a:tc>
                  <a:txBody>
                    <a:bodyPr wrap="square"/>
                    <a:lstStyle/>
                    <a:p>
                      <a:pPr algn="l"/>
                      <a:r>
                        <a:rPr sz="1600" b="0">
                          <a:solidFill>
                            <a:srgbClr val="222222"/>
                          </a:solidFill>
                          <a:latin typeface="Arial"/>
                        </a:rPr>
                        <a:t>6</a:t>
                      </a:r>
                    </a:p>
                  </a:txBody>
                  <a:tcPr anchor="ctr">
                    <a:solidFill>
                      <a:srgbClr val="F2F2F2"/>
                    </a:solidFill>
                  </a:tcPr>
                </a:tc>
                <a:tc>
                  <a:txBody>
                    <a:bodyPr wrap="square"/>
                    <a:lstStyle/>
                    <a:p>
                      <a:pPr algn="l"/>
                      <a:r>
                        <a:rPr sz="1600" b="0">
                          <a:solidFill>
                            <a:srgbClr val="222222"/>
                          </a:solidFill>
                          <a:latin typeface="Arial"/>
                        </a:rPr>
                        <a:t>Depois que Dembélé saiu, qual companheiro mais passou a bola para Mbappé? (jogador)</a:t>
                      </a:r>
                    </a:p>
                  </a:txBody>
                  <a:tcPr anchor="ctr">
                    <a:solidFill>
                      <a:srgbClr val="F2F2F2"/>
                    </a:solidFill>
                  </a:tcPr>
                </a:tc>
              </a:tr>
              <a:tr h="655320">
                <a:tc>
                  <a:txBody>
                    <a:bodyPr wrap="square"/>
                    <a:lstStyle/>
                    <a:p>
                      <a:pPr algn="l"/>
                      <a:r>
                        <a:rPr sz="1600" b="1">
                          <a:solidFill>
                            <a:srgbClr val="222222"/>
                          </a:solidFill>
                          <a:latin typeface="Arial"/>
                        </a:rPr>
                        <a:t>Controle</a:t>
                      </a:r>
                    </a:p>
                  </a:txBody>
                  <a:tcPr anchor="ctr">
                    <a:solidFill>
                      <a:srgbClr val="FFFFFF"/>
                    </a:solidFill>
                  </a:tcPr>
                </a:tc>
                <a:tc>
                  <a:txBody>
                    <a:bodyPr wrap="square"/>
                    <a:lstStyle/>
                    <a:p>
                      <a:pPr algn="l"/>
                      <a:r>
                        <a:rPr sz="1600" b="0">
                          <a:solidFill>
                            <a:srgbClr val="222222"/>
                          </a:solidFill>
                          <a:latin typeface="Arial"/>
                        </a:rPr>
                        <a:t>5</a:t>
                      </a:r>
                    </a:p>
                  </a:txBody>
                  <a:tcPr anchor="ctr">
                    <a:solidFill>
                      <a:srgbClr val="FFFFFF"/>
                    </a:solidFill>
                  </a:tcPr>
                </a:tc>
                <a:tc>
                  <a:txBody>
                    <a:bodyPr wrap="square"/>
                    <a:lstStyle/>
                    <a:p>
                      <a:pPr algn="l"/>
                      <a:r>
                        <a:rPr sz="1600" b="0">
                          <a:solidFill>
                            <a:srgbClr val="222222"/>
                          </a:solidFill>
                          <a:latin typeface="Arial"/>
                        </a:rPr>
                        <a:t>Qual foi a distância total percorrida por Rodrigo De Paul? (ausência de dados)</a:t>
                      </a:r>
                    </a:p>
                  </a:txBody>
                  <a:tcPr anchor="ctr">
                    <a:solidFill>
                      <a:srgbClr val="FFFFFF"/>
                    </a:solidFill>
                  </a:tcPr>
                </a:tc>
              </a:tr>
            </a:tbl>
          </a:graphicData>
        </a:graphic>
      </p:graphicFrame>
      <p:sp>
        <p:nvSpPr>
          <p:cNvPr id="6" name="TextBox 5"/>
          <p:cNvSpPr txBox="1"/>
          <p:nvPr/>
        </p:nvSpPr>
        <p:spPr>
          <a:xfrm>
            <a:off x="640080" y="5669280"/>
            <a:ext cx="10881360" cy="640080"/>
          </a:xfrm>
          <a:prstGeom prst="rect">
            <a:avLst/>
          </a:prstGeom>
          <a:noFill/>
        </p:spPr>
        <p:txBody>
          <a:bodyPr wrap="square" anchor="t" lIns="45720" rIns="45720">
            <a:spAutoFit/>
          </a:bodyPr>
          <a:lstStyle/>
          <a:p>
            <a:pPr algn="l">
              <a:spcAft>
                <a:spcPts val="600"/>
              </a:spcAft>
            </a:pPr>
            <a:r>
              <a:rPr sz="1500" b="0">
                <a:solidFill>
                  <a:srgbClr val="666666"/>
                </a:solidFill>
                <a:latin typeface="Arial"/>
              </a:rPr>
              <a:t>47 perguntas com resposta e 5 de controle. Gabarito calculado por código, fora do grafo, a partir do JSON bruto e da tabela de ações.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Seis abordagens, da ausência de dados à consulta ao grafo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7 / 15</a:t>
            </a:r>
          </a:p>
        </p:txBody>
      </p:sp>
      <p:graphicFrame>
        <p:nvGraphicFramePr>
          <p:cNvPr id="5" name="Table 4"/>
          <p:cNvGraphicFramePr>
            <a:graphicFrameLocks noGrp="1"/>
          </p:cNvGraphicFramePr>
          <p:nvPr/>
        </p:nvGraphicFramePr>
        <p:xfrm>
          <a:off x="640080" y="1463040"/>
          <a:ext cx="10881360" cy="3291840"/>
        </p:xfrm>
        <a:graphic>
          <a:graphicData uri="http://schemas.openxmlformats.org/drawingml/2006/table">
            <a:tbl>
              <a:tblPr firstRow="0" bandRow="0">
                <a:tableStyleId>{5C22544A-7EE6-4342-B048-85BDC9FD1C3A}</a:tableStyleId>
              </a:tblPr>
              <a:tblGrid>
                <a:gridCol w="3840480"/>
                <a:gridCol w="7040880"/>
              </a:tblGrid>
              <a:tr h="470262">
                <a:tc>
                  <a:txBody>
                    <a:bodyPr wrap="square"/>
                    <a:lstStyle/>
                    <a:p>
                      <a:pPr algn="l"/>
                      <a:r>
                        <a:rPr sz="1700" b="1">
                          <a:solidFill>
                            <a:srgbClr val="FFFFFF"/>
                          </a:solidFill>
                          <a:latin typeface="Arial"/>
                        </a:rPr>
                        <a:t>Abordagem</a:t>
                      </a:r>
                    </a:p>
                  </a:txBody>
                  <a:tcPr anchor="ctr">
                    <a:solidFill>
                      <a:srgbClr val="222222"/>
                    </a:solidFill>
                  </a:tcPr>
                </a:tc>
                <a:tc>
                  <a:txBody>
                    <a:bodyPr wrap="square"/>
                    <a:lstStyle/>
                    <a:p>
                      <a:pPr algn="l"/>
                      <a:r>
                        <a:rPr sz="1700" b="1">
                          <a:solidFill>
                            <a:srgbClr val="FFFFFF"/>
                          </a:solidFill>
                          <a:latin typeface="Arial"/>
                        </a:rPr>
                        <a:t>O que o modelo recebe</a:t>
                      </a:r>
                    </a:p>
                  </a:txBody>
                  <a:tcPr anchor="ctr">
                    <a:solidFill>
                      <a:srgbClr val="222222"/>
                    </a:solidFill>
                  </a:tcPr>
                </a:tc>
              </a:tr>
              <a:tr h="470262">
                <a:tc>
                  <a:txBody>
                    <a:bodyPr wrap="square"/>
                    <a:lstStyle/>
                    <a:p>
                      <a:pPr algn="l"/>
                      <a:r>
                        <a:rPr sz="1700" b="1">
                          <a:solidFill>
                            <a:srgbClr val="222222"/>
                          </a:solidFill>
                          <a:latin typeface="Arial"/>
                        </a:rPr>
                        <a:t>Sem dados</a:t>
                      </a:r>
                    </a:p>
                  </a:txBody>
                  <a:tcPr anchor="ctr">
                    <a:solidFill>
                      <a:srgbClr val="FFFFFF"/>
                    </a:solidFill>
                  </a:tcPr>
                </a:tc>
                <a:tc>
                  <a:txBody>
                    <a:bodyPr wrap="square"/>
                    <a:lstStyle/>
                    <a:p>
                      <a:pPr algn="l"/>
                      <a:r>
                        <a:rPr sz="1700" b="0">
                          <a:solidFill>
                            <a:srgbClr val="222222"/>
                          </a:solidFill>
                          <a:latin typeface="Arial"/>
                        </a:rPr>
                        <a:t>só a pergunta (linha de base)</a:t>
                      </a:r>
                    </a:p>
                  </a:txBody>
                  <a:tcPr anchor="ctr">
                    <a:solidFill>
                      <a:srgbClr val="FFFFFF"/>
                    </a:solidFill>
                  </a:tcPr>
                </a:tc>
              </a:tr>
              <a:tr h="470262">
                <a:tc>
                  <a:txBody>
                    <a:bodyPr wrap="square"/>
                    <a:lstStyle/>
                    <a:p>
                      <a:pPr algn="l"/>
                      <a:r>
                        <a:rPr sz="1700" b="1">
                          <a:solidFill>
                            <a:srgbClr val="222222"/>
                          </a:solidFill>
                          <a:latin typeface="Arial"/>
                        </a:rPr>
                        <a:t>Contexto longo</a:t>
                      </a:r>
                    </a:p>
                  </a:txBody>
                  <a:tcPr anchor="ctr">
                    <a:solidFill>
                      <a:srgbClr val="F2F2F2"/>
                    </a:solidFill>
                  </a:tcPr>
                </a:tc>
                <a:tc>
                  <a:txBody>
                    <a:bodyPr wrap="square"/>
                    <a:lstStyle/>
                    <a:p>
                      <a:pPr algn="l"/>
                      <a:r>
                        <a:rPr sz="1700" b="0">
                          <a:solidFill>
                            <a:srgbClr val="222222"/>
                          </a:solidFill>
                          <a:latin typeface="Arial"/>
                        </a:rPr>
                        <a:t>a tabela com as 2.585 ações, inteira, no prompt</a:t>
                      </a:r>
                    </a:p>
                  </a:txBody>
                  <a:tcPr anchor="ctr">
                    <a:solidFill>
                      <a:srgbClr val="F2F2F2"/>
                    </a:solidFill>
                  </a:tcPr>
                </a:tc>
              </a:tr>
              <a:tr h="470262">
                <a:tc>
                  <a:txBody>
                    <a:bodyPr wrap="square"/>
                    <a:lstStyle/>
                    <a:p>
                      <a:pPr algn="l"/>
                      <a:r>
                        <a:rPr sz="1700" b="1">
                          <a:solidFill>
                            <a:srgbClr val="222222"/>
                          </a:solidFill>
                          <a:latin typeface="Arial"/>
                        </a:rPr>
                        <a:t>Estatísticas resumidas</a:t>
                      </a:r>
                    </a:p>
                  </a:txBody>
                  <a:tcPr anchor="ctr">
                    <a:solidFill>
                      <a:srgbClr val="FFFFFF"/>
                    </a:solidFill>
                  </a:tcPr>
                </a:tc>
                <a:tc>
                  <a:txBody>
                    <a:bodyPr wrap="square"/>
                    <a:lstStyle/>
                    <a:p>
                      <a:pPr algn="l"/>
                      <a:r>
                        <a:rPr sz="1700" b="0">
                          <a:solidFill>
                            <a:srgbClr val="222222"/>
                          </a:solidFill>
                          <a:latin typeface="Arial"/>
                        </a:rPr>
                        <a:t>a súmula: totais por jogador e por time</a:t>
                      </a:r>
                    </a:p>
                  </a:txBody>
                  <a:tcPr anchor="ctr">
                    <a:solidFill>
                      <a:srgbClr val="FFFFFF"/>
                    </a:solidFill>
                  </a:tcPr>
                </a:tc>
              </a:tr>
              <a:tr h="470262">
                <a:tc>
                  <a:txBody>
                    <a:bodyPr wrap="square"/>
                    <a:lstStyle/>
                    <a:p>
                      <a:pPr algn="l"/>
                      <a:r>
                        <a:rPr sz="1700" b="1">
                          <a:solidFill>
                            <a:srgbClr val="222222"/>
                          </a:solidFill>
                          <a:latin typeface="Arial"/>
                        </a:rPr>
                        <a:t>Busca vetorial</a:t>
                      </a:r>
                    </a:p>
                  </a:txBody>
                  <a:tcPr anchor="ctr">
                    <a:solidFill>
                      <a:srgbClr val="F2F2F2"/>
                    </a:solidFill>
                  </a:tcPr>
                </a:tc>
                <a:tc>
                  <a:txBody>
                    <a:bodyPr wrap="square"/>
                    <a:lstStyle/>
                    <a:p>
                      <a:pPr algn="l"/>
                      <a:r>
                        <a:rPr sz="1700" b="0">
                          <a:solidFill>
                            <a:srgbClr val="222222"/>
                          </a:solidFill>
                          <a:latin typeface="Arial"/>
                        </a:rPr>
                        <a:t>as 30 linhas mais parecidas com a pergunta (embeddings)</a:t>
                      </a:r>
                    </a:p>
                  </a:txBody>
                  <a:tcPr anchor="ctr">
                    <a:solidFill>
                      <a:srgbClr val="F2F2F2"/>
                    </a:solidFill>
                  </a:tcPr>
                </a:tc>
              </a:tr>
              <a:tr h="470262">
                <a:tc>
                  <a:txBody>
                    <a:bodyPr wrap="square"/>
                    <a:lstStyle/>
                    <a:p>
                      <a:pPr algn="l"/>
                      <a:r>
                        <a:rPr sz="1700" b="1">
                          <a:solidFill>
                            <a:srgbClr val="222222"/>
                          </a:solidFill>
                          <a:latin typeface="Arial"/>
                        </a:rPr>
                        <a:t>Consulta escrita pelo modelo</a:t>
                      </a:r>
                    </a:p>
                  </a:txBody>
                  <a:tcPr anchor="ctr">
                    <a:solidFill>
                      <a:srgbClr val="E6EEF6"/>
                    </a:solidFill>
                  </a:tcPr>
                </a:tc>
                <a:tc>
                  <a:txBody>
                    <a:bodyPr wrap="square"/>
                    <a:lstStyle/>
                    <a:p>
                      <a:pPr algn="l"/>
                      <a:r>
                        <a:rPr sz="1700" b="0">
                          <a:solidFill>
                            <a:srgbClr val="222222"/>
                          </a:solidFill>
                          <a:latin typeface="Arial"/>
                        </a:rPr>
                        <a:t>o esquema do grafo e o resultado da consulta que o modelo escreveu</a:t>
                      </a:r>
                    </a:p>
                  </a:txBody>
                  <a:tcPr anchor="ctr">
                    <a:solidFill>
                      <a:srgbClr val="E6EEF6"/>
                    </a:solidFill>
                  </a:tcPr>
                </a:tc>
              </a:tr>
              <a:tr h="470268">
                <a:tc>
                  <a:txBody>
                    <a:bodyPr wrap="square"/>
                    <a:lstStyle/>
                    <a:p>
                      <a:pPr algn="l"/>
                      <a:r>
                        <a:rPr sz="1700" b="1">
                          <a:solidFill>
                            <a:srgbClr val="222222"/>
                          </a:solidFill>
                          <a:latin typeface="Arial"/>
                        </a:rPr>
                        <a:t>Ferramentas sobre o grafo</a:t>
                      </a:r>
                    </a:p>
                  </a:txBody>
                  <a:tcPr anchor="ctr">
                    <a:solidFill>
                      <a:srgbClr val="E6EEF6"/>
                    </a:solidFill>
                  </a:tcPr>
                </a:tc>
                <a:tc>
                  <a:txBody>
                    <a:bodyPr wrap="square"/>
                    <a:lstStyle/>
                    <a:p>
                      <a:pPr algn="l"/>
                      <a:r>
                        <a:rPr sz="1700" b="0">
                          <a:solidFill>
                            <a:srgbClr val="222222"/>
                          </a:solidFill>
                          <a:latin typeface="Arial"/>
                        </a:rPr>
                        <a:t>o resultado de 8 ferramentas com consulta fixa, que o modelo chama</a:t>
                      </a:r>
                    </a:p>
                  </a:txBody>
                  <a:tcPr anchor="ctr">
                    <a:solidFill>
                      <a:srgbClr val="E6EEF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Mesmo grafo, duas formas de consultar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8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Registro real (Claude Haiku 5.5, a01); trechos abreviados com [...]. Uma chamada bastou nas duas; limite de 12 chamadas.</a:t>
            </a:r>
          </a:p>
        </p:txBody>
      </p:sp>
      <p:sp>
        <p:nvSpPr>
          <p:cNvPr id="6" name="Rectangle 5"/>
          <p:cNvSpPr/>
          <p:nvPr/>
        </p:nvSpPr>
        <p:spPr>
          <a:xfrm>
            <a:off x="640080" y="1417320"/>
            <a:ext cx="10881360" cy="5029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44752"/>
            <a:ext cx="10607040" cy="457200"/>
          </a:xfrm>
          <a:prstGeom prst="rect">
            <a:avLst/>
          </a:prstGeom>
          <a:noFill/>
        </p:spPr>
        <p:txBody>
          <a:bodyPr wrap="square" anchor="ctr" lIns="45720" rIns="45720">
            <a:spAutoFit/>
          </a:bodyPr>
          <a:lstStyle/>
          <a:p>
            <a:pPr algn="l">
              <a:spcAft>
                <a:spcPts val="600"/>
              </a:spcAft>
            </a:pPr>
            <a:r>
              <a:rPr sz="1600" b="1">
                <a:solidFill>
                  <a:srgbClr val="222222"/>
                </a:solidFill>
                <a:latin typeface="Arial"/>
              </a:rPr>
              <a:t>Pergunta a01: Quem deu mais passes certos no terço final do campo pela Argentina?</a:t>
            </a:r>
          </a:p>
        </p:txBody>
      </p:sp>
      <p:sp>
        <p:nvSpPr>
          <p:cNvPr id="8" name="Rectangle 7"/>
          <p:cNvSpPr/>
          <p:nvPr/>
        </p:nvSpPr>
        <p:spPr>
          <a:xfrm>
            <a:off x="640080" y="2057400"/>
            <a:ext cx="5349240" cy="4251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
          </a:xfrm>
          <a:prstGeom prst="rect">
            <a:avLst/>
          </a:prstGeom>
          <a:noFill/>
        </p:spPr>
        <p:txBody>
          <a:bodyPr wrap="square" anchor="t" lIns="45720" rIns="45720">
            <a:spAutoFit/>
          </a:bodyPr>
          <a:lstStyle/>
          <a:p>
            <a:pPr algn="l">
              <a:spcAft>
                <a:spcPts val="600"/>
              </a:spcAft>
            </a:pPr>
            <a:r>
              <a:rPr sz="1700" b="1">
                <a:solidFill>
                  <a:srgbClr val="222222"/>
                </a:solidFill>
                <a:latin typeface="Arial"/>
              </a:rPr>
              <a:t>Consulta escrita pelo modelo</a:t>
            </a:r>
          </a:p>
        </p:txBody>
      </p:sp>
      <p:sp>
        <p:nvSpPr>
          <p:cNvPr id="10" name="TextBox 9"/>
          <p:cNvSpPr txBox="1"/>
          <p:nvPr/>
        </p:nvSpPr>
        <p:spPr>
          <a:xfrm>
            <a:off x="77724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chama run_cypher com a consulta que escreveu:</a:t>
            </a:r>
          </a:p>
        </p:txBody>
      </p:sp>
      <p:sp>
        <p:nvSpPr>
          <p:cNvPr id="11" name="Rectangle 10"/>
          <p:cNvSpPr/>
          <p:nvPr/>
        </p:nvSpPr>
        <p:spPr>
          <a:xfrm>
            <a:off x="77724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52927"/>
            <a:ext cx="4892040" cy="2057400"/>
          </a:xfrm>
          <a:prstGeom prst="rect">
            <a:avLst/>
          </a:prstGeom>
          <a:noFill/>
        </p:spPr>
        <p:txBody>
          <a:bodyPr wrap="square">
            <a:spAutoFit/>
          </a:bodyPr>
          <a:lstStyle/>
          <a:p>
            <a:r>
              <a:rPr sz="1300">
                <a:solidFill>
                  <a:srgbClr val="E8E8E8"/>
                </a:solidFill>
                <a:latin typeface="Courier New"/>
              </a:rPr>
              <a:t>MATCH (j:Jogador)-[r:REALIZOU]-&gt;</a:t>
            </a:r>
          </a:p>
          <a:p>
            <a:r>
              <a:rPr sz="1300">
                <a:solidFill>
                  <a:srgbClr val="E8E8E8"/>
                </a:solidFill>
                <a:latin typeface="Courier New"/>
              </a:rPr>
              <a:t>  (p:Partida [...])</a:t>
            </a:r>
          </a:p>
          <a:p>
            <a:r>
              <a:rPr sz="1300">
                <a:solidFill>
                  <a:srgbClr val="E8E8E8"/>
                </a:solidFill>
                <a:latin typeface="Courier New"/>
              </a:rPr>
              <a:t>WHERE j.time = 'Argentina'</a:t>
            </a:r>
          </a:p>
          <a:p>
            <a:r>
              <a:rPr sz="1300">
                <a:solidFill>
                  <a:srgbClr val="E8E8E8"/>
                </a:solidFill>
                <a:latin typeface="Courier New"/>
              </a:rPr>
              <a:t>  AND r.acao = 'passe'</a:t>
            </a:r>
          </a:p>
          <a:p>
            <a:r>
              <a:rPr sz="1300">
                <a:solidFill>
                  <a:srgbClr val="E8E8E8"/>
                </a:solidFill>
                <a:latin typeface="Courier New"/>
              </a:rPr>
              <a:t>  AND r.sucesso = true</a:t>
            </a:r>
          </a:p>
          <a:p>
            <a:r>
              <a:rPr sz="1300">
                <a:solidFill>
                  <a:srgbClr val="E8E8E8"/>
                </a:solidFill>
                <a:latin typeface="Courier New"/>
              </a:rPr>
              <a:t>  AND r.terco = 'ataque' [...]</a:t>
            </a:r>
          </a:p>
          <a:p>
            <a:r>
              <a:rPr sz="1300">
                <a:solidFill>
                  <a:srgbClr val="E8E8E8"/>
                </a:solidFill>
                <a:latin typeface="Courier New"/>
              </a:rPr>
              <a:t>RETURN j.nome AS jogador,</a:t>
            </a:r>
          </a:p>
          <a:p>
            <a:r>
              <a:rPr sz="1300">
                <a:solidFill>
                  <a:srgbClr val="E8E8E8"/>
                </a:solidFill>
                <a:latin typeface="Courier New"/>
              </a:rPr>
              <a:t>  count(r) AS passes_certos_terco_final</a:t>
            </a:r>
          </a:p>
          <a:p>
            <a:r>
              <a:rPr sz="1300">
                <a:solidFill>
                  <a:srgbClr val="E8E8E8"/>
                </a:solidFill>
                <a:latin typeface="Courier New"/>
              </a:rPr>
              <a:t>ORDER BY passes_certos_terco_final DESC</a:t>
            </a:r>
          </a:p>
          <a:p>
            <a:r>
              <a:rPr sz="1300">
                <a:solidFill>
                  <a:srgbClr val="E8E8E8"/>
                </a:solidFill>
                <a:latin typeface="Courier New"/>
              </a:rPr>
              <a:t>LIMIT 10</a:t>
            </a:r>
          </a:p>
        </p:txBody>
      </p:sp>
      <p:sp>
        <p:nvSpPr>
          <p:cNvPr id="13" name="TextBox 12"/>
          <p:cNvSpPr txBox="1"/>
          <p:nvPr/>
        </p:nvSpPr>
        <p:spPr>
          <a:xfrm>
            <a:off x="77724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no grafo e devolve:</a:t>
            </a:r>
          </a:p>
        </p:txBody>
      </p:sp>
      <p:sp>
        <p:nvSpPr>
          <p:cNvPr id="14" name="Rectangle 13"/>
          <p:cNvSpPr/>
          <p:nvPr/>
        </p:nvSpPr>
        <p:spPr>
          <a:xfrm>
            <a:off x="77724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16" name="TextBox 15"/>
          <p:cNvSpPr txBox="1"/>
          <p:nvPr/>
        </p:nvSpPr>
        <p:spPr>
          <a:xfrm>
            <a:off x="77724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
        <p:nvSpPr>
          <p:cNvPr id="17" name="Rectangle 16"/>
          <p:cNvSpPr/>
          <p:nvPr/>
        </p:nvSpPr>
        <p:spPr>
          <a:xfrm>
            <a:off x="6172200" y="2057400"/>
            <a:ext cx="5349240" cy="425196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03120"/>
            <a:ext cx="5029200" cy="365760"/>
          </a:xfrm>
          <a:prstGeom prst="rect">
            <a:avLst/>
          </a:prstGeom>
          <a:noFill/>
        </p:spPr>
        <p:txBody>
          <a:bodyPr wrap="square" anchor="t" lIns="45720" rIns="45720">
            <a:spAutoFit/>
          </a:bodyPr>
          <a:lstStyle/>
          <a:p>
            <a:pPr algn="l">
              <a:spcAft>
                <a:spcPts val="600"/>
              </a:spcAft>
            </a:pPr>
            <a:r>
              <a:rPr sz="1700" b="1">
                <a:solidFill>
                  <a:srgbClr val="1F5C99"/>
                </a:solidFill>
                <a:latin typeface="Arial"/>
              </a:rPr>
              <a:t>Ferramentas sobre o grafo</a:t>
            </a:r>
          </a:p>
        </p:txBody>
      </p:sp>
      <p:sp>
        <p:nvSpPr>
          <p:cNvPr id="19" name="TextBox 18"/>
          <p:cNvSpPr txBox="1"/>
          <p:nvPr/>
        </p:nvSpPr>
        <p:spPr>
          <a:xfrm>
            <a:off x="630936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escolhe query_actions e preenche os argumentos:</a:t>
            </a:r>
          </a:p>
        </p:txBody>
      </p:sp>
      <p:sp>
        <p:nvSpPr>
          <p:cNvPr id="20" name="Rectangle 19"/>
          <p:cNvSpPr/>
          <p:nvPr/>
        </p:nvSpPr>
        <p:spPr>
          <a:xfrm>
            <a:off x="630936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52927"/>
            <a:ext cx="4892040" cy="2057400"/>
          </a:xfrm>
          <a:prstGeom prst="rect">
            <a:avLst/>
          </a:prstGeom>
          <a:noFill/>
        </p:spPr>
        <p:txBody>
          <a:bodyPr wrap="square">
            <a:spAutoFit/>
          </a:bodyPr>
          <a:lstStyle/>
          <a:p>
            <a:r>
              <a:rPr sz="1300">
                <a:solidFill>
                  <a:srgbClr val="E8E8E8"/>
                </a:solidFill>
                <a:latin typeface="Courier New"/>
              </a:rPr>
              <a:t>filters: {team: "Argentina",</a:t>
            </a:r>
          </a:p>
          <a:p>
            <a:r>
              <a:rPr sz="1300">
                <a:solidFill>
                  <a:srgbClr val="E8E8E8"/>
                </a:solidFill>
                <a:latin typeface="Courier New"/>
              </a:rPr>
              <a:t>  action: ["passe"], success: true,</a:t>
            </a:r>
          </a:p>
          <a:p>
            <a:r>
              <a:rPr sz="1300">
                <a:solidFill>
                  <a:srgbClr val="E8E8E8"/>
                </a:solidFill>
                <a:latin typeface="Courier New"/>
              </a:rPr>
              <a:t>  third: "attacking"},</a:t>
            </a:r>
          </a:p>
          <a:p>
            <a:r>
              <a:rPr sz="1300">
                <a:solidFill>
                  <a:srgbClr val="E8E8E8"/>
                </a:solidFill>
                <a:latin typeface="Courier New"/>
              </a:rPr>
              <a:t>group_by: ["player"], metric: "count",</a:t>
            </a:r>
          </a:p>
          <a:p>
            <a:r>
              <a:rPr sz="1300">
                <a:solidFill>
                  <a:srgbClr val="E8E8E8"/>
                </a:solidFill>
                <a:latin typeface="Courier New"/>
              </a:rPr>
              <a:t>top: 5</a:t>
            </a:r>
          </a:p>
        </p:txBody>
      </p:sp>
      <p:sp>
        <p:nvSpPr>
          <p:cNvPr id="22" name="TextBox 21"/>
          <p:cNvSpPr txBox="1"/>
          <p:nvPr/>
        </p:nvSpPr>
        <p:spPr>
          <a:xfrm>
            <a:off x="630936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a consulta fixa e devolve:</a:t>
            </a:r>
          </a:p>
        </p:txBody>
      </p:sp>
      <p:sp>
        <p:nvSpPr>
          <p:cNvPr id="23" name="Rectangle 22"/>
          <p:cNvSpPr/>
          <p:nvPr/>
        </p:nvSpPr>
        <p:spPr>
          <a:xfrm>
            <a:off x="630936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25" name="TextBox 24"/>
          <p:cNvSpPr txBox="1"/>
          <p:nvPr/>
        </p:nvSpPr>
        <p:spPr>
          <a:xfrm>
            <a:off x="630936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sobre o grafo: 83% a 89% de acerto nos 4 modelos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9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Barras de erro: intervalo de Wilson de 95%. Uma repetição por pergunta.</a:t>
            </a:r>
          </a:p>
        </p:txBody>
      </p:sp>
      <p:sp>
        <p:nvSpPr>
          <p:cNvPr id="6" name="TextBox 5"/>
          <p:cNvSpPr txBox="1"/>
          <p:nvPr/>
        </p:nvSpPr>
        <p:spPr>
          <a:xfrm>
            <a:off x="640080" y="1325880"/>
            <a:ext cx="10881360" cy="1005840"/>
          </a:xfrm>
          <a:prstGeom prst="rect">
            <a:avLst/>
          </a:prstGeom>
          <a:noFill/>
        </p:spPr>
        <p:txBody>
          <a:bodyPr wrap="square" anchor="t" lIns="45720" rIns="45720">
            <a:spAutoFit/>
          </a:bodyPr>
          <a:lstStyle/>
          <a:p>
            <a:pPr algn="l">
              <a:spcAft>
                <a:spcPts val="200"/>
              </a:spcAft>
            </a:pPr>
            <a:r>
              <a:rPr sz="1400" b="0">
                <a:solidFill>
                  <a:srgbClr val="666666"/>
                </a:solidFill>
                <a:latin typeface="Arial"/>
              </a:rPr>
              <a:t>4 modelos: Claude Haiku 5.5 e Qwen3.8-flash (menores, sem raciocínio estendido, temperatura zero); Claude Sonnet 4.6 e Kimi K3 (maiores, com raciocínio estendido).</a:t>
            </a:r>
          </a:p>
          <a:p>
            <a:pPr algn="l">
              <a:spcAft>
                <a:spcPts val="200"/>
              </a:spcAft>
            </a:pPr>
            <a:r>
              <a:rPr sz="1400" b="0">
                <a:solidFill>
                  <a:srgbClr val="666666"/>
                </a:solidFill>
                <a:latin typeface="Arial"/>
              </a:rPr>
              <a:t>52 perguntas × 6 abordagens = 312 execuções por modelo, 1 repetição por pergunta. Diferenças lidas como indícios.</a:t>
            </a:r>
          </a:p>
        </p:txBody>
      </p:sp>
      <p:graphicFrame>
        <p:nvGraphicFramePr>
          <p:cNvPr id="7" name="Chart 6"/>
          <p:cNvGraphicFramePr>
            <a:graphicFrameLocks noGrp="1"/>
          </p:cNvGraphicFramePr>
          <p:nvPr/>
        </p:nvGraphicFramePr>
        <p:xfrm>
          <a:off x="457200" y="2286000"/>
          <a:ext cx="11247120" cy="3703320"/>
        </p:xfrm>
        <a:graphic>
          <a:graphicData uri="http://schemas.openxmlformats.org/drawingml/2006/chart">
            <c:chart xmlns:c="http://schemas.openxmlformats.org/drawingml/2006/chart" r:id="rId3"/>
          </a:graphicData>
        </a:graphic>
      </p:graphicFrame>
      <p:sp>
        <p:nvSpPr>
          <p:cNvPr id="8" name="TextBox 7"/>
          <p:cNvSpPr txBox="1"/>
          <p:nvPr/>
        </p:nvSpPr>
        <p:spPr>
          <a:xfrm>
            <a:off x="640080" y="5989320"/>
            <a:ext cx="1088136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As outras três abordagens não passam de 17% em nenhum modelo (slide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Nas perguntas encadeadas, Consulta e Contexto longo dependem do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10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36 perguntas encadeadas com resposta (soma dos grupos Relações, Jogadas e Momento).</a:t>
            </a:r>
          </a:p>
        </p:txBody>
      </p:sp>
      <p:graphicFrame>
        <p:nvGraphicFramePr>
          <p:cNvPr id="6" name="Chart 5"/>
          <p:cNvGraphicFramePr>
            <a:graphicFrameLocks noGrp="1"/>
          </p:cNvGraphicFramePr>
          <p:nvPr/>
        </p:nvGraphicFramePr>
        <p:xfrm>
          <a:off x="457200" y="1371600"/>
          <a:ext cx="7498079" cy="4937760"/>
        </p:xfrm>
        <a:graphic>
          <a:graphicData uri="http://schemas.openxmlformats.org/drawingml/2006/chart">
            <c:chart xmlns:c="http://schemas.openxmlformats.org/drawingml/2006/chart" r:id="rId3"/>
          </a:graphicData>
        </a:graphic>
      </p:graphicFrame>
      <p:sp>
        <p:nvSpPr>
          <p:cNvPr id="7" name="Rectangle 6"/>
          <p:cNvSpPr/>
          <p:nvPr/>
        </p:nvSpPr>
        <p:spPr>
          <a:xfrm>
            <a:off x="8229600" y="1554480"/>
            <a:ext cx="3383280" cy="4389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60" y="1645920"/>
            <a:ext cx="3108960" cy="4206240"/>
          </a:xfrm>
          <a:prstGeom prst="rect">
            <a:avLst/>
          </a:prstGeom>
          <a:noFill/>
        </p:spPr>
        <p:txBody>
          <a:bodyPr wrap="square" anchor="t" lIns="45720" rIns="45720">
            <a:spAutoFit/>
          </a:bodyPr>
          <a:lstStyle/>
          <a:p>
            <a:pPr algn="l">
              <a:spcAft>
                <a:spcPts val="1000"/>
              </a:spcAft>
            </a:pPr>
            <a:r>
              <a:rPr sz="1800" b="1">
                <a:solidFill>
                  <a:srgbClr val="1F5C99"/>
                </a:solidFill>
                <a:latin typeface="Arial"/>
              </a:rPr>
              <a:t>Leitura</a:t>
            </a:r>
          </a:p>
          <a:p>
            <a:pPr algn="l">
              <a:spcAft>
                <a:spcPts val="1000"/>
              </a:spcAft>
            </a:pPr>
            <a:r>
              <a:rPr sz="1500" b="0">
                <a:solidFill>
                  <a:srgbClr val="222222"/>
                </a:solidFill>
                <a:latin typeface="Arial"/>
              </a:rPr>
              <a:t>Ferramentas: a consulta já vem escrita e o cálculo fica no código.</a:t>
            </a:r>
          </a:p>
          <a:p>
            <a:pPr algn="l">
              <a:spcAft>
                <a:spcPts val="1000"/>
              </a:spcAft>
            </a:pPr>
            <a:r>
              <a:rPr sz="1500" b="0">
                <a:solidFill>
                  <a:srgbClr val="222222"/>
                </a:solidFill>
                <a:latin typeface="Arial"/>
              </a:rPr>
              <a:t>Consulta: o modelo escreve o Cypher; o acerto acompanha essa capacidade.</a:t>
            </a:r>
          </a:p>
          <a:p>
            <a:pPr algn="l">
              <a:spcAft>
                <a:spcPts val="1000"/>
              </a:spcAft>
            </a:pPr>
            <a:r>
              <a:rPr sz="1500" b="0">
                <a:solidFill>
                  <a:srgbClr val="222222"/>
                </a:solidFill>
                <a:latin typeface="Arial"/>
              </a:rPr>
              <a:t>Contexto longo: o modelo acha e combina as linhas certas na tabela inteira.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Busca vetorial, Estatísticas resumidas e Sem dados ficam baixas por motivos diferentes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11 / 15</a:t>
            </a:r>
          </a:p>
        </p:txBody>
      </p:sp>
      <p:sp>
        <p:nvSpPr>
          <p:cNvPr id="5" name="Rectangle 4"/>
          <p:cNvSpPr/>
          <p:nvPr/>
        </p:nvSpPr>
        <p:spPr>
          <a:xfrm>
            <a:off x="64008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Busca vetorial</a:t>
            </a:r>
          </a:p>
          <a:p>
            <a:pPr algn="l">
              <a:spcAft>
                <a:spcPts val="1000"/>
              </a:spcAft>
            </a:pPr>
            <a:r>
              <a:rPr sz="3400" b="1">
                <a:solidFill>
                  <a:srgbClr val="1F5C99"/>
                </a:solidFill>
                <a:latin typeface="Arial"/>
              </a:rPr>
              <a:t>9% a 17%</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Traz as 30 linhas mais parecidas com a pergunta, de 2.585. Contar exige todas as linhas de um tipo e ligar eventos exige as vizinhas.</a:t>
            </a:r>
          </a:p>
        </p:txBody>
      </p:sp>
      <p:sp>
        <p:nvSpPr>
          <p:cNvPr id="7" name="Rectangle 6"/>
          <p:cNvSpPr/>
          <p:nvPr/>
        </p:nvSpPr>
        <p:spPr>
          <a:xfrm>
            <a:off x="434340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Estatísticas resumidas</a:t>
            </a:r>
          </a:p>
          <a:p>
            <a:pPr algn="l">
              <a:spcAft>
                <a:spcPts val="1000"/>
              </a:spcAft>
            </a:pPr>
            <a:r>
              <a:rPr sz="3400" b="1">
                <a:solidFill>
                  <a:srgbClr val="1F5C99"/>
                </a:solidFill>
                <a:latin typeface="Arial"/>
              </a:rPr>
              <a:t>0% a 9%</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A súmula tem totais da partida inteira, sem recorte de tempo ou de campo e sem quem passou para quem. Os modelos se abstêm.</a:t>
            </a:r>
          </a:p>
        </p:txBody>
      </p:sp>
      <p:sp>
        <p:nvSpPr>
          <p:cNvPr id="9" name="Rectangle 8"/>
          <p:cNvSpPr/>
          <p:nvPr/>
        </p:nvSpPr>
        <p:spPr>
          <a:xfrm>
            <a:off x="804672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Sem dados</a:t>
            </a:r>
          </a:p>
          <a:p>
            <a:pPr algn="l">
              <a:spcAft>
                <a:spcPts val="1000"/>
              </a:spcAft>
            </a:pPr>
            <a:r>
              <a:rPr sz="3400" b="1">
                <a:solidFill>
                  <a:srgbClr val="1F5C99"/>
                </a:solidFill>
                <a:latin typeface="Arial"/>
              </a:rPr>
              <a:t>0%</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Se abstém nas 47 perguntas com resposta: o prompt proíbe responder de memória. Mede obediência.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Contexto longo nos modelos maiores custa milhares de tokens de saída e dezenas de segundos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12 / 15</a:t>
            </a:r>
          </a:p>
        </p:txBody>
      </p:sp>
      <p:sp>
        <p:nvSpPr>
          <p:cNvPr id="5" name="Rectangle 4"/>
          <p:cNvSpPr/>
          <p:nvPr/>
        </p:nvSpPr>
        <p:spPr>
          <a:xfrm>
            <a:off x="640080" y="1554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37 s e 81 s</a:t>
            </a:r>
          </a:p>
          <a:p>
            <a:pPr algn="l">
              <a:spcAft>
                <a:spcPts val="600"/>
              </a:spcAft>
            </a:pPr>
            <a:r>
              <a:rPr sz="1800" b="0">
                <a:solidFill>
                  <a:srgbClr val="222222"/>
                </a:solidFill>
                <a:latin typeface="Arial"/>
              </a:rPr>
              <a:t>latência por pergunta</a:t>
            </a:r>
          </a:p>
          <a:p>
            <a:pPr algn="l">
              <a:spcAft>
                <a:spcPts val="600"/>
              </a:spcAft>
            </a:pPr>
            <a:r>
              <a:rPr sz="1400" b="0">
                <a:solidFill>
                  <a:srgbClr val="666666"/>
                </a:solidFill>
                <a:latin typeface="Arial"/>
              </a:rPr>
              <a:t>Contexto longo, modelos maiores (Sonnet e Kimi)</a:t>
            </a:r>
          </a:p>
        </p:txBody>
      </p:sp>
      <p:sp>
        <p:nvSpPr>
          <p:cNvPr id="7" name="Rectangle 6"/>
          <p:cNvSpPr/>
          <p:nvPr/>
        </p:nvSpPr>
        <p:spPr>
          <a:xfrm>
            <a:off x="640080" y="3840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977639"/>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4,4 e 12,2 mil</a:t>
            </a:r>
          </a:p>
          <a:p>
            <a:pPr algn="l">
              <a:spcAft>
                <a:spcPts val="600"/>
              </a:spcAft>
            </a:pPr>
            <a:r>
              <a:rPr sz="1800" b="0">
                <a:solidFill>
                  <a:srgbClr val="222222"/>
                </a:solidFill>
                <a:latin typeface="Arial"/>
              </a:rPr>
              <a:t>tokens de saída por pergunta</a:t>
            </a:r>
          </a:p>
          <a:p>
            <a:pPr algn="l">
              <a:spcAft>
                <a:spcPts val="600"/>
              </a:spcAft>
            </a:pPr>
            <a:r>
              <a:rPr sz="1400" b="0">
                <a:solidFill>
                  <a:srgbClr val="666666"/>
                </a:solidFill>
                <a:latin typeface="Arial"/>
              </a:rPr>
              <a:t>Contexto longo, modelos maiores (Sonnet e Kimi)</a:t>
            </a:r>
          </a:p>
        </p:txBody>
      </p:sp>
      <p:graphicFrame>
        <p:nvGraphicFramePr>
          <p:cNvPr id="9" name="Chart 8"/>
          <p:cNvGraphicFramePr>
            <a:graphicFrameLocks noGrp="1"/>
          </p:cNvGraphicFramePr>
          <p:nvPr/>
        </p:nvGraphicFramePr>
        <p:xfrm>
          <a:off x="4754880" y="1417320"/>
          <a:ext cx="70408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mantiveram o acerto alto, com limites claros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13 / 15</a:t>
            </a:r>
          </a:p>
        </p:txBody>
      </p:sp>
      <p:sp>
        <p:nvSpPr>
          <p:cNvPr id="5" name="TextBox 4"/>
          <p:cNvSpPr txBox="1"/>
          <p:nvPr/>
        </p:nvSpPr>
        <p:spPr>
          <a:xfrm>
            <a:off x="640080" y="1463040"/>
            <a:ext cx="539496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Conclusão</a:t>
            </a:r>
          </a:p>
        </p:txBody>
      </p:sp>
      <p:sp>
        <p:nvSpPr>
          <p:cNvPr id="6" name="TextBox 5"/>
          <p:cNvSpPr txBox="1"/>
          <p:nvPr/>
        </p:nvSpPr>
        <p:spPr>
          <a:xfrm>
            <a:off x="640080" y="2011680"/>
            <a:ext cx="539496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Ferramentas sobre o grafo: </a:t>
            </a:r>
            <a:r>
              <a:rPr sz="1800" b="0">
                <a:solidFill>
                  <a:srgbClr val="222222"/>
                </a:solidFill>
                <a:latin typeface="Arial"/>
              </a:rPr>
              <a:t>83% a 89% em todos os modelos.</a:t>
            </a:r>
          </a:p>
          <a:p>
            <a:pPr>
              <a:spcAft>
                <a:spcPts val="1200"/>
              </a:spcAft>
            </a:pPr>
            <a:r>
              <a:rPr sz="1800" b="1">
                <a:solidFill>
                  <a:srgbClr val="1F5C99"/>
                </a:solidFill>
                <a:latin typeface="Arial"/>
              </a:rPr>
              <a:t>• </a:t>
            </a:r>
            <a:r>
              <a:rPr sz="1800" b="1">
                <a:solidFill>
                  <a:srgbClr val="222222"/>
                </a:solidFill>
                <a:latin typeface="Arial"/>
              </a:rPr>
              <a:t>Consulta: </a:t>
            </a:r>
            <a:r>
              <a:rPr sz="1800" b="0">
                <a:solidFill>
                  <a:srgbClr val="222222"/>
                </a:solidFill>
                <a:latin typeface="Arial"/>
              </a:rPr>
              <a:t>57% a 70% nos menores; 89% a 94% nos maiores.</a:t>
            </a:r>
          </a:p>
          <a:p>
            <a:pPr>
              <a:spcAft>
                <a:spcPts val="1200"/>
              </a:spcAft>
            </a:pPr>
            <a:r>
              <a:rPr sz="1800" b="1">
                <a:solidFill>
                  <a:srgbClr val="1F5C99"/>
                </a:solidFill>
                <a:latin typeface="Arial"/>
              </a:rPr>
              <a:t>• </a:t>
            </a:r>
            <a:r>
              <a:rPr sz="1800" b="1">
                <a:solidFill>
                  <a:srgbClr val="222222"/>
                </a:solidFill>
                <a:latin typeface="Arial"/>
              </a:rPr>
              <a:t>Contexto longo: </a:t>
            </a:r>
            <a:r>
              <a:rPr sz="1800" b="0">
                <a:solidFill>
                  <a:srgbClr val="222222"/>
                </a:solidFill>
                <a:latin typeface="Arial"/>
              </a:rPr>
              <a:t>40% a 45% nos menores; 72% a 85% nos maiores, com mais tokens de saída e tempo.</a:t>
            </a:r>
          </a:p>
          <a:p>
            <a:pPr>
              <a:spcAft>
                <a:spcPts val="1200"/>
              </a:spcAft>
            </a:pPr>
            <a:r>
              <a:rPr sz="1800" b="1">
                <a:solidFill>
                  <a:srgbClr val="1F5C99"/>
                </a:solidFill>
                <a:latin typeface="Arial"/>
              </a:rPr>
              <a:t>• </a:t>
            </a:r>
            <a:r>
              <a:rPr sz="1800" b="1">
                <a:solidFill>
                  <a:srgbClr val="222222"/>
                </a:solidFill>
                <a:latin typeface="Arial"/>
              </a:rPr>
              <a:t>Busca vetorial e Estatísticas resumidas: </a:t>
            </a:r>
            <a:r>
              <a:rPr sz="1800" b="0">
                <a:solidFill>
                  <a:srgbClr val="222222"/>
                </a:solidFill>
                <a:latin typeface="Arial"/>
              </a:rPr>
              <a:t>9% a 17% e 0% a 9%.</a:t>
            </a:r>
          </a:p>
        </p:txBody>
      </p:sp>
      <p:sp>
        <p:nvSpPr>
          <p:cNvPr id="7" name="TextBox 6"/>
          <p:cNvSpPr txBox="1"/>
          <p:nvPr/>
        </p:nvSpPr>
        <p:spPr>
          <a:xfrm>
            <a:off x="6400800" y="1463040"/>
            <a:ext cx="512064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Limitações</a:t>
            </a:r>
          </a:p>
        </p:txBody>
      </p:sp>
      <p:sp>
        <p:nvSpPr>
          <p:cNvPr id="8" name="TextBox 7"/>
          <p:cNvSpPr txBox="1"/>
          <p:nvPr/>
        </p:nvSpPr>
        <p:spPr>
          <a:xfrm>
            <a:off x="6400800" y="2011680"/>
            <a:ext cx="512064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Uma partida e 1 repetição </a:t>
            </a:r>
            <a:r>
              <a:rPr sz="1800" b="0">
                <a:solidFill>
                  <a:srgbClr val="222222"/>
                </a:solidFill>
                <a:latin typeface="Arial"/>
              </a:rPr>
              <a:t>por pergunta; 47 perguntas com resposta e intervalos largos.</a:t>
            </a:r>
          </a:p>
          <a:p>
            <a:pPr>
              <a:spcAft>
                <a:spcPts val="1200"/>
              </a:spcAft>
            </a:pPr>
            <a:r>
              <a:rPr sz="1800" b="1">
                <a:solidFill>
                  <a:srgbClr val="1F5C99"/>
                </a:solidFill>
                <a:latin typeface="Arial"/>
              </a:rPr>
              <a:t>• </a:t>
            </a:r>
            <a:r>
              <a:rPr sz="1800" b="1">
                <a:solidFill>
                  <a:srgbClr val="222222"/>
                </a:solidFill>
                <a:latin typeface="Arial"/>
              </a:rPr>
              <a:t>Tamanho e raciocínio </a:t>
            </a:r>
            <a:r>
              <a:rPr sz="1800" b="0">
                <a:solidFill>
                  <a:srgbClr val="222222"/>
                </a:solidFill>
                <a:latin typeface="Arial"/>
              </a:rPr>
              <a:t>vieram juntos nos modelos maiores.</a:t>
            </a:r>
          </a:p>
          <a:p>
            <a:pPr>
              <a:spcAft>
                <a:spcPts val="1200"/>
              </a:spcAft>
            </a:pPr>
            <a:r>
              <a:rPr sz="1800" b="1">
                <a:solidFill>
                  <a:srgbClr val="1F5C99"/>
                </a:solidFill>
                <a:latin typeface="Arial"/>
              </a:rPr>
              <a:t>• </a:t>
            </a:r>
            <a:r>
              <a:rPr sz="1800" b="1">
                <a:solidFill>
                  <a:srgbClr val="222222"/>
                </a:solidFill>
                <a:latin typeface="Arial"/>
              </a:rPr>
              <a:t>Ferramentas e perguntas dos mesmos autores: </a:t>
            </a:r>
            <a:r>
              <a:rPr sz="1800" b="0">
                <a:solidFill>
                  <a:srgbClr val="222222"/>
                </a:solidFill>
                <a:latin typeface="Arial"/>
              </a:rPr>
              <a:t>o acerto vale dentro da cobertura das ferramentas.</a:t>
            </a:r>
          </a:p>
          <a:p>
            <a:pPr>
              <a:spcAft>
                <a:spcPts val="1200"/>
              </a:spcAft>
            </a:pPr>
            <a:r>
              <a:rPr sz="1800" b="1">
                <a:solidFill>
                  <a:srgbClr val="1F5C99"/>
                </a:solidFill>
                <a:latin typeface="Arial"/>
              </a:rPr>
              <a:t>• </a:t>
            </a:r>
            <a:r>
              <a:rPr sz="1800" b="1">
                <a:solidFill>
                  <a:srgbClr val="222222"/>
                </a:solidFill>
                <a:latin typeface="Arial"/>
              </a:rPr>
              <a:t>Ferramentas, grafo ou algoritmos de grafo? </a:t>
            </a:r>
            <a:r>
              <a:rPr sz="1800" b="0">
                <a:solidFill>
                  <a:srgbClr val="222222"/>
                </a:solidFill>
                <a:latin typeface="Arial"/>
              </a:rPr>
              <a:t>Separar é trabalho futuro.</a:t>
            </a:r>
          </a:p>
          <a:p>
            <a:pPr>
              <a:spcAft>
                <a:spcPts val="1200"/>
              </a:spcAft>
            </a:pPr>
            <a:r>
              <a:rPr sz="1800" b="1">
                <a:solidFill>
                  <a:srgbClr val="1F5C99"/>
                </a:solidFill>
                <a:latin typeface="Arial"/>
              </a:rPr>
              <a:t>• </a:t>
            </a:r>
            <a:r>
              <a:rPr sz="1800" b="1">
                <a:solidFill>
                  <a:srgbClr val="222222"/>
                </a:solidFill>
                <a:latin typeface="Arial"/>
              </a:rPr>
              <a:t>Agentes </a:t>
            </a:r>
            <a:r>
              <a:rPr sz="1800" b="0">
                <a:solidFill>
                  <a:srgbClr val="222222"/>
                </a:solidFill>
                <a:latin typeface="Arial"/>
              </a:rPr>
              <a:t>supõem chamada de ferramenta confiável.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Próximos passos: mais evidência, efeitos separados e outros domínios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14 / 15</a:t>
            </a:r>
          </a:p>
        </p:txBody>
      </p:sp>
      <p:sp>
        <p:nvSpPr>
          <p:cNvPr id="5" name="Rectangle 4"/>
          <p:cNvSpPr/>
          <p:nvPr/>
        </p:nvSpPr>
        <p:spPr>
          <a:xfrm>
            <a:off x="640080" y="155448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Mais evidência</a:t>
            </a:r>
          </a:p>
        </p:txBody>
      </p:sp>
      <p:sp>
        <p:nvSpPr>
          <p:cNvPr id="7" name="TextBox 6"/>
          <p:cNvSpPr txBox="1"/>
          <p:nvPr/>
        </p:nvSpPr>
        <p:spPr>
          <a:xfrm>
            <a:off x="77724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Repetir as execuções: medir a variação entre rodadas e testar as diferenças entre abordagens.</a:t>
            </a:r>
          </a:p>
          <a:p>
            <a:pPr>
              <a:spcAft>
                <a:spcPts val="1400"/>
              </a:spcAft>
            </a:pPr>
            <a:r>
              <a:rPr sz="1800" b="1">
                <a:solidFill>
                  <a:srgbClr val="1F5C99"/>
                </a:solidFill>
                <a:latin typeface="Arial"/>
              </a:rPr>
              <a:t>• </a:t>
            </a:r>
            <a:r>
              <a:rPr sz="1800" b="0">
                <a:solidFill>
                  <a:srgbClr val="222222"/>
                </a:solidFill>
                <a:latin typeface="Arial"/>
              </a:rPr>
              <a:t>Estender as perguntas a várias partidas.</a:t>
            </a:r>
          </a:p>
        </p:txBody>
      </p:sp>
      <p:sp>
        <p:nvSpPr>
          <p:cNvPr id="8" name="Rectangle 7"/>
          <p:cNvSpPr/>
          <p:nvPr/>
        </p:nvSpPr>
        <p:spPr>
          <a:xfrm>
            <a:off x="4343400" y="155448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Separar os efeitos</a:t>
            </a:r>
          </a:p>
        </p:txBody>
      </p:sp>
      <p:sp>
        <p:nvSpPr>
          <p:cNvPr id="10" name="TextBox 9"/>
          <p:cNvSpPr txBox="1"/>
          <p:nvPr/>
        </p:nvSpPr>
        <p:spPr>
          <a:xfrm>
            <a:off x="448056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Modelos maiores sem raciocínio estendido: tamanho ou raciocínio?</a:t>
            </a:r>
          </a:p>
          <a:p>
            <a:pPr>
              <a:spcAft>
                <a:spcPts val="1400"/>
              </a:spcAft>
            </a:pPr>
            <a:r>
              <a:rPr sz="1800" b="1">
                <a:solidFill>
                  <a:srgbClr val="1F5C99"/>
                </a:solidFill>
                <a:latin typeface="Arial"/>
              </a:rPr>
              <a:t>• </a:t>
            </a:r>
            <a:r>
              <a:rPr sz="1800" b="0">
                <a:solidFill>
                  <a:srgbClr val="222222"/>
                </a:solidFill>
                <a:latin typeface="Arial"/>
              </a:rPr>
              <a:t>As mesmas ferramentas sobre uma tabela, sem o grafo: ferramentas ou grafo?</a:t>
            </a:r>
          </a:p>
          <a:p>
            <a:pPr>
              <a:spcAft>
                <a:spcPts val="1400"/>
              </a:spcAft>
            </a:pPr>
            <a:r>
              <a:rPr sz="1800" b="1">
                <a:solidFill>
                  <a:srgbClr val="1F5C99"/>
                </a:solidFill>
                <a:latin typeface="Arial"/>
              </a:rPr>
              <a:t>• </a:t>
            </a:r>
            <a:r>
              <a:rPr sz="1800" b="0">
                <a:solidFill>
                  <a:srgbClr val="222222"/>
                </a:solidFill>
                <a:latin typeface="Arial"/>
              </a:rPr>
              <a:t>Busca vetorial com os eventos vizinhos em cada trecho.</a:t>
            </a:r>
          </a:p>
        </p:txBody>
      </p:sp>
      <p:sp>
        <p:nvSpPr>
          <p:cNvPr id="11" name="Rectangle 10"/>
          <p:cNvSpPr/>
          <p:nvPr/>
        </p:nvSpPr>
        <p:spPr>
          <a:xfrm>
            <a:off x="8046720" y="1554480"/>
            <a:ext cx="3474720" cy="4206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8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Outros domínios</a:t>
            </a:r>
          </a:p>
        </p:txBody>
      </p:sp>
      <p:sp>
        <p:nvSpPr>
          <p:cNvPr id="13" name="TextBox 12"/>
          <p:cNvSpPr txBox="1"/>
          <p:nvPr/>
        </p:nvSpPr>
        <p:spPr>
          <a:xfrm>
            <a:off x="818388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Dados industriais: registros de eventos com agente, momento e local, como paradas, alertas e movimentações.</a:t>
            </a:r>
          </a:p>
          <a:p>
            <a:pPr>
              <a:spcAft>
                <a:spcPts val="1400"/>
              </a:spcAft>
            </a:pPr>
            <a:r>
              <a:rPr sz="1800" b="1">
                <a:solidFill>
                  <a:srgbClr val="1F5C99"/>
                </a:solidFill>
                <a:latin typeface="Arial"/>
              </a:rPr>
              <a:t>• </a:t>
            </a:r>
            <a:r>
              <a:rPr sz="1800" b="0">
                <a:solidFill>
                  <a:srgbClr val="222222"/>
                </a:solidFill>
                <a:latin typeface="Arial"/>
              </a:rPr>
              <a:t>Exige preparação dos dados, grafo e ferramentas próprios do domínio.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194560"/>
            <a:ext cx="109728" cy="14630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03120"/>
            <a:ext cx="10058400" cy="1645920"/>
          </a:xfrm>
          <a:prstGeom prst="rect">
            <a:avLst/>
          </a:prstGeom>
          <a:noFill/>
        </p:spPr>
        <p:txBody>
          <a:bodyPr wrap="square" anchor="t" lIns="45720" rIns="45720">
            <a:spAutoFit/>
          </a:bodyPr>
          <a:lstStyle/>
          <a:p>
            <a:pPr algn="l">
              <a:spcAft>
                <a:spcPts val="600"/>
              </a:spcAft>
            </a:pPr>
            <a:r>
              <a:rPr sz="5400" b="1">
                <a:solidFill>
                  <a:srgbClr val="FFFFFF"/>
                </a:solidFill>
                <a:latin typeface="Arial"/>
              </a:rPr>
              <a:t>Perguntas</a:t>
            </a:r>
          </a:p>
        </p:txBody>
      </p:sp>
      <p:sp>
        <p:nvSpPr>
          <p:cNvPr id="5" name="TextBox 4"/>
          <p:cNvSpPr txBox="1"/>
          <p:nvPr/>
        </p:nvSpPr>
        <p:spPr>
          <a:xfrm>
            <a:off x="1005840" y="4023360"/>
            <a:ext cx="10058400" cy="1645920"/>
          </a:xfrm>
          <a:prstGeom prst="rect">
            <a:avLst/>
          </a:prstGeom>
          <a:noFill/>
        </p:spPr>
        <p:txBody>
          <a:bodyPr wrap="square" anchor="t" lIns="45720" rIns="45720">
            <a:spAutoFit/>
          </a:bodyPr>
          <a:lstStyle/>
          <a:p>
            <a:pPr algn="l">
              <a:spcAft>
                <a:spcPts val="600"/>
              </a:spcAft>
            </a:pPr>
            <a:r>
              <a:rPr sz="1800" b="0">
                <a:solidFill>
                  <a:srgbClr val="BBBBBB"/>
                </a:solidFill>
                <a:latin typeface="Arial"/>
              </a:rPr>
              <a:t>Código, perguntas e gabarito:</a:t>
            </a:r>
          </a:p>
          <a:p>
            <a:pPr algn="l">
              <a:spcAft>
                <a:spcPts val="600"/>
              </a:spcAft>
            </a:pPr>
            <a:r>
              <a:rPr sz="2000" b="0">
                <a:solidFill>
                  <a:srgbClr val="FFFFFF"/>
                </a:solidFill>
                <a:latin typeface="Arial"/>
              </a:rPr>
              <a:t>github.com/joaowinderfeldbussolotto/football-tactics-knowledge-graph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