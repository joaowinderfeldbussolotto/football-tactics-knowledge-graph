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400" b="1">
                    <a:solidFill>
                      <a:srgbClr val="222222"/>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14</c:v>
                </c:pt>
                <c:pt idx="1">
                  <c:v>15</c:v>
                </c:pt>
                <c:pt idx="2">
                  <c:v>11</c:v>
                </c:pt>
                <c:pt idx="3">
                  <c:v>8</c:v>
                </c:pt>
              </c:numLit>
            </c:plus>
            <c:minus>
              <c:numLit>
                <c:formatCode>General</c:formatCode>
                <c:ptCount val="4"/>
                <c:pt idx="0">
                  <c:v>14</c:v>
                </c:pt>
                <c:pt idx="1">
                  <c:v>12</c:v>
                </c:pt>
                <c:pt idx="2">
                  <c:v>14</c:v>
                </c:pt>
                <c:pt idx="3">
                  <c:v>13</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45</c:v>
                </c:pt>
                <c:pt idx="1">
                  <c:v>40</c:v>
                </c:pt>
                <c:pt idx="2">
                  <c:v>72</c:v>
                </c:pt>
                <c:pt idx="3">
                  <c:v>85</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11</c:v>
                </c:pt>
                <c:pt idx="1">
                  <c:v>13</c:v>
                </c:pt>
                <c:pt idx="2">
                  <c:v>6</c:v>
                </c:pt>
                <c:pt idx="3">
                  <c:v>4</c:v>
                </c:pt>
              </c:numLit>
            </c:plus>
            <c:minus>
              <c:numLit>
                <c:formatCode>General</c:formatCode>
                <c:ptCount val="4"/>
                <c:pt idx="0">
                  <c:v>14</c:v>
                </c:pt>
                <c:pt idx="1">
                  <c:v>14</c:v>
                </c:pt>
                <c:pt idx="2">
                  <c:v>12</c:v>
                </c:pt>
                <c:pt idx="3">
                  <c:v>11</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70</c:v>
                </c:pt>
                <c:pt idx="1">
                  <c:v>57</c:v>
                </c:pt>
                <c:pt idx="2">
                  <c:v>89</c:v>
                </c:pt>
                <c:pt idx="3">
                  <c:v>94</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7</c:v>
                </c:pt>
                <c:pt idx="1">
                  <c:v>8</c:v>
                </c:pt>
                <c:pt idx="2">
                  <c:v>6</c:v>
                </c:pt>
                <c:pt idx="3">
                  <c:v>6</c:v>
                </c:pt>
              </c:numLit>
            </c:plus>
            <c:minus>
              <c:numLit>
                <c:formatCode>General</c:formatCode>
                <c:ptCount val="4"/>
                <c:pt idx="0">
                  <c:v>12</c:v>
                </c:pt>
                <c:pt idx="1">
                  <c:v>13</c:v>
                </c:pt>
                <c:pt idx="2">
                  <c:v>12</c:v>
                </c:pt>
                <c:pt idx="3">
                  <c:v>12</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87</c:v>
                </c:pt>
                <c:pt idx="1">
                  <c:v>83</c:v>
                </c:pt>
                <c:pt idx="2">
                  <c:v>89</c:v>
                </c:pt>
                <c:pt idx="3">
                  <c:v>89</c:v>
                </c:pt>
              </c:numCache>
            </c:numRef>
          </c:val>
        </c:ser>
        <c:gapWidth val="7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Acerto (%)</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a transformação dos eventos em uma tabela de ações e em um grafo, o conjunto de perguntas com gabarito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Tabela de posicionamento do artigo. No esporte, os primeiros conjuntos (SportQA) medem o que o modelo sabe, sem dados de uma partida, com múltipla escolha. SoccerAgent usa um agente com ferramentas sobre uma base de conhecimento. SoccerRAG e SPORTSQL escrevem SQL, sobre anotações de partidas e sobre estatísticas de jogadores; Tzikas et al. usam recuperação vetorial sobre eventos, com um LLM como juiz. Cada um avalia uma única forma de recuperação. Fora do esporte, Li et al. e LOFT comparam recuperação e contexto longo, mas sem dados esportivos. A última linha não está na tabela do artigo: resume a lacuna que o artigo aponta no fim da seção, a de que não foram encontrados trabalhos que comparem formas de recuperação em perguntas encadeadas sobre eventos de futebol, com conferência por código contra um gabarito calculado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A figura mostra a grade de 12 por 8 zonas e o passe de Mac Allister para Di María, da zona 74 para a 92, como na Figura 1 do artigo (zonas copiadas dela, não recalculadas). É essa tabela que o Contexto longo entrega ao modelo. O SPADL perde o desfecho da finalização e o cartão sem falta, que foram recuperados do JSON.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separando tentativas e acertos. A abordagem Estatísticas resumidas lê só a súmula; Consulta e Ferramentas leem o grafo. Por que grafo: a análise de futebol trata os passes de um time como uma rede, com os jogadores como nós e os passes como arestas (Buldú et al.; Duch et al.). Perguntas sobre essa rede, como qual dupla mais trocou passes ou por qual jogador mais passa a circulação da bola, viram caminhos e métricas sobre o grafo. Uma tabela relacional também guarda a informação, mas, conforme a organização, seguir uma cadeia de passes pode exigir uma junção a cada passe, e métricas como a intermediação dependeriam de implementação própria.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consulta Cypher parametrizada;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parametrizada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do registro de execuções do Haiku (data/benchmark/claude-haiku-5.5_results.jsonl no repositório novo);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das três abordagens com acesso a todas as ações, com o intervalo de Wilson de 95%. A barra azul é Ferramentas sobre o grafo: 83% a 89% em todos os modelos. Consulta escrita pelo modelo: 57% a 70% nos menores e 89% a 94% nos maiores. Contexto longo: 40% a 45% nos menores e 72% a 85% nos maiores. As outras três ficam baixas e estão no slide 12: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parametrizada e o cálculo no código tiram do modelo o trabalho de juntar eventos espalhados. Nos maiores, com raciocínio estendido, as três se aproximam.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Mediana por execução das três abordagens com acesso a todas as ações.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estudo não separa o efeito do grafo do efeito das ferramentas: uma hipótese não testada é que um banco relacional com as mesmas ferramentas iria bem em busca e contagem e a diferença apareceria nas perguntas de relações;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Três frentes, todas ligadas às limitações. Primeira, mais evidência: repetir as execuções mede a variação entre rodadas e permite testar as diferenças entre abordagens, e estender as perguntas a várias partidas tira a dependência de uma só. Segunda, separar efeitos: avaliar modelos maiores sem raciocínio estendido separa o efeito do tamanho do efeito do raciocínio; aplicar as mesmas ferramentas a um banco relacional (SQL), sem o grafo, separa o efeito das ferramentas do efeito do grafo; e testar uma busca vetorial em que cada trecho traga também os eventos vizinhos, como em Tzikas et al., responde à lacuna da Busca vetorial. Terceira, outros domínios, entre eles os dados industriais: parte deles tem a forma dos dados de futebol, registros de eventos com agente, momento e local, ligados entre si, como as paradas, os alertas e as movimentações de uma linha de produção ou de uma frota. Testar as mesmas abordagens ali é um próximo passo natural para uma pós em IA aplicada à indústria, mas exige implementação própria: a preparação dos dados, o grafo e as ferramentas dependem das perguntas que se quer responder. Em seguida, abrir para as perguntas; as respostas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Qual forma de dar os dados de uma partida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192024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023360"/>
            <a:ext cx="512064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69080"/>
            <a:ext cx="4846320" cy="201168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Eventos transformados em tabela de ações, com contexto, e em grafo.</a:t>
            </a:r>
          </a:p>
          <a:p>
            <a:pPr algn="l">
              <a:spcAft>
                <a:spcPts val="500"/>
              </a:spcAft>
            </a:pPr>
            <a:r>
              <a:rPr sz="1500" b="0">
                <a:solidFill>
                  <a:srgbClr val="222222"/>
                </a:solidFill>
                <a:latin typeface="Arial"/>
              </a:rPr>
              <a:t>52 perguntas com gabarito.</a:t>
            </a:r>
          </a:p>
          <a:p>
            <a:pPr algn="l">
              <a:spcAft>
                <a:spcPts val="500"/>
              </a:spcAft>
            </a:pPr>
            <a:r>
              <a:rPr sz="1500" b="0">
                <a:solidFill>
                  <a:srgbClr val="222222"/>
                </a:solidFill>
                <a:latin typeface="Arial"/>
              </a:rPr>
              <a:t>6 abordagens em 4 modelos, com as mesmas perguntas, prompt e saída.</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Trabalhos relacionados: cada um avalia uma forma de recuperação por vez</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graphicFrame>
        <p:nvGraphicFramePr>
          <p:cNvPr id="5" name="Table 4"/>
          <p:cNvGraphicFramePr>
            <a:graphicFrameLocks noGrp="1"/>
          </p:cNvGraphicFramePr>
          <p:nvPr/>
        </p:nvGraphicFramePr>
        <p:xfrm>
          <a:off x="640080" y="1463040"/>
          <a:ext cx="10881360" cy="4754880"/>
        </p:xfrm>
        <a:graphic>
          <a:graphicData uri="http://schemas.openxmlformats.org/drawingml/2006/table">
            <a:tbl>
              <a:tblPr firstRow="0" bandRow="0">
                <a:tableStyleId>{5C22544A-7EE6-4342-B048-85BDC9FD1C3A}</a:tableStyleId>
              </a:tblPr>
              <a:tblGrid>
                <a:gridCol w="2103120"/>
                <a:gridCol w="3017520"/>
                <a:gridCol w="2926080"/>
                <a:gridCol w="2834640"/>
              </a:tblGrid>
              <a:tr h="528320">
                <a:tc>
                  <a:txBody>
                    <a:bodyPr wrap="square"/>
                    <a:lstStyle/>
                    <a:p>
                      <a:pPr algn="l"/>
                      <a:r>
                        <a:rPr sz="1400" b="1">
                          <a:solidFill>
                            <a:srgbClr val="FFFFFF"/>
                          </a:solidFill>
                          <a:latin typeface="Arial"/>
                        </a:rPr>
                        <a:t>Trabalho</a:t>
                      </a:r>
                    </a:p>
                  </a:txBody>
                  <a:tcPr anchor="ctr">
                    <a:solidFill>
                      <a:srgbClr val="222222"/>
                    </a:solidFill>
                  </a:tcPr>
                </a:tc>
                <a:tc>
                  <a:txBody>
                    <a:bodyPr wrap="square"/>
                    <a:lstStyle/>
                    <a:p>
                      <a:pPr algn="l"/>
                      <a:r>
                        <a:rPr sz="1400" b="1">
                          <a:solidFill>
                            <a:srgbClr val="FFFFFF"/>
                          </a:solidFill>
                          <a:latin typeface="Arial"/>
                        </a:rPr>
                        <a:t>Dados</a:t>
                      </a:r>
                    </a:p>
                  </a:txBody>
                  <a:tcPr anchor="ctr">
                    <a:solidFill>
                      <a:srgbClr val="222222"/>
                    </a:solidFill>
                  </a:tcPr>
                </a:tc>
                <a:tc>
                  <a:txBody>
                    <a:bodyPr wrap="square"/>
                    <a:lstStyle/>
                    <a:p>
                      <a:pPr algn="l"/>
                      <a:r>
                        <a:rPr sz="1400" b="1">
                          <a:solidFill>
                            <a:srgbClr val="FFFFFF"/>
                          </a:solidFill>
                          <a:latin typeface="Arial"/>
                        </a:rPr>
                        <a:t>Formas de recuperação</a:t>
                      </a:r>
                    </a:p>
                  </a:txBody>
                  <a:tcPr anchor="ctr">
                    <a:solidFill>
                      <a:srgbClr val="222222"/>
                    </a:solidFill>
                  </a:tcPr>
                </a:tc>
                <a:tc>
                  <a:txBody>
                    <a:bodyPr wrap="square"/>
                    <a:lstStyle/>
                    <a:p>
                      <a:pPr algn="l"/>
                      <a:r>
                        <a:rPr sz="1400" b="1">
                          <a:solidFill>
                            <a:srgbClr val="FFFFFF"/>
                          </a:solidFill>
                          <a:latin typeface="Arial"/>
                        </a:rPr>
                        <a:t>Conferência</a:t>
                      </a:r>
                    </a:p>
                  </a:txBody>
                  <a:tcPr anchor="ctr">
                    <a:solidFill>
                      <a:srgbClr val="222222"/>
                    </a:solidFill>
                  </a:tcPr>
                </a:tc>
              </a:tr>
              <a:tr h="528320">
                <a:tc>
                  <a:txBody>
                    <a:bodyPr wrap="square"/>
                    <a:lstStyle/>
                    <a:p>
                      <a:pPr algn="l"/>
                      <a:r>
                        <a:rPr sz="1400" b="1">
                          <a:solidFill>
                            <a:srgbClr val="222222"/>
                          </a:solidFill>
                          <a:latin typeface="Arial"/>
                        </a:rPr>
                        <a:t>SportQA</a:t>
                      </a:r>
                    </a:p>
                  </a:txBody>
                  <a:tcPr anchor="ctr">
                    <a:solidFill>
                      <a:srgbClr val="FFFFFF"/>
                    </a:solidFill>
                  </a:tcPr>
                </a:tc>
                <a:tc>
                  <a:txBody>
                    <a:bodyPr wrap="square"/>
                    <a:lstStyle/>
                    <a:p>
                      <a:pPr algn="l"/>
                      <a:r>
                        <a:rPr sz="1400" b="0">
                          <a:solidFill>
                            <a:srgbClr val="222222"/>
                          </a:solidFill>
                          <a:latin typeface="Arial"/>
                        </a:rPr>
                        <a:t>nenhum (memória do modelo)</a:t>
                      </a:r>
                    </a:p>
                  </a:txBody>
                  <a:tcPr anchor="ctr">
                    <a:solidFill>
                      <a:srgbClr val="FFFFFF"/>
                    </a:solidFill>
                  </a:tcPr>
                </a:tc>
                <a:tc>
                  <a:txBody>
                    <a:bodyPr wrap="square"/>
                    <a:lstStyle/>
                    <a:p>
                      <a:pPr algn="l"/>
                      <a:r>
                        <a:rPr sz="1400" b="0">
                          <a:solidFill>
                            <a:srgbClr val="222222"/>
                          </a:solidFill>
                          <a:latin typeface="Arial"/>
                        </a:rPr>
                        <a:t>nenhuma</a:t>
                      </a:r>
                    </a:p>
                  </a:txBody>
                  <a:tcPr anchor="ctr">
                    <a:solidFill>
                      <a:srgbClr val="FFFFFF"/>
                    </a:solidFill>
                  </a:tcPr>
                </a:tc>
                <a:tc>
                  <a:txBody>
                    <a:bodyPr wrap="square"/>
                    <a:lstStyle/>
                    <a:p>
                      <a:pPr algn="l"/>
                      <a:r>
                        <a:rPr sz="1400" b="0">
                          <a:solidFill>
                            <a:srgbClr val="222222"/>
                          </a:solidFill>
                          <a:latin typeface="Arial"/>
                        </a:rPr>
                        <a:t>múltipla escolha</a:t>
                      </a:r>
                    </a:p>
                  </a:txBody>
                  <a:tcPr anchor="ctr">
                    <a:solidFill>
                      <a:srgbClr val="FFFFFF"/>
                    </a:solidFill>
                  </a:tcPr>
                </a:tc>
              </a:tr>
              <a:tr h="528320">
                <a:tc>
                  <a:txBody>
                    <a:bodyPr wrap="square"/>
                    <a:lstStyle/>
                    <a:p>
                      <a:pPr algn="l"/>
                      <a:r>
                        <a:rPr sz="1400" b="1">
                          <a:solidFill>
                            <a:srgbClr val="222222"/>
                          </a:solidFill>
                          <a:latin typeface="Arial"/>
                        </a:rPr>
                        <a:t>SoccerAgent</a:t>
                      </a:r>
                    </a:p>
                  </a:txBody>
                  <a:tcPr anchor="ctr">
                    <a:solidFill>
                      <a:srgbClr val="F2F2F2"/>
                    </a:solidFill>
                  </a:tcPr>
                </a:tc>
                <a:tc>
                  <a:txBody>
                    <a:bodyPr wrap="square"/>
                    <a:lstStyle/>
                    <a:p>
                      <a:pPr algn="l"/>
                      <a:r>
                        <a:rPr sz="1400" b="0">
                          <a:solidFill>
                            <a:srgbClr val="222222"/>
                          </a:solidFill>
                          <a:latin typeface="Arial"/>
                        </a:rPr>
                        <a:t>base de conhecimento, imagens e vídeos</a:t>
                      </a:r>
                    </a:p>
                  </a:txBody>
                  <a:tcPr anchor="ctr">
                    <a:solidFill>
                      <a:srgbClr val="F2F2F2"/>
                    </a:solidFill>
                  </a:tcPr>
                </a:tc>
                <a:tc>
                  <a:txBody>
                    <a:bodyPr wrap="square"/>
                    <a:lstStyle/>
                    <a:p>
                      <a:pPr algn="l"/>
                      <a:r>
                        <a:rPr sz="1400" b="0">
                          <a:solidFill>
                            <a:srgbClr val="222222"/>
                          </a:solidFill>
                          <a:latin typeface="Arial"/>
                        </a:rPr>
                        <a:t>uma (agente com ferramentas)</a:t>
                      </a:r>
                    </a:p>
                  </a:txBody>
                  <a:tcPr anchor="ctr">
                    <a:solidFill>
                      <a:srgbClr val="F2F2F2"/>
                    </a:solidFill>
                  </a:tcPr>
                </a:tc>
                <a:tc>
                  <a:txBody>
                    <a:bodyPr wrap="square"/>
                    <a:lstStyle/>
                    <a:p>
                      <a:pPr algn="l"/>
                      <a:r>
                        <a:rPr sz="1400" b="0">
                          <a:solidFill>
                            <a:srgbClr val="222222"/>
                          </a:solidFill>
                          <a:latin typeface="Arial"/>
                        </a:rPr>
                        <a:t>múltipla escolha</a:t>
                      </a:r>
                    </a:p>
                  </a:txBody>
                  <a:tcPr anchor="ctr">
                    <a:solidFill>
                      <a:srgbClr val="F2F2F2"/>
                    </a:solidFill>
                  </a:tcPr>
                </a:tc>
              </a:tr>
              <a:tr h="528320">
                <a:tc>
                  <a:txBody>
                    <a:bodyPr wrap="square"/>
                    <a:lstStyle/>
                    <a:p>
                      <a:pPr algn="l"/>
                      <a:r>
                        <a:rPr sz="1400" b="1">
                          <a:solidFill>
                            <a:srgbClr val="222222"/>
                          </a:solidFill>
                          <a:latin typeface="Arial"/>
                        </a:rPr>
                        <a:t>SoccerRAG</a:t>
                      </a:r>
                    </a:p>
                  </a:txBody>
                  <a:tcPr anchor="ctr">
                    <a:solidFill>
                      <a:srgbClr val="FFFFFF"/>
                    </a:solidFill>
                  </a:tcPr>
                </a:tc>
                <a:tc>
                  <a:txBody>
                    <a:bodyPr wrap="square"/>
                    <a:lstStyle/>
                    <a:p>
                      <a:pPr algn="l"/>
                      <a:r>
                        <a:rPr sz="1400" b="0">
                          <a:solidFill>
                            <a:srgbClr val="222222"/>
                          </a:solidFill>
                          <a:latin typeface="Arial"/>
                        </a:rPr>
                        <a:t>anotações e comentários de partidas</a:t>
                      </a:r>
                    </a:p>
                  </a:txBody>
                  <a:tcPr anchor="ctr">
                    <a:solidFill>
                      <a:srgbClr val="FFFFFF"/>
                    </a:solidFill>
                  </a:tcPr>
                </a:tc>
                <a:tc>
                  <a:txBody>
                    <a:bodyPr wrap="square"/>
                    <a:lstStyle/>
                    <a:p>
                      <a:pPr algn="l"/>
                      <a:r>
                        <a:rPr sz="1400" b="0">
                          <a:solidFill>
                            <a:srgbClr val="222222"/>
                          </a:solidFill>
                          <a:latin typeface="Arial"/>
                        </a:rPr>
                        <a:t>uma (SQL), em seis configurações</a:t>
                      </a:r>
                    </a:p>
                  </a:txBody>
                  <a:tcPr anchor="ctr">
                    <a:solidFill>
                      <a:srgbClr val="FFFFFF"/>
                    </a:solidFill>
                  </a:tcPr>
                </a:tc>
                <a:tc>
                  <a:txBody>
                    <a:bodyPr wrap="square"/>
                    <a:lstStyle/>
                    <a:p>
                      <a:pPr algn="l"/>
                      <a:r>
                        <a:rPr sz="1400" b="0">
                          <a:solidFill>
                            <a:srgbClr val="222222"/>
                          </a:solidFill>
                          <a:latin typeface="Arial"/>
                        </a:rPr>
                        <a:t>manual, contra SQL escrito à mão</a:t>
                      </a:r>
                    </a:p>
                  </a:txBody>
                  <a:tcPr anchor="ctr">
                    <a:solidFill>
                      <a:srgbClr val="FFFFFF"/>
                    </a:solidFill>
                  </a:tcPr>
                </a:tc>
              </a:tr>
              <a:tr h="528320">
                <a:tc>
                  <a:txBody>
                    <a:bodyPr wrap="square"/>
                    <a:lstStyle/>
                    <a:p>
                      <a:pPr algn="l"/>
                      <a:r>
                        <a:rPr sz="1400" b="1">
                          <a:solidFill>
                            <a:srgbClr val="222222"/>
                          </a:solidFill>
                          <a:latin typeface="Arial"/>
                        </a:rPr>
                        <a:t>SPORTSQL</a:t>
                      </a:r>
                    </a:p>
                  </a:txBody>
                  <a:tcPr anchor="ctr">
                    <a:solidFill>
                      <a:srgbClr val="F2F2F2"/>
                    </a:solidFill>
                  </a:tcPr>
                </a:tc>
                <a:tc>
                  <a:txBody>
                    <a:bodyPr wrap="square"/>
                    <a:lstStyle/>
                    <a:p>
                      <a:pPr algn="l"/>
                      <a:r>
                        <a:rPr sz="1400" b="0">
                          <a:solidFill>
                            <a:srgbClr val="222222"/>
                          </a:solidFill>
                          <a:latin typeface="Arial"/>
                        </a:rPr>
                        <a:t>estatísticas de jogadores e times</a:t>
                      </a:r>
                    </a:p>
                  </a:txBody>
                  <a:tcPr anchor="ctr">
                    <a:solidFill>
                      <a:srgbClr val="F2F2F2"/>
                    </a:solidFill>
                  </a:tcPr>
                </a:tc>
                <a:tc>
                  <a:txBody>
                    <a:bodyPr wrap="square"/>
                    <a:lstStyle/>
                    <a:p>
                      <a:pPr algn="l"/>
                      <a:r>
                        <a:rPr sz="1400" b="0">
                          <a:solidFill>
                            <a:srgbClr val="222222"/>
                          </a:solidFill>
                          <a:latin typeface="Arial"/>
                        </a:rPr>
                        <a:t>uma (SQL)</a:t>
                      </a:r>
                    </a:p>
                  </a:txBody>
                  <a:tcPr anchor="ctr">
                    <a:solidFill>
                      <a:srgbClr val="F2F2F2"/>
                    </a:solidFill>
                  </a:tcPr>
                </a:tc>
                <a:tc>
                  <a:txBody>
                    <a:bodyPr wrap="square"/>
                    <a:lstStyle/>
                    <a:p>
                      <a:pPr algn="l"/>
                      <a:r>
                        <a:rPr sz="1400" b="0">
                          <a:solidFill>
                            <a:srgbClr val="222222"/>
                          </a:solidFill>
                          <a:latin typeface="Arial"/>
                        </a:rPr>
                        <a:t>resposta de referência e LLM como juiz</a:t>
                      </a:r>
                    </a:p>
                  </a:txBody>
                  <a:tcPr anchor="ctr">
                    <a:solidFill>
                      <a:srgbClr val="F2F2F2"/>
                    </a:solidFill>
                  </a:tcPr>
                </a:tc>
              </a:tr>
              <a:tr h="528320">
                <a:tc>
                  <a:txBody>
                    <a:bodyPr wrap="square"/>
                    <a:lstStyle/>
                    <a:p>
                      <a:pPr algn="l"/>
                      <a:r>
                        <a:rPr sz="1400" b="1">
                          <a:solidFill>
                            <a:srgbClr val="222222"/>
                          </a:solidFill>
                          <a:latin typeface="Arial"/>
                        </a:rPr>
                        <a:t>Tzikas et al.</a:t>
                      </a:r>
                    </a:p>
                  </a:txBody>
                  <a:tcPr anchor="ctr">
                    <a:solidFill>
                      <a:srgbClr val="FFFFFF"/>
                    </a:solidFill>
                  </a:tcPr>
                </a:tc>
                <a:tc>
                  <a:txBody>
                    <a:bodyPr wrap="square"/>
                    <a:lstStyle/>
                    <a:p>
                      <a:pPr algn="l"/>
                      <a:r>
                        <a:rPr sz="1400" b="0">
                          <a:solidFill>
                            <a:srgbClr val="222222"/>
                          </a:solidFill>
                          <a:latin typeface="Arial"/>
                        </a:rPr>
                        <a:t>eventos de partidas</a:t>
                      </a:r>
                    </a:p>
                  </a:txBody>
                  <a:tcPr anchor="ctr">
                    <a:solidFill>
                      <a:srgbClr val="FFFFFF"/>
                    </a:solidFill>
                  </a:tcPr>
                </a:tc>
                <a:tc>
                  <a:txBody>
                    <a:bodyPr wrap="square"/>
                    <a:lstStyle/>
                    <a:p>
                      <a:pPr algn="l"/>
                      <a:r>
                        <a:rPr sz="1400" b="0">
                          <a:solidFill>
                            <a:srgbClr val="222222"/>
                          </a:solidFill>
                          <a:latin typeface="Arial"/>
                        </a:rPr>
                        <a:t>uma (recuperação vetorial)</a:t>
                      </a:r>
                    </a:p>
                  </a:txBody>
                  <a:tcPr anchor="ctr">
                    <a:solidFill>
                      <a:srgbClr val="FFFFFF"/>
                    </a:solidFill>
                  </a:tcPr>
                </a:tc>
                <a:tc>
                  <a:txBody>
                    <a:bodyPr wrap="square"/>
                    <a:lstStyle/>
                    <a:p>
                      <a:pPr algn="l"/>
                      <a:r>
                        <a:rPr sz="1400" b="0">
                          <a:solidFill>
                            <a:srgbClr val="222222"/>
                          </a:solidFill>
                          <a:latin typeface="Arial"/>
                        </a:rPr>
                        <a:t>LLM como juiz</a:t>
                      </a:r>
                    </a:p>
                  </a:txBody>
                  <a:tcPr anchor="ctr">
                    <a:solidFill>
                      <a:srgbClr val="FFFFFF"/>
                    </a:solidFill>
                  </a:tcPr>
                </a:tc>
              </a:tr>
              <a:tr h="528320">
                <a:tc>
                  <a:txBody>
                    <a:bodyPr wrap="square"/>
                    <a:lstStyle/>
                    <a:p>
                      <a:pPr algn="l"/>
                      <a:r>
                        <a:rPr sz="1400" b="1">
                          <a:solidFill>
                            <a:srgbClr val="222222"/>
                          </a:solidFill>
                          <a:latin typeface="Arial"/>
                        </a:rPr>
                        <a:t>Li et al.</a:t>
                      </a:r>
                    </a:p>
                  </a:txBody>
                  <a:tcPr anchor="ctr">
                    <a:solidFill>
                      <a:srgbClr val="F2F2F2"/>
                    </a:solidFill>
                  </a:tcPr>
                </a:tc>
                <a:tc>
                  <a:txBody>
                    <a:bodyPr wrap="square"/>
                    <a:lstStyle/>
                    <a:p>
                      <a:pPr algn="l"/>
                      <a:r>
                        <a:rPr sz="1400" b="0">
                          <a:solidFill>
                            <a:srgbClr val="222222"/>
                          </a:solidFill>
                          <a:latin typeface="Arial"/>
                        </a:rPr>
                        <a:t>textos gerais</a:t>
                      </a:r>
                    </a:p>
                  </a:txBody>
                  <a:tcPr anchor="ctr">
                    <a:solidFill>
                      <a:srgbClr val="F2F2F2"/>
                    </a:solidFill>
                  </a:tcPr>
                </a:tc>
                <a:tc>
                  <a:txBody>
                    <a:bodyPr wrap="square"/>
                    <a:lstStyle/>
                    <a:p>
                      <a:pPr algn="l"/>
                      <a:r>
                        <a:rPr sz="1400" b="0">
                          <a:solidFill>
                            <a:srgbClr val="222222"/>
                          </a:solidFill>
                          <a:latin typeface="Arial"/>
                        </a:rPr>
                        <a:t>duas (recuperação e contexto longo)</a:t>
                      </a:r>
                    </a:p>
                  </a:txBody>
                  <a:tcPr anchor="ctr">
                    <a:solidFill>
                      <a:srgbClr val="F2F2F2"/>
                    </a:solidFill>
                  </a:tcPr>
                </a:tc>
                <a:tc>
                  <a:txBody>
                    <a:bodyPr wrap="square"/>
                    <a:lstStyle/>
                    <a:p>
                      <a:pPr algn="l"/>
                      <a:r>
                        <a:rPr sz="1400" b="0">
                          <a:solidFill>
                            <a:srgbClr val="222222"/>
                          </a:solidFill>
                          <a:latin typeface="Arial"/>
                        </a:rPr>
                        <a:t>métricas dos conjuntos</a:t>
                      </a:r>
                    </a:p>
                  </a:txBody>
                  <a:tcPr anchor="ctr">
                    <a:solidFill>
                      <a:srgbClr val="F2F2F2"/>
                    </a:solidFill>
                  </a:tcPr>
                </a:tc>
              </a:tr>
              <a:tr h="528320">
                <a:tc>
                  <a:txBody>
                    <a:bodyPr wrap="square"/>
                    <a:lstStyle/>
                    <a:p>
                      <a:pPr algn="l"/>
                      <a:r>
                        <a:rPr sz="1400" b="1">
                          <a:solidFill>
                            <a:srgbClr val="222222"/>
                          </a:solidFill>
                          <a:latin typeface="Arial"/>
                        </a:rPr>
                        <a:t>LOFT</a:t>
                      </a:r>
                    </a:p>
                  </a:txBody>
                  <a:tcPr anchor="ctr">
                    <a:solidFill>
                      <a:srgbClr val="FFFFFF"/>
                    </a:solidFill>
                  </a:tcPr>
                </a:tc>
                <a:tc>
                  <a:txBody>
                    <a:bodyPr wrap="square"/>
                    <a:lstStyle/>
                    <a:p>
                      <a:pPr algn="l"/>
                      <a:r>
                        <a:rPr sz="1400" b="0">
                          <a:solidFill>
                            <a:srgbClr val="222222"/>
                          </a:solidFill>
                          <a:latin typeface="Arial"/>
                        </a:rPr>
                        <a:t>textos, tabelas, imagens e áudio</a:t>
                      </a:r>
                    </a:p>
                  </a:txBody>
                  <a:tcPr anchor="ctr">
                    <a:solidFill>
                      <a:srgbClr val="FFFFFF"/>
                    </a:solidFill>
                  </a:tcPr>
                </a:tc>
                <a:tc>
                  <a:txBody>
                    <a:bodyPr wrap="square"/>
                    <a:lstStyle/>
                    <a:p>
                      <a:pPr algn="l"/>
                      <a:r>
                        <a:rPr sz="1400" b="0">
                          <a:solidFill>
                            <a:srgbClr val="222222"/>
                          </a:solidFill>
                          <a:latin typeface="Arial"/>
                        </a:rPr>
                        <a:t>contexto longo contra sistemas especializados</a:t>
                      </a:r>
                    </a:p>
                  </a:txBody>
                  <a:tcPr anchor="ctr">
                    <a:solidFill>
                      <a:srgbClr val="FFFFFF"/>
                    </a:solidFill>
                  </a:tcPr>
                </a:tc>
                <a:tc>
                  <a:txBody>
                    <a:bodyPr wrap="square"/>
                    <a:lstStyle/>
                    <a:p>
                      <a:pPr algn="l"/>
                      <a:r>
                        <a:rPr sz="1400" b="0">
                          <a:solidFill>
                            <a:srgbClr val="222222"/>
                          </a:solidFill>
                          <a:latin typeface="Arial"/>
                        </a:rPr>
                        <a:t>métricas dos conjuntos</a:t>
                      </a:r>
                    </a:p>
                  </a:txBody>
                  <a:tcPr anchor="ctr">
                    <a:solidFill>
                      <a:srgbClr val="FFFFFF"/>
                    </a:solidFill>
                  </a:tcPr>
                </a:tc>
              </a:tr>
              <a:tr h="528320">
                <a:tc>
                  <a:txBody>
                    <a:bodyPr wrap="square"/>
                    <a:lstStyle/>
                    <a:p>
                      <a:pPr algn="l"/>
                      <a:r>
                        <a:rPr sz="1400" b="1">
                          <a:solidFill>
                            <a:srgbClr val="222222"/>
                          </a:solidFill>
                          <a:latin typeface="Arial"/>
                        </a:rPr>
                        <a:t>Este trabalho</a:t>
                      </a:r>
                    </a:p>
                  </a:txBody>
                  <a:tcPr anchor="ctr">
                    <a:solidFill>
                      <a:srgbClr val="E6EEF6"/>
                    </a:solidFill>
                  </a:tcPr>
                </a:tc>
                <a:tc>
                  <a:txBody>
                    <a:bodyPr wrap="square"/>
                    <a:lstStyle/>
                    <a:p>
                      <a:pPr algn="l"/>
                      <a:r>
                        <a:rPr sz="1400" b="0">
                          <a:solidFill>
                            <a:srgbClr val="222222"/>
                          </a:solidFill>
                          <a:latin typeface="Arial"/>
                        </a:rPr>
                        <a:t>eventos de uma partida</a:t>
                      </a:r>
                    </a:p>
                  </a:txBody>
                  <a:tcPr anchor="ctr">
                    <a:solidFill>
                      <a:srgbClr val="E6EEF6"/>
                    </a:solidFill>
                  </a:tcPr>
                </a:tc>
                <a:tc>
                  <a:txBody>
                    <a:bodyPr wrap="square"/>
                    <a:lstStyle/>
                    <a:p>
                      <a:pPr algn="l"/>
                      <a:r>
                        <a:rPr sz="1400" b="0">
                          <a:solidFill>
                            <a:srgbClr val="222222"/>
                          </a:solidFill>
                          <a:latin typeface="Arial"/>
                        </a:rPr>
                        <a:t>6 abordagens, com as mesmas perguntas</a:t>
                      </a:r>
                    </a:p>
                  </a:txBody>
                  <a:tcPr anchor="ctr">
                    <a:solidFill>
                      <a:srgbClr val="E6EEF6"/>
                    </a:solidFill>
                  </a:tcPr>
                </a:tc>
                <a:tc>
                  <a:txBody>
                    <a:bodyPr wrap="square"/>
                    <a:lstStyle/>
                    <a:p>
                      <a:pPr algn="l"/>
                      <a:r>
                        <a:rPr sz="1400" b="0">
                          <a:solidFill>
                            <a:srgbClr val="222222"/>
                          </a:solidFill>
                          <a:latin typeface="Arial"/>
                        </a:rPr>
                        <a:t>por código, contra gabarito calculado por código</a:t>
                      </a:r>
                    </a:p>
                  </a:txBody>
                  <a:tcPr anchor="ctr">
                    <a:solidFill>
                      <a:srgbClr val="E6EEF6"/>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30175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200400"/>
          </a:xfrm>
          <a:prstGeom prst="rect">
            <a:avLst/>
          </a:prstGeom>
          <a:noFill/>
        </p:spPr>
        <p:txBody>
          <a:bodyPr wrap="square">
            <a:spAutoFit/>
          </a:bodyPr>
          <a:lstStyle/>
          <a:p>
            <a:r>
              <a:rPr sz="1400">
                <a:solidFill>
                  <a:srgbClr val="E8E8E8"/>
                </a:solidFill>
                <a:latin typeface="Courier New"/>
              </a:rPr>
              <a:t>{ "type": "Pass", "minute": 35, "second": 20,</a:t>
            </a:r>
          </a:p>
          <a:p>
            <a:r>
              <a:rPr sz="1400">
                <a:solidFill>
                  <a:srgbClr val="E8E8E8"/>
                </a:solidFill>
                <a:latin typeface="Courier New"/>
              </a:rPr>
              <a:t>  "player": "Alexis Mac Allister",</a:t>
            </a:r>
          </a:p>
          <a:p>
            <a:r>
              <a:rPr sz="1400">
                <a:solidFill>
                  <a:srgbClr val="E8E8E8"/>
                </a:solidFill>
                <a:latin typeface="Courier New"/>
              </a:rPr>
              <a:t>  "pass": { "recipient": "Ángel Fabián Di María",</a:t>
            </a:r>
          </a:p>
          <a:p>
            <a:r>
              <a:rPr sz="1400">
                <a:solidFill>
                  <a:srgbClr val="E8E8E8"/>
                </a:solidFill>
                <a:latin typeface="Courier New"/>
              </a:rPr>
              <a:t>            "goal_assist": true } }</a:t>
            </a:r>
          </a:p>
          <a:p>
            <a:r>
              <a:rPr sz="1400">
                <a:solidFill>
                  <a:srgbClr val="E8E8E8"/>
                </a:solidFill>
                <a:latin typeface="Courier New"/>
              </a:rPr>
              <a:t> </a:t>
            </a:r>
          </a:p>
          <a:p>
            <a:r>
              <a:rPr sz="1400">
                <a:solidFill>
                  <a:srgbClr val="E8E8E8"/>
                </a:solidFill>
                <a:latin typeface="Courier New"/>
              </a:rPr>
              <a:t>{ "type": "Shot", "minute": 35, "second": 22,</a:t>
            </a:r>
          </a:p>
          <a:p>
            <a:r>
              <a:rPr sz="1400">
                <a:solidFill>
                  <a:srgbClr val="E8E8E8"/>
                </a:solidFill>
                <a:latin typeface="Courier New"/>
              </a:rPr>
              <a:t>  "team": "Argentina",</a:t>
            </a:r>
          </a:p>
          <a:p>
            <a:r>
              <a:rPr sz="1400">
                <a:solidFill>
                  <a:srgbClr val="E8E8E8"/>
                </a:solidFill>
                <a:latin typeface="Courier New"/>
              </a:rPr>
              <a:t>  "player": "Ángel Fabián Di María",</a:t>
            </a:r>
          </a:p>
          <a:p>
            <a:r>
              <a:rPr sz="1400">
                <a:solidFill>
                  <a:srgbClr val="E8E8E8"/>
                </a:solidFill>
                <a:latin typeface="Courier New"/>
              </a:rPr>
              <a:t>  "shot": { "outcome": "Goal",</a:t>
            </a:r>
          </a:p>
          <a:p>
            <a:r>
              <a:rPr sz="14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10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10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10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10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10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423160"/>
          <a:ext cx="6766560" cy="3749039"/>
        </p:xfrm>
        <a:graphic>
          <a:graphicData uri="http://schemas.openxmlformats.org/drawingml/2006/table">
            <a:tbl>
              <a:tblPr firstRow="0" bandRow="0">
                <a:tableStyleId>{5C22544A-7EE6-4342-B048-85BDC9FD1C3A}</a:tableStyleId>
              </a:tblPr>
              <a:tblGrid>
                <a:gridCol w="2514600"/>
                <a:gridCol w="4251960"/>
              </a:tblGrid>
              <a:tr h="535577">
                <a:tc>
                  <a:txBody>
                    <a:bodyPr wrap="square"/>
                    <a:lstStyle/>
                    <a:p>
                      <a:pPr algn="l"/>
                      <a:r>
                        <a:rPr sz="1500" b="1">
                          <a:solidFill>
                            <a:srgbClr val="FFFFFF"/>
                          </a:solidFill>
                          <a:latin typeface="Arial"/>
                        </a:rPr>
                        <a:t>Transformação</a:t>
                      </a:r>
                    </a:p>
                  </a:txBody>
                  <a:tcPr anchor="ctr">
                    <a:solidFill>
                      <a:srgbClr val="222222"/>
                    </a:solidFill>
                  </a:tcPr>
                </a:tc>
                <a:tc>
                  <a:txBody>
                    <a:bodyPr wrap="square"/>
                    <a:lstStyle/>
                    <a:p>
                      <a:pPr algn="l"/>
                      <a:r>
                        <a:rPr sz="1500" b="1">
                          <a:solidFill>
                            <a:srgbClr val="FFFFFF"/>
                          </a:solidFill>
                          <a:latin typeface="Arial"/>
                        </a:rPr>
                        <a:t>O que faz</a:t>
                      </a:r>
                    </a:p>
                  </a:txBody>
                  <a:tcPr anchor="ctr">
                    <a:solidFill>
                      <a:srgbClr val="222222"/>
                    </a:solidFill>
                  </a:tcPr>
                </a:tc>
              </a:tr>
              <a:tr h="535577">
                <a:tc>
                  <a:txBody>
                    <a:bodyPr wrap="square"/>
                    <a:lstStyle/>
                    <a:p>
                      <a:pPr algn="l"/>
                      <a:r>
                        <a:rPr sz="1500" b="1">
                          <a:solidFill>
                            <a:srgbClr val="222222"/>
                          </a:solidFill>
                          <a:latin typeface="Arial"/>
                        </a:rPr>
                        <a:t>Direção de ataque</a:t>
                      </a:r>
                    </a:p>
                  </a:txBody>
                  <a:tcPr anchor="ctr">
                    <a:solidFill>
                      <a:srgbClr val="FFFFFF"/>
                    </a:solidFill>
                  </a:tcPr>
                </a:tc>
                <a:tc>
                  <a:txBody>
                    <a:bodyPr wrap="square"/>
                    <a:lstStyle/>
                    <a:p>
                      <a:pPr algn="l"/>
                      <a:r>
                        <a:rPr sz="1500" b="0">
                          <a:solidFill>
                            <a:srgbClr val="222222"/>
                          </a:solidFill>
                          <a:latin typeface="Arial"/>
                        </a:rPr>
                        <a:t>toda ação ataca da esquerda para a direita, nos dois times</a:t>
                      </a:r>
                    </a:p>
                  </a:txBody>
                  <a:tcPr anchor="ctr">
                    <a:solidFill>
                      <a:srgbClr val="FFFFFF"/>
                    </a:solidFill>
                  </a:tcPr>
                </a:tc>
              </a:tr>
              <a:tr h="535577">
                <a:tc>
                  <a:txBody>
                    <a:bodyPr wrap="square"/>
                    <a:lstStyle/>
                    <a:p>
                      <a:pPr algn="l"/>
                      <a:r>
                        <a:rPr sz="1500" b="1">
                          <a:solidFill>
                            <a:srgbClr val="222222"/>
                          </a:solidFill>
                          <a:latin typeface="Arial"/>
                        </a:rPr>
                        <a:t>Zona, terço e corredor</a:t>
                      </a:r>
                    </a:p>
                  </a:txBody>
                  <a:tcPr anchor="ctr">
                    <a:solidFill>
                      <a:srgbClr val="F2F2F2"/>
                    </a:solidFill>
                  </a:tcPr>
                </a:tc>
                <a:tc>
                  <a:txBody>
                    <a:bodyPr wrap="square"/>
                    <a:lstStyle/>
                    <a:p>
                      <a:pPr algn="l"/>
                      <a:r>
                        <a:rPr sz="1500" b="0">
                          <a:solidFill>
                            <a:srgbClr val="222222"/>
                          </a:solidFill>
                          <a:latin typeface="Arial"/>
                        </a:rPr>
                        <a:t>situa o início e o fim de cada ação no campo</a:t>
                      </a:r>
                    </a:p>
                  </a:txBody>
                  <a:tcPr anchor="ctr">
                    <a:solidFill>
                      <a:srgbClr val="F2F2F2"/>
                    </a:solidFill>
                  </a:tcPr>
                </a:tc>
              </a:tr>
              <a:tr h="535577">
                <a:tc>
                  <a:txBody>
                    <a:bodyPr wrap="square"/>
                    <a:lstStyle/>
                    <a:p>
                      <a:pPr algn="l"/>
                      <a:r>
                        <a:rPr sz="1500" b="1">
                          <a:solidFill>
                            <a:srgbClr val="222222"/>
                          </a:solidFill>
                          <a:latin typeface="Arial"/>
                        </a:rPr>
                        <a:t>Recebedor do passe</a:t>
                      </a:r>
                    </a:p>
                  </a:txBody>
                  <a:tcPr anchor="ctr">
                    <a:solidFill>
                      <a:srgbClr val="FFFFFF"/>
                    </a:solidFill>
                  </a:tcPr>
                </a:tc>
                <a:tc>
                  <a:txBody>
                    <a:bodyPr wrap="square"/>
                    <a:lstStyle/>
                    <a:p>
                      <a:pPr algn="l"/>
                      <a:r>
                        <a:rPr sz="1500" b="0">
                          <a:solidFill>
                            <a:srgbClr val="222222"/>
                          </a:solidFill>
                          <a:latin typeface="Arial"/>
                        </a:rPr>
                        <a:t>jogador do mesmo time que age em seguida</a:t>
                      </a:r>
                    </a:p>
                  </a:txBody>
                  <a:tcPr anchor="ctr">
                    <a:solidFill>
                      <a:srgbClr val="FFFFFF"/>
                    </a:solidFill>
                  </a:tcPr>
                </a:tc>
              </a:tr>
              <a:tr h="535577">
                <a:tc>
                  <a:txBody>
                    <a:bodyPr wrap="square"/>
                    <a:lstStyle/>
                    <a:p>
                      <a:pPr algn="l"/>
                      <a:r>
                        <a:rPr sz="1500" b="1">
                          <a:solidFill>
                            <a:srgbClr val="222222"/>
                          </a:solidFill>
                          <a:latin typeface="Arial"/>
                        </a:rPr>
                        <a:t>Fase de posse</a:t>
                      </a:r>
                    </a:p>
                  </a:txBody>
                  <a:tcPr anchor="ctr">
                    <a:solidFill>
                      <a:srgbClr val="F2F2F2"/>
                    </a:solidFill>
                  </a:tcPr>
                </a:tc>
                <a:tc>
                  <a:txBody>
                    <a:bodyPr wrap="square"/>
                    <a:lstStyle/>
                    <a:p>
                      <a:pPr algn="l"/>
                      <a:r>
                        <a:rPr sz="1500" b="0">
                          <a:solidFill>
                            <a:srgbClr val="222222"/>
                          </a:solidFill>
                          <a:latin typeface="Arial"/>
                        </a:rPr>
                        <a:t>agrupa em jogadas as ações seguidas do mesmo time</a:t>
                      </a:r>
                    </a:p>
                  </a:txBody>
                  <a:tcPr anchor="ctr">
                    <a:solidFill>
                      <a:srgbClr val="F2F2F2"/>
                    </a:solidFill>
                  </a:tcPr>
                </a:tc>
              </a:tr>
              <a:tr h="535577">
                <a:tc>
                  <a:txBody>
                    <a:bodyPr wrap="square"/>
                    <a:lstStyle/>
                    <a:p>
                      <a:pPr algn="l"/>
                      <a:r>
                        <a:rPr sz="1500" b="1">
                          <a:solidFill>
                            <a:srgbClr val="222222"/>
                          </a:solidFill>
                          <a:latin typeface="Arial"/>
                        </a:rPr>
                        <a:t>Placar, minuto e período</a:t>
                      </a:r>
                    </a:p>
                  </a:txBody>
                  <a:tcPr anchor="ctr">
                    <a:solidFill>
                      <a:srgbClr val="FFFFFF"/>
                    </a:solidFill>
                  </a:tcPr>
                </a:tc>
                <a:tc>
                  <a:txBody>
                    <a:bodyPr wrap="square"/>
                    <a:lstStyle/>
                    <a:p>
                      <a:pPr algn="l"/>
                      <a:r>
                        <a:rPr sz="1500" b="0">
                          <a:solidFill>
                            <a:srgbClr val="222222"/>
                          </a:solidFill>
                          <a:latin typeface="Arial"/>
                        </a:rPr>
                        <a:t>placar antes de cada ação e minuto da transmissão</a:t>
                      </a:r>
                    </a:p>
                  </a:txBody>
                  <a:tcPr anchor="ctr">
                    <a:solidFill>
                      <a:srgbClr val="FFFFFF"/>
                    </a:solidFill>
                  </a:tcPr>
                </a:tc>
              </a:tr>
              <a:tr h="535577">
                <a:tc>
                  <a:txBody>
                    <a:bodyPr wrap="square"/>
                    <a:lstStyle/>
                    <a:p>
                      <a:pPr algn="l"/>
                      <a:r>
                        <a:rPr sz="1500" b="1">
                          <a:solidFill>
                            <a:srgbClr val="222222"/>
                          </a:solidFill>
                          <a:latin typeface="Arial"/>
                        </a:rPr>
                        <a:t>Dados recuperados do JSON</a:t>
                      </a:r>
                    </a:p>
                  </a:txBody>
                  <a:tcPr anchor="ctr">
                    <a:solidFill>
                      <a:srgbClr val="F2F2F2"/>
                    </a:solidFill>
                  </a:tcPr>
                </a:tc>
                <a:tc>
                  <a:txBody>
                    <a:bodyPr wrap="square"/>
                    <a:lstStyle/>
                    <a:p>
                      <a:pPr algn="l"/>
                      <a:r>
                        <a:rPr sz="1500" b="0">
                          <a:solidFill>
                            <a:srgbClr val="222222"/>
                          </a:solidFill>
                          <a:latin typeface="Arial"/>
                        </a:rPr>
                        <a:t>desfecho da finalização e cartão sem falta</a:t>
                      </a:r>
                    </a:p>
                  </a:txBody>
                  <a:tcPr anchor="ctr">
                    <a:solidFill>
                      <a:srgbClr val="F2F2F2"/>
                    </a:solidFill>
                  </a:tcPr>
                </a:tc>
              </a:tr>
            </a:tbl>
          </a:graphicData>
        </a:graphic>
      </p:graphicFrame>
      <p:sp>
        <p:nvSpPr>
          <p:cNvPr id="13" name="TextBox 12"/>
          <p:cNvSpPr txBox="1"/>
          <p:nvPr/>
        </p:nvSpPr>
        <p:spPr>
          <a:xfrm>
            <a:off x="7635240" y="2423160"/>
            <a:ext cx="4023360" cy="365760"/>
          </a:xfrm>
          <a:prstGeom prst="rect">
            <a:avLst/>
          </a:prstGeom>
          <a:noFill/>
        </p:spPr>
        <p:txBody>
          <a:bodyPr wrap="square" anchor="t" lIns="45720" rIns="45720">
            <a:spAutoFit/>
          </a:bodyPr>
          <a:lstStyle/>
          <a:p>
            <a:pPr algn="ctr">
              <a:spcAft>
                <a:spcPts val="600"/>
              </a:spcAft>
            </a:pPr>
            <a:r>
              <a:rPr sz="1400" b="0">
                <a:solidFill>
                  <a:srgbClr val="666666"/>
                </a:solidFill>
                <a:latin typeface="Arial"/>
              </a:rPr>
              <a:t>Ataque: da esquerda para a direita →</a:t>
            </a:r>
          </a:p>
        </p:txBody>
      </p:sp>
      <p:sp>
        <p:nvSpPr>
          <p:cNvPr id="14" name="Rectangle 13"/>
          <p:cNvSpPr/>
          <p:nvPr/>
        </p:nvSpPr>
        <p:spPr>
          <a:xfrm>
            <a:off x="7726679" y="2880360"/>
            <a:ext cx="3840480" cy="2487168"/>
          </a:xfrm>
          <a:prstGeom prst="rect">
            <a:avLst/>
          </a:prstGeom>
          <a:solidFill>
            <a:srgbClr val="FFFFFF"/>
          </a:solidFill>
          <a:ln w="254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0467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3667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068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469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9669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2870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270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4712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26679" y="319125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26679" y="350215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3813048"/>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26679" y="4123944"/>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26679" y="4434840"/>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726679" y="474573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26679" y="505663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607040" y="3502152"/>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247120" y="4123944"/>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67059" y="3657600"/>
            <a:ext cx="640081" cy="621792"/>
          </a:xfrm>
          <a:prstGeom prst="line">
            <a:avLst/>
          </a:prstGeom>
          <a:ln w="38100">
            <a:solidFill>
              <a:srgbClr val="1F5C99"/>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635240" y="5413248"/>
            <a:ext cx="4023360" cy="640080"/>
          </a:xfrm>
          <a:prstGeom prst="rect">
            <a:avLst/>
          </a:prstGeom>
          <a:noFill/>
        </p:spPr>
        <p:txBody>
          <a:bodyPr wrap="square" anchor="t" lIns="45720" rIns="45720">
            <a:spAutoFit/>
          </a:bodyPr>
          <a:lstStyle/>
          <a:p>
            <a:pPr algn="ctr">
              <a:spcAft>
                <a:spcPts val="600"/>
              </a:spcAft>
            </a:pPr>
            <a:r>
              <a:rPr sz="1400" b="0">
                <a:solidFill>
                  <a:srgbClr val="222222"/>
                </a:solidFill>
                <a:latin typeface="Arial"/>
              </a:rPr>
              <a:t>Grade de 96 zonas; passe da zona 74 para a 92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090672"/>
            <a:ext cx="109728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membro 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0" y="3090672"/>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97280" y="4206240"/>
            <a:ext cx="137160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participou 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069080"/>
            <a:ext cx="150876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tem estatística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0" y="4206240"/>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atuou 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4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4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400" b="0">
                <a:solidFill>
                  <a:srgbClr val="666666"/>
                </a:solidFill>
                <a:latin typeface="Arial"/>
              </a:rPr>
              <a:t>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4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400" b="0">
                <a:solidFill>
                  <a:srgbClr val="666666"/>
                </a:solidFill>
                <a:latin typeface="Arial"/>
              </a:rPr>
              <a:t>Entre jogadores: passou para, deu assistência, pressionou</a:t>
            </a:r>
          </a:p>
          <a:p>
            <a:pPr algn="ctr">
              <a:spcAft>
                <a:spcPts val="200"/>
              </a:spcAft>
            </a:pPr>
            <a:r>
              <a:rPr sz="1400" b="0">
                <a:solidFill>
                  <a:srgbClr val="666666"/>
                </a:solidFill>
                <a:latin typeface="Arial"/>
              </a:rPr>
              <a:t>Entre zonas: progrediu 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Súmula: </a:t>
            </a:r>
            <a:r>
              <a:rPr sz="1600" b="0">
                <a:solidFill>
                  <a:srgbClr val="222222"/>
                </a:solidFill>
                <a:latin typeface="Arial"/>
              </a:rPr>
              <a:t>uma consulta no banco conta, por jogador e por time, tentativas e acertos de cada tipo de ação.</a:t>
            </a:r>
          </a:p>
          <a:p>
            <a:pPr>
              <a:spcAft>
                <a:spcPts val="900"/>
              </a:spcAft>
            </a:pPr>
            <a:r>
              <a:rPr sz="1600" b="1">
                <a:solidFill>
                  <a:srgbClr val="1F5C99"/>
                </a:solidFill>
                <a:latin typeface="Arial"/>
              </a:rPr>
              <a:t>• </a:t>
            </a:r>
            <a:r>
              <a:rPr sz="1600" b="1">
                <a:solidFill>
                  <a:srgbClr val="222222"/>
                </a:solidFill>
                <a:latin typeface="Arial"/>
              </a:rPr>
              <a:t>Por que grafo: </a:t>
            </a:r>
            <a:r>
              <a:rPr sz="1600" b="0">
                <a:solidFill>
                  <a:srgbClr val="222222"/>
                </a:solidFill>
                <a:latin typeface="Arial"/>
              </a:rPr>
              <a:t>a análise de futebol trata os passes como rede; caminhos e métricas de rede viram consultas no grafo.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a partir do JSON bruto e da tabela de ações.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para dar os dados ao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parametrizada, que o modelo chama</a:t>
                      </a:r>
                    </a:p>
                  </a:txBody>
                  <a:tcPr anchor="ctr">
                    <a:solidFill>
                      <a:srgbClr val="E6EEF6"/>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chama run_cypher com a consulta que escreveu:</a:t>
            </a:r>
          </a:p>
        </p:txBody>
      </p:sp>
      <p:sp>
        <p:nvSpPr>
          <p:cNvPr id="11" name="Rectangle 10"/>
          <p:cNvSpPr/>
          <p:nvPr/>
        </p:nvSpPr>
        <p:spPr>
          <a:xfrm>
            <a:off x="77724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2057400"/>
          </a:xfrm>
          <a:prstGeom prst="rect">
            <a:avLst/>
          </a:prstGeom>
          <a:noFill/>
        </p:spPr>
        <p:txBody>
          <a:bodyPr wrap="square">
            <a:spAutoFit/>
          </a:bodyPr>
          <a:lstStyle/>
          <a:p>
            <a:r>
              <a:rPr sz="1300">
                <a:solidFill>
                  <a:srgbClr val="E8E8E8"/>
                </a:solidFill>
                <a:latin typeface="Courier New"/>
              </a:rPr>
              <a:t>MATCH (j:Jogador)-[r:REALIZOU]-&gt;</a:t>
            </a:r>
          </a:p>
          <a:p>
            <a:r>
              <a:rPr sz="1300">
                <a:solidFill>
                  <a:srgbClr val="E8E8E8"/>
                </a:solidFill>
                <a:latin typeface="Courier New"/>
              </a:rPr>
              <a:t>  (p:Partida [...])</a:t>
            </a:r>
          </a:p>
          <a:p>
            <a:r>
              <a:rPr sz="1300">
                <a:solidFill>
                  <a:srgbClr val="E8E8E8"/>
                </a:solidFill>
                <a:latin typeface="Courier New"/>
              </a:rPr>
              <a:t>WHERE j.time = 'Argentina'</a:t>
            </a:r>
          </a:p>
          <a:p>
            <a:r>
              <a:rPr sz="1300">
                <a:solidFill>
                  <a:srgbClr val="E8E8E8"/>
                </a:solidFill>
                <a:latin typeface="Courier New"/>
              </a:rPr>
              <a:t>  AND r.acao = 'passe'</a:t>
            </a:r>
          </a:p>
          <a:p>
            <a:r>
              <a:rPr sz="1300">
                <a:solidFill>
                  <a:srgbClr val="E8E8E8"/>
                </a:solidFill>
                <a:latin typeface="Courier New"/>
              </a:rPr>
              <a:t>  AND r.sucesso = true</a:t>
            </a:r>
          </a:p>
          <a:p>
            <a:r>
              <a:rPr sz="1300">
                <a:solidFill>
                  <a:srgbClr val="E8E8E8"/>
                </a:solidFill>
                <a:latin typeface="Courier New"/>
              </a:rPr>
              <a:t>  AND r.terco = 'ataque' [...]</a:t>
            </a:r>
          </a:p>
          <a:p>
            <a:r>
              <a:rPr sz="1300">
                <a:solidFill>
                  <a:srgbClr val="E8E8E8"/>
                </a:solidFill>
                <a:latin typeface="Courier New"/>
              </a:rPr>
              <a:t>RETURN j.nome AS jogador,</a:t>
            </a:r>
          </a:p>
          <a:p>
            <a:r>
              <a:rPr sz="1300">
                <a:solidFill>
                  <a:srgbClr val="E8E8E8"/>
                </a:solidFill>
                <a:latin typeface="Courier New"/>
              </a:rPr>
              <a:t>  count(r) AS passes_certos_terco_final</a:t>
            </a:r>
          </a:p>
          <a:p>
            <a:r>
              <a:rPr sz="1300">
                <a:solidFill>
                  <a:srgbClr val="E8E8E8"/>
                </a:solidFill>
                <a:latin typeface="Courier New"/>
              </a:rPr>
              <a:t>ORDER BY passes_certos_terco_final DESC</a:t>
            </a:r>
          </a:p>
          <a:p>
            <a:r>
              <a:rPr sz="1300">
                <a:solidFill>
                  <a:srgbClr val="E8E8E8"/>
                </a:solidFill>
                <a:latin typeface="Courier New"/>
              </a:rPr>
              <a:t>LIMIT 10</a:t>
            </a:r>
          </a:p>
        </p:txBody>
      </p:sp>
      <p:sp>
        <p:nvSpPr>
          <p:cNvPr id="13" name="TextBox 12"/>
          <p:cNvSpPr txBox="1"/>
          <p:nvPr/>
        </p:nvSpPr>
        <p:spPr>
          <a:xfrm>
            <a:off x="77724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no grafo e devolve:</a:t>
            </a:r>
          </a:p>
        </p:txBody>
      </p:sp>
      <p:sp>
        <p:nvSpPr>
          <p:cNvPr id="14" name="Rectangle 13"/>
          <p:cNvSpPr/>
          <p:nvPr/>
        </p:nvSpPr>
        <p:spPr>
          <a:xfrm>
            <a:off x="77724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16" name="TextBox 15"/>
          <p:cNvSpPr txBox="1"/>
          <p:nvPr/>
        </p:nvSpPr>
        <p:spPr>
          <a:xfrm>
            <a:off x="77724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escolhe query_actions e preenche os argumentos:</a:t>
            </a:r>
          </a:p>
        </p:txBody>
      </p:sp>
      <p:sp>
        <p:nvSpPr>
          <p:cNvPr id="20" name="Rectangle 19"/>
          <p:cNvSpPr/>
          <p:nvPr/>
        </p:nvSpPr>
        <p:spPr>
          <a:xfrm>
            <a:off x="630936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2057400"/>
          </a:xfrm>
          <a:prstGeom prst="rect">
            <a:avLst/>
          </a:prstGeom>
          <a:noFill/>
        </p:spPr>
        <p:txBody>
          <a:bodyPr wrap="square">
            <a:spAutoFit/>
          </a:bodyPr>
          <a:lstStyle/>
          <a:p>
            <a:r>
              <a:rPr sz="1300">
                <a:solidFill>
                  <a:srgbClr val="E8E8E8"/>
                </a:solidFill>
                <a:latin typeface="Courier New"/>
              </a:rPr>
              <a:t>filters: {team: "Argentina",</a:t>
            </a:r>
          </a:p>
          <a:p>
            <a:r>
              <a:rPr sz="1300">
                <a:solidFill>
                  <a:srgbClr val="E8E8E8"/>
                </a:solidFill>
                <a:latin typeface="Courier New"/>
              </a:rPr>
              <a:t>  action: ["passe"], success: true,</a:t>
            </a:r>
          </a:p>
          <a:p>
            <a:r>
              <a:rPr sz="1300">
                <a:solidFill>
                  <a:srgbClr val="E8E8E8"/>
                </a:solidFill>
                <a:latin typeface="Courier New"/>
              </a:rPr>
              <a:t>  third: "attacking"},</a:t>
            </a:r>
          </a:p>
          <a:p>
            <a:r>
              <a:rPr sz="1300">
                <a:solidFill>
                  <a:srgbClr val="E8E8E8"/>
                </a:solidFill>
                <a:latin typeface="Courier New"/>
              </a:rPr>
              <a:t>group_by: ["player"], metric: "count",</a:t>
            </a:r>
          </a:p>
          <a:p>
            <a:r>
              <a:rPr sz="1300">
                <a:solidFill>
                  <a:srgbClr val="E8E8E8"/>
                </a:solidFill>
                <a:latin typeface="Courier New"/>
              </a:rPr>
              <a:t>top: 5</a:t>
            </a:r>
          </a:p>
        </p:txBody>
      </p:sp>
      <p:sp>
        <p:nvSpPr>
          <p:cNvPr id="22" name="TextBox 21"/>
          <p:cNvSpPr txBox="1"/>
          <p:nvPr/>
        </p:nvSpPr>
        <p:spPr>
          <a:xfrm>
            <a:off x="630936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a consulta parametrizada e devolve:</a:t>
            </a:r>
          </a:p>
        </p:txBody>
      </p:sp>
      <p:sp>
        <p:nvSpPr>
          <p:cNvPr id="23" name="Rectangle 22"/>
          <p:cNvSpPr/>
          <p:nvPr/>
        </p:nvSpPr>
        <p:spPr>
          <a:xfrm>
            <a:off x="630936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25" name="TextBox 24"/>
          <p:cNvSpPr txBox="1"/>
          <p:nvPr/>
        </p:nvSpPr>
        <p:spPr>
          <a:xfrm>
            <a:off x="630936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Barras de erro: intervalo de Wilson de 95%. Uma repetição por pergunta.</a:t>
            </a:r>
          </a:p>
        </p:txBody>
      </p:sp>
      <p:sp>
        <p:nvSpPr>
          <p:cNvPr id="6" name="TextBox 5"/>
          <p:cNvSpPr txBox="1"/>
          <p:nvPr/>
        </p:nvSpPr>
        <p:spPr>
          <a:xfrm>
            <a:off x="640080" y="1325880"/>
            <a:ext cx="10881360" cy="1005840"/>
          </a:xfrm>
          <a:prstGeom prst="rect">
            <a:avLst/>
          </a:prstGeom>
          <a:noFill/>
        </p:spPr>
        <p:txBody>
          <a:bodyPr wrap="square" anchor="t" lIns="45720" rIns="45720">
            <a:spAutoFit/>
          </a:bodyPr>
          <a:lstStyle/>
          <a:p>
            <a:pPr algn="l">
              <a:spcAft>
                <a:spcPts val="200"/>
              </a:spcAft>
            </a:pPr>
            <a:r>
              <a:rPr sz="14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400" b="0">
                <a:solidFill>
                  <a:srgbClr val="666666"/>
                </a:solidFill>
                <a:latin typeface="Arial"/>
              </a:rPr>
              <a:t>52 perguntas × 6 abordagens = 312 execuções por modelo, 1 repetição por pergunta. Diferenças lidas como indícios.</a:t>
            </a:r>
          </a:p>
        </p:txBody>
      </p:sp>
      <p:graphicFrame>
        <p:nvGraphicFramePr>
          <p:cNvPr id="7" name="Chart 6"/>
          <p:cNvGraphicFramePr>
            <a:graphicFrameLocks noGrp="1"/>
          </p:cNvGraphicFramePr>
          <p:nvPr/>
        </p:nvGraphicFramePr>
        <p:xfrm>
          <a:off x="457200" y="2286000"/>
          <a:ext cx="11247120" cy="3703320"/>
        </p:xfrm>
        <a:graphic>
          <a:graphicData uri="http://schemas.openxmlformats.org/drawingml/2006/chart">
            <c:chart xmlns:c="http://schemas.openxmlformats.org/drawingml/2006/chart" r:id="rId3"/>
          </a:graphicData>
        </a:graphic>
      </p:graphicFrame>
      <p:sp>
        <p:nvSpPr>
          <p:cNvPr id="8" name="TextBox 7"/>
          <p:cNvSpPr txBox="1"/>
          <p:nvPr/>
        </p:nvSpPr>
        <p:spPr>
          <a:xfrm>
            <a:off x="640080" y="5989320"/>
            <a:ext cx="1088136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As outras três abordagens não passam de 17% em nenhum modelo (slide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800"/>
              </a:spcAft>
            </a:pPr>
            <a:r>
              <a:rPr sz="1800" b="1">
                <a:solidFill>
                  <a:srgbClr val="1F5C99"/>
                </a:solidFill>
                <a:latin typeface="Arial"/>
              </a:rPr>
              <a:t>Leitura</a:t>
            </a:r>
          </a:p>
          <a:p>
            <a:pPr algn="l">
              <a:spcAft>
                <a:spcPts val="800"/>
              </a:spcAft>
            </a:pPr>
            <a:r>
              <a:rPr sz="1500" b="0">
                <a:solidFill>
                  <a:srgbClr val="222222"/>
                </a:solidFill>
                <a:latin typeface="Arial"/>
              </a:rPr>
              <a:t>Ferramentas: o modelo escolhe ferramenta e argumentos; o código monta e executa a consulta.</a:t>
            </a:r>
          </a:p>
          <a:p>
            <a:pPr algn="l">
              <a:spcAft>
                <a:spcPts val="800"/>
              </a:spcAft>
            </a:pPr>
            <a:r>
              <a:rPr sz="1500" b="0">
                <a:solidFill>
                  <a:srgbClr val="222222"/>
                </a:solidFill>
                <a:latin typeface="Arial"/>
              </a:rPr>
              <a:t>Consulta: a liberdade de escrever o Cypher só virou acerto nos modelos maiores.</a:t>
            </a:r>
          </a:p>
          <a:p>
            <a:pPr algn="l">
              <a:spcAft>
                <a:spcPts val="800"/>
              </a:spcAft>
            </a:pPr>
            <a:r>
              <a:rPr sz="1500" b="0">
                <a:solidFill>
                  <a:srgbClr val="222222"/>
                </a:solidFill>
                <a:latin typeface="Arial"/>
              </a:rPr>
              <a:t>Contexto longo: o modelo acha e combina as linhas certas na tabela inteira.</a:t>
            </a:r>
          </a:p>
          <a:p>
            <a:pPr algn="l">
              <a:spcAft>
                <a:spcPts val="800"/>
              </a:spcAft>
            </a:pPr>
            <a:r>
              <a:rPr sz="1500" b="1">
                <a:solidFill>
                  <a:srgbClr val="222222"/>
                </a:solidFill>
                <a:latin typeface="Arial"/>
              </a:rPr>
              <a:t>Contrapartida: Ferramentas só respondem ao que as ferramentas cobrem.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4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4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Grafo ou banco relacional? </a:t>
            </a:r>
            <a:r>
              <a:rPr sz="1800" b="0">
                <a:solidFill>
                  <a:srgbClr val="222222"/>
                </a:solidFill>
                <a:latin typeface="Arial"/>
              </a:rPr>
              <a:t>Hipótese não testada: a diferença apareceria nas perguntas de relações.</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15 / 15</a:t>
            </a:r>
          </a:p>
        </p:txBody>
      </p:sp>
      <p:sp>
        <p:nvSpPr>
          <p:cNvPr id="5" name="Rectangle 4"/>
          <p:cNvSpPr/>
          <p:nvPr/>
        </p:nvSpPr>
        <p:spPr>
          <a:xfrm>
            <a:off x="64008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Repetir as execuções: medir a variação entre rodadas e testar as diferenças entre abordagens.</a:t>
            </a:r>
          </a:p>
          <a:p>
            <a:pPr>
              <a:spcAft>
                <a:spcPts val="1000"/>
              </a:spcAft>
            </a:pPr>
            <a:r>
              <a:rPr sz="1600" b="1">
                <a:solidFill>
                  <a:srgbClr val="1F5C99"/>
                </a:solidFill>
                <a:latin typeface="Arial"/>
              </a:rPr>
              <a:t>• </a:t>
            </a:r>
            <a:r>
              <a:rPr sz="1600" b="0">
                <a:solidFill>
                  <a:srgbClr val="222222"/>
                </a:solidFill>
                <a:latin typeface="Arial"/>
              </a:rPr>
              <a:t>Estender as perguntas a várias partidas.</a:t>
            </a:r>
          </a:p>
        </p:txBody>
      </p:sp>
      <p:sp>
        <p:nvSpPr>
          <p:cNvPr id="8" name="Rectangle 7"/>
          <p:cNvSpPr/>
          <p:nvPr/>
        </p:nvSpPr>
        <p:spPr>
          <a:xfrm>
            <a:off x="434340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Modelos maiores sem raciocínio estendido: tamanho ou raciocínio?</a:t>
            </a:r>
          </a:p>
          <a:p>
            <a:pPr>
              <a:spcAft>
                <a:spcPts val="1000"/>
              </a:spcAft>
            </a:pPr>
            <a:r>
              <a:rPr sz="1600" b="1">
                <a:solidFill>
                  <a:srgbClr val="1F5C99"/>
                </a:solidFill>
                <a:latin typeface="Arial"/>
              </a:rPr>
              <a:t>• </a:t>
            </a:r>
            <a:r>
              <a:rPr sz="1600" b="0">
                <a:solidFill>
                  <a:srgbClr val="222222"/>
                </a:solidFill>
                <a:latin typeface="Arial"/>
              </a:rPr>
              <a:t>As mesmas ferramentas sobre um banco relacional (SQL), sem o grafo: ferramentas ou grafo?</a:t>
            </a:r>
          </a:p>
          <a:p>
            <a:pPr>
              <a:spcAft>
                <a:spcPts val="1000"/>
              </a:spcAft>
            </a:pPr>
            <a:r>
              <a:rPr sz="1600" b="1">
                <a:solidFill>
                  <a:srgbClr val="1F5C99"/>
                </a:solidFill>
                <a:latin typeface="Arial"/>
              </a:rPr>
              <a:t>• </a:t>
            </a:r>
            <a:r>
              <a:rPr sz="1600" b="0">
                <a:solidFill>
                  <a:srgbClr val="222222"/>
                </a:solidFill>
                <a:latin typeface="Arial"/>
              </a:rPr>
              <a:t>Busca vetorial com os eventos vizinhos em cada trecho.</a:t>
            </a:r>
          </a:p>
        </p:txBody>
      </p:sp>
      <p:sp>
        <p:nvSpPr>
          <p:cNvPr id="11" name="Rectangle 10"/>
          <p:cNvSpPr/>
          <p:nvPr/>
        </p:nvSpPr>
        <p:spPr>
          <a:xfrm>
            <a:off x="8046720" y="1508760"/>
            <a:ext cx="3474720" cy="35204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Outros registros de eventos, como os de processos industriais.</a:t>
            </a:r>
          </a:p>
          <a:p>
            <a:pPr>
              <a:spcAft>
                <a:spcPts val="1000"/>
              </a:spcAft>
            </a:pPr>
            <a:r>
              <a:rPr sz="1600" b="1">
                <a:solidFill>
                  <a:srgbClr val="1F5C99"/>
                </a:solidFill>
                <a:latin typeface="Arial"/>
              </a:rPr>
              <a:t>• </a:t>
            </a:r>
            <a:r>
              <a:rPr sz="1600" b="0">
                <a:solidFill>
                  <a:srgbClr val="222222"/>
                </a:solidFill>
                <a:latin typeface="Arial"/>
              </a:rPr>
              <a:t>Com a preparação dos dados, o grafo e as ferramentas feitos para as perguntas do domínio.</a:t>
            </a:r>
          </a:p>
        </p:txBody>
      </p:sp>
      <p:sp>
        <p:nvSpPr>
          <p:cNvPr id="14" name="Rectangle 13"/>
          <p:cNvSpPr/>
          <p:nvPr/>
        </p:nvSpPr>
        <p:spPr>
          <a:xfrm>
            <a:off x="640080" y="5212080"/>
            <a:ext cx="10881360" cy="109728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5212080"/>
            <a:ext cx="109728" cy="109728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257800"/>
            <a:ext cx="2926080" cy="1005840"/>
          </a:xfrm>
          <a:prstGeom prst="rect">
            <a:avLst/>
          </a:prstGeom>
          <a:noFill/>
        </p:spPr>
        <p:txBody>
          <a:bodyPr wrap="square" anchor="ctr" lIns="45720" rIns="45720">
            <a:spAutoFit/>
          </a:bodyPr>
          <a:lstStyle/>
          <a:p>
            <a:pPr algn="l">
              <a:spcAft>
                <a:spcPts val="600"/>
              </a:spcAft>
            </a:pPr>
            <a:r>
              <a:rPr sz="3600" b="1">
                <a:solidFill>
                  <a:srgbClr val="FFFFFF"/>
                </a:solidFill>
                <a:latin typeface="Arial"/>
              </a:rPr>
              <a:t>Perguntas</a:t>
            </a:r>
          </a:p>
        </p:txBody>
      </p:sp>
      <p:sp>
        <p:nvSpPr>
          <p:cNvPr id="17" name="TextBox 16"/>
          <p:cNvSpPr txBox="1"/>
          <p:nvPr/>
        </p:nvSpPr>
        <p:spPr>
          <a:xfrm>
            <a:off x="3931920" y="5303520"/>
            <a:ext cx="7498079" cy="914400"/>
          </a:xfrm>
          <a:prstGeom prst="rect">
            <a:avLst/>
          </a:prstGeom>
          <a:noFill/>
        </p:spPr>
        <p:txBody>
          <a:bodyPr wrap="square" anchor="ctr" lIns="45720" rIns="45720">
            <a:spAutoFit/>
          </a:bodyPr>
          <a:lstStyle/>
          <a:p>
            <a:pPr algn="l">
              <a:spcAft>
                <a:spcPts val="200"/>
              </a:spcAft>
            </a:pPr>
            <a:r>
              <a:rPr sz="1500" b="0">
                <a:solidFill>
                  <a:srgbClr val="BBBBBB"/>
                </a:solidFill>
                <a:latin typeface="Arial"/>
              </a:rPr>
              <a:t>Código, perguntas e gabarito:</a:t>
            </a:r>
          </a:p>
          <a:p>
            <a:pPr algn="l">
              <a:spcAft>
                <a:spcPts val="200"/>
              </a:spcAft>
            </a:pPr>
            <a:r>
              <a:rPr sz="1800" b="0">
                <a:solidFill>
                  <a:srgbClr val="FFFFFF"/>
                </a:solidFill>
                <a:latin typeface="Arial"/>
              </a:rPr>
              <a:t>github.com/joaowinderfeldbussolotto/match-events-qa-benchmark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